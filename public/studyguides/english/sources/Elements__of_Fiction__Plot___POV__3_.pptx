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Helvetica Neue"/>
      <p:regular r:id="rId27"/>
      <p:bold r:id="rId28"/>
      <p:italic r:id="rId29"/>
      <p:boldItalic r:id="rId30"/>
    </p:embeddedFont>
    <p:embeddedFont>
      <p:font typeface="Helvetica Neue Light"/>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HelveticaNeue-bold.fntdata"/><Relationship Id="rId27" Type="http://schemas.openxmlformats.org/officeDocument/2006/relationships/font" Target="fonts/HelveticaNeu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Light-regular.fntdata"/><Relationship Id="rId30" Type="http://schemas.openxmlformats.org/officeDocument/2006/relationships/font" Target="fonts/HelveticaNeue-boldItalic.fntdata"/><Relationship Id="rId11" Type="http://schemas.openxmlformats.org/officeDocument/2006/relationships/slide" Target="slides/slide6.xml"/><Relationship Id="rId33" Type="http://schemas.openxmlformats.org/officeDocument/2006/relationships/font" Target="fonts/HelveticaNeueLight-italic.fntdata"/><Relationship Id="rId10" Type="http://schemas.openxmlformats.org/officeDocument/2006/relationships/slide" Target="slides/slide5.xml"/><Relationship Id="rId32" Type="http://schemas.openxmlformats.org/officeDocument/2006/relationships/font" Target="fonts/HelveticaNeueLight-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HelveticaNeueLight-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7f0fce42f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7f0fce42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Helvetica Neue"/>
                <a:ea typeface="Helvetica Neue"/>
                <a:cs typeface="Helvetica Neue"/>
                <a:sym typeface="Helvetica Neue"/>
              </a:rPr>
              <a:t>While plot may follow a chronological sequence sometimes writers deliberately present events in a manner that requires readers to assemble them into a cohesive pattern. </a:t>
            </a:r>
            <a:br>
              <a:rPr lang="en" sz="1500">
                <a:latin typeface="Helvetica Neue"/>
                <a:ea typeface="Helvetica Neue"/>
                <a:cs typeface="Helvetica Neue"/>
                <a:sym typeface="Helvetica Neue"/>
              </a:rPr>
            </a:br>
            <a:br>
              <a:rPr lang="en" sz="1500">
                <a:latin typeface="Helvetica Neue"/>
                <a:ea typeface="Helvetica Neue"/>
                <a:cs typeface="Helvetica Neue"/>
                <a:sym typeface="Helvetica Neue"/>
              </a:rPr>
            </a:br>
            <a:r>
              <a:rPr lang="en" sz="1500">
                <a:latin typeface="Helvetica Neue"/>
                <a:ea typeface="Helvetica Neue"/>
                <a:cs typeface="Helvetica Neue"/>
                <a:sym typeface="Helvetica Neue"/>
              </a:rPr>
              <a:t>A story may begin</a:t>
            </a:r>
            <a:r>
              <a:rPr i="1" lang="en" sz="1500">
                <a:latin typeface="Helvetica Neue"/>
                <a:ea typeface="Helvetica Neue"/>
                <a:cs typeface="Helvetica Neue"/>
                <a:sym typeface="Helvetica Neue"/>
              </a:rPr>
              <a:t> in media res</a:t>
            </a:r>
            <a:r>
              <a:rPr lang="en" sz="1500">
                <a:latin typeface="Helvetica Neue"/>
                <a:ea typeface="Helvetica Neue"/>
                <a:cs typeface="Helvetica Neue"/>
                <a:sym typeface="Helvetica Neue"/>
              </a:rPr>
              <a:t>, or “in the middle of action”. Homer’s Iliad opens not in the first year of the Trojan War but after nine years of fighting. </a:t>
            </a:r>
            <a:br>
              <a:rPr lang="en" sz="1500">
                <a:latin typeface="Helvetica Neue"/>
                <a:ea typeface="Helvetica Neue"/>
                <a:cs typeface="Helvetica Neue"/>
                <a:sym typeface="Helvetica Neue"/>
              </a:rPr>
            </a:br>
            <a:br>
              <a:rPr lang="en" sz="1500">
                <a:latin typeface="Helvetica Neue"/>
                <a:ea typeface="Helvetica Neue"/>
                <a:cs typeface="Helvetica Neue"/>
                <a:sym typeface="Helvetica Neue"/>
              </a:rPr>
            </a:br>
            <a:r>
              <a:rPr lang="en" sz="1500">
                <a:latin typeface="Helvetica Neue"/>
                <a:ea typeface="Helvetica Neue"/>
                <a:cs typeface="Helvetica Neue"/>
                <a:sym typeface="Helvetica Neue"/>
              </a:rPr>
              <a:t>Writers also use flashbacks (events that take place before the story begins) or foreshadowing to hint at what will happen later. </a:t>
            </a:r>
            <a:br>
              <a:rPr lang="en" sz="1500">
                <a:latin typeface="Helvetica Neue"/>
                <a:ea typeface="Helvetica Neue"/>
                <a:cs typeface="Helvetica Neue"/>
                <a:sym typeface="Helvetica Neue"/>
              </a:rPr>
            </a:br>
            <a:br>
              <a:rPr lang="en" sz="1500">
                <a:latin typeface="Helvetica Neue"/>
                <a:ea typeface="Helvetica Neue"/>
                <a:cs typeface="Helvetica Neue"/>
                <a:sym typeface="Helvetica Neue"/>
              </a:rPr>
            </a:br>
            <a:r>
              <a:rPr lang="en" sz="1500">
                <a:latin typeface="Helvetica Neue"/>
                <a:ea typeface="Helvetica Neue"/>
                <a:cs typeface="Helvetica Neue"/>
                <a:sym typeface="Helvetica Neue"/>
              </a:rPr>
              <a:t>They also may employ a frame narrative, or story-in-a-story in which a character is narrating the events of the story from a future time, such as with The Little Prince or Princess Bride or The Time Machine or The Fitz and the Fool</a:t>
            </a:r>
            <a:endParaRPr sz="1500">
              <a:latin typeface="Helvetica Neue"/>
              <a:ea typeface="Helvetica Neue"/>
              <a:cs typeface="Helvetica Neue"/>
              <a:sym typeface="Helvetica Neue"/>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7f0fce42f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7f0fce42f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Helvetica Neue Light"/>
                <a:ea typeface="Helvetica Neue Light"/>
                <a:cs typeface="Helvetica Neue Light"/>
                <a:sym typeface="Helvetica Neue Light"/>
              </a:rPr>
              <a:t>This is part of a lecture given by renowned writer Kurt Vonnegut about the shape of a story. </a:t>
            </a:r>
            <a:endParaRPr sz="1500">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500">
              <a:latin typeface="Helvetica Neue Light"/>
              <a:ea typeface="Helvetica Neue Light"/>
              <a:cs typeface="Helvetica Neue Light"/>
              <a:sym typeface="Helvetica Neue Light"/>
            </a:endParaRPr>
          </a:p>
          <a:p>
            <a:pPr indent="0" lvl="0" marL="0" rtl="0" algn="l">
              <a:spcBef>
                <a:spcPts val="0"/>
              </a:spcBef>
              <a:spcAft>
                <a:spcPts val="0"/>
              </a:spcAft>
              <a:buNone/>
            </a:pPr>
            <a:r>
              <a:rPr lang="en" sz="1500">
                <a:latin typeface="Helvetica Neue Light"/>
                <a:ea typeface="Helvetica Neue Light"/>
                <a:cs typeface="Helvetica Neue Light"/>
                <a:sym typeface="Helvetica Neue Light"/>
              </a:rPr>
              <a:t>It is a humorous illustration of the various structures a story can have. </a:t>
            </a:r>
            <a:endParaRPr sz="1500">
              <a:latin typeface="Helvetica Neue Light"/>
              <a:ea typeface="Helvetica Neue Light"/>
              <a:cs typeface="Helvetica Neue Light"/>
              <a:sym typeface="Helvetica Neue 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7f0fce42f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7f0fce42f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Helvetica Neue Light"/>
                <a:ea typeface="Helvetica Neue Light"/>
                <a:cs typeface="Helvetica Neue Light"/>
                <a:sym typeface="Helvetica Neue Light"/>
              </a:rPr>
              <a:t>Freytag’s Pyramid is a model for understanding the structure of a story or drama, created by German novelist and playwright Gustav Freytag in the 19th century. He observed that many classical stories and plays (especially Greek tragedies and Shakespearean drama) followed a predictable arc.</a:t>
            </a:r>
            <a:endParaRPr sz="1500">
              <a:latin typeface="Helvetica Neue Light"/>
              <a:ea typeface="Helvetica Neue Light"/>
              <a:cs typeface="Helvetica Neue Light"/>
              <a:sym typeface="Helvetica Neue 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7f0fce42f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7f0fce42f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Helvetica Neue Light"/>
                <a:ea typeface="Helvetica Neue Light"/>
                <a:cs typeface="Helvetica Neue Light"/>
                <a:sym typeface="Helvetica Neue Light"/>
              </a:rPr>
              <a:t>This leads to the inciting incident. Exposition gives you all the important information you need to know about the character/setting/overall situation until something happens to change everything. This moment of change is the inciting incident. “Everything was as expected until…”</a:t>
            </a:r>
            <a:endParaRPr sz="1500">
              <a:latin typeface="Helvetica Neue Light"/>
              <a:ea typeface="Helvetica Neue Light"/>
              <a:cs typeface="Helvetica Neue Light"/>
              <a:sym typeface="Helvetica Neue Ligh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7f0fce42f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7f0fce42f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7f0fce42f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7f0fce42f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7f0fce42f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7f0fce42f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Helvetica Neue Light"/>
                <a:ea typeface="Helvetica Neue Light"/>
                <a:cs typeface="Helvetica Neue Light"/>
                <a:sym typeface="Helvetica Neue Light"/>
              </a:rPr>
              <a:t>The falling action are the events leading into the resolution; or moment in which the main conflict is settled. </a:t>
            </a:r>
            <a:endParaRPr sz="1500">
              <a:latin typeface="Helvetica Neue Light"/>
              <a:ea typeface="Helvetica Neue Light"/>
              <a:cs typeface="Helvetica Neue Light"/>
              <a:sym typeface="Helvetica Neue Ligh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7f0fce42f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7f0fce42f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7f0fce42f2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7f0fce42f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u="sng">
                <a:latin typeface="Helvetica Neue Light"/>
                <a:ea typeface="Helvetica Neue Light"/>
                <a:cs typeface="Helvetica Neue Light"/>
                <a:sym typeface="Helvetica Neue Light"/>
              </a:rPr>
              <a:t>Analyzing Plot Discussion Questions:</a:t>
            </a:r>
            <a:br>
              <a:rPr lang="en" sz="1500">
                <a:latin typeface="Helvetica Neue Light"/>
                <a:ea typeface="Helvetica Neue Light"/>
                <a:cs typeface="Helvetica Neue Light"/>
                <a:sym typeface="Helvetica Neue Light"/>
              </a:rPr>
            </a:br>
            <a:endParaRPr sz="1500">
              <a:latin typeface="Helvetica Neue Light"/>
              <a:ea typeface="Helvetica Neue Light"/>
              <a:cs typeface="Helvetica Neue Light"/>
              <a:sym typeface="Helvetica Neue Light"/>
            </a:endParaRPr>
          </a:p>
          <a:p>
            <a:pPr indent="0" lvl="0" marL="0" rtl="0" algn="l">
              <a:spcBef>
                <a:spcPts val="0"/>
              </a:spcBef>
              <a:spcAft>
                <a:spcPts val="0"/>
              </a:spcAft>
              <a:buClr>
                <a:schemeClr val="dk1"/>
              </a:buClr>
              <a:buSzPts val="1100"/>
              <a:buFont typeface="Arial"/>
              <a:buNone/>
            </a:pPr>
            <a:r>
              <a:rPr lang="en" sz="1500">
                <a:latin typeface="Helvetica Neue Light"/>
                <a:ea typeface="Helvetica Neue Light"/>
                <a:cs typeface="Helvetica Neue Light"/>
                <a:sym typeface="Helvetica Neue Light"/>
              </a:rPr>
              <a:t>Is the plot arranged in chronological order? If not, how would you describe the arrangement and structure of the plot elements?    </a:t>
            </a:r>
            <a:endParaRPr sz="1500">
              <a:latin typeface="Helvetica Neue Light"/>
              <a:ea typeface="Helvetica Neue Light"/>
              <a:cs typeface="Helvetica Neue Light"/>
              <a:sym typeface="Helvetica Neue Light"/>
            </a:endParaRPr>
          </a:p>
          <a:p>
            <a:pPr indent="0" lvl="0" marL="0" rtl="0" algn="l">
              <a:spcBef>
                <a:spcPts val="0"/>
              </a:spcBef>
              <a:spcAft>
                <a:spcPts val="0"/>
              </a:spcAft>
              <a:buNone/>
            </a:pPr>
            <a:r>
              <a:rPr lang="en" sz="1500">
                <a:latin typeface="Helvetica Neue Light"/>
                <a:ea typeface="Helvetica Neue Light"/>
                <a:cs typeface="Helvetica Neue Light"/>
                <a:sym typeface="Helvetica Neue Light"/>
              </a:rPr>
              <a:t>       </a:t>
            </a:r>
            <a:endParaRPr sz="1500">
              <a:latin typeface="Helvetica Neue Light"/>
              <a:ea typeface="Helvetica Neue Light"/>
              <a:cs typeface="Helvetica Neue Light"/>
              <a:sym typeface="Helvetica Neue Light"/>
            </a:endParaRPr>
          </a:p>
          <a:p>
            <a:pPr indent="0" lvl="0" marL="0" rtl="0" algn="l">
              <a:spcBef>
                <a:spcPts val="0"/>
              </a:spcBef>
              <a:spcAft>
                <a:spcPts val="0"/>
              </a:spcAft>
              <a:buClr>
                <a:schemeClr val="dk1"/>
              </a:buClr>
              <a:buSzPts val="1100"/>
              <a:buFont typeface="Arial"/>
              <a:buNone/>
            </a:pPr>
            <a:r>
              <a:rPr lang="en" sz="1500">
                <a:latin typeface="Helvetica Neue Light"/>
                <a:ea typeface="Helvetica Neue Light"/>
                <a:cs typeface="Helvetica Neue Light"/>
                <a:sym typeface="Helvetica Neue Light"/>
              </a:rPr>
              <a:t>Does the plot involve foreshadowing? A flashback? If so, what is the purpose of this choice, and how does it contribute to your interpretation of the story? </a:t>
            </a:r>
            <a:endParaRPr sz="1500">
              <a:latin typeface="Helvetica Neue Light"/>
              <a:ea typeface="Helvetica Neue Light"/>
              <a:cs typeface="Helvetica Neue Light"/>
              <a:sym typeface="Helvetica Neue Light"/>
            </a:endParaRPr>
          </a:p>
          <a:p>
            <a:pPr indent="0" lvl="0" marL="0" rtl="0" algn="l">
              <a:spcBef>
                <a:spcPts val="0"/>
              </a:spcBef>
              <a:spcAft>
                <a:spcPts val="0"/>
              </a:spcAft>
              <a:buNone/>
            </a:pPr>
            <a:r>
              <a:rPr lang="en" sz="1500">
                <a:latin typeface="Helvetica Neue Light"/>
                <a:ea typeface="Helvetica Neue Light"/>
                <a:cs typeface="Helvetica Neue Light"/>
                <a:sym typeface="Helvetica Neue Light"/>
              </a:rPr>
              <a:t>       </a:t>
            </a:r>
            <a:endParaRPr sz="1500">
              <a:latin typeface="Helvetica Neue Light"/>
              <a:ea typeface="Helvetica Neue Light"/>
              <a:cs typeface="Helvetica Neue Light"/>
              <a:sym typeface="Helvetica Neue Light"/>
            </a:endParaRPr>
          </a:p>
          <a:p>
            <a:pPr indent="0" lvl="0" marL="0" rtl="0" algn="l">
              <a:spcBef>
                <a:spcPts val="0"/>
              </a:spcBef>
              <a:spcAft>
                <a:spcPts val="0"/>
              </a:spcAft>
              <a:buClr>
                <a:schemeClr val="dk1"/>
              </a:buClr>
              <a:buSzPts val="1100"/>
              <a:buFont typeface="Arial"/>
              <a:buNone/>
            </a:pPr>
            <a:r>
              <a:rPr lang="en" sz="1500">
                <a:latin typeface="Helvetica Neue Light"/>
                <a:ea typeface="Helvetica Neue Light"/>
                <a:cs typeface="Helvetica Neue Light"/>
                <a:sym typeface="Helvetica Neue Light"/>
              </a:rPr>
              <a:t>Are the key conflicts internal or external? What complications intensify them?</a:t>
            </a:r>
            <a:endParaRPr sz="1500">
              <a:latin typeface="Helvetica Neue Light"/>
              <a:ea typeface="Helvetica Neue Light"/>
              <a:cs typeface="Helvetica Neue Light"/>
              <a:sym typeface="Helvetica Neue Light"/>
            </a:endParaRPr>
          </a:p>
          <a:p>
            <a:pPr indent="0" lvl="0" marL="0" rtl="0" algn="l">
              <a:spcBef>
                <a:spcPts val="0"/>
              </a:spcBef>
              <a:spcAft>
                <a:spcPts val="0"/>
              </a:spcAft>
              <a:buNone/>
            </a:pPr>
            <a:r>
              <a:rPr lang="en" sz="1500">
                <a:latin typeface="Helvetica Neue Light"/>
                <a:ea typeface="Helvetica Neue Light"/>
                <a:cs typeface="Helvetica Neue Light"/>
                <a:sym typeface="Helvetica Neue Light"/>
              </a:rPr>
              <a:t>       </a:t>
            </a:r>
            <a:endParaRPr sz="1500">
              <a:latin typeface="Helvetica Neue Light"/>
              <a:ea typeface="Helvetica Neue Light"/>
              <a:cs typeface="Helvetica Neue Light"/>
              <a:sym typeface="Helvetica Neue Light"/>
            </a:endParaRPr>
          </a:p>
          <a:p>
            <a:pPr indent="0" lvl="0" marL="0" rtl="0" algn="l">
              <a:spcBef>
                <a:spcPts val="0"/>
              </a:spcBef>
              <a:spcAft>
                <a:spcPts val="0"/>
              </a:spcAft>
              <a:buClr>
                <a:schemeClr val="dk1"/>
              </a:buClr>
              <a:buSzPts val="1100"/>
              <a:buFont typeface="Arial"/>
              <a:buNone/>
            </a:pPr>
            <a:r>
              <a:rPr lang="en" sz="1500">
                <a:latin typeface="Helvetica Neue Light"/>
                <a:ea typeface="Helvetica Neue Light"/>
                <a:cs typeface="Helvetica Neue Light"/>
                <a:sym typeface="Helvetica Neue Light"/>
              </a:rPr>
              <a:t>What is the turning point or climax of the story?</a:t>
            </a:r>
            <a:endParaRPr sz="1500">
              <a:latin typeface="Helvetica Neue Light"/>
              <a:ea typeface="Helvetica Neue Light"/>
              <a:cs typeface="Helvetica Neue Light"/>
              <a:sym typeface="Helvetica Neue Light"/>
            </a:endParaRPr>
          </a:p>
          <a:p>
            <a:pPr indent="0" lvl="0" marL="0" rtl="0" algn="l">
              <a:spcBef>
                <a:spcPts val="0"/>
              </a:spcBef>
              <a:spcAft>
                <a:spcPts val="0"/>
              </a:spcAft>
              <a:buClr>
                <a:schemeClr val="dk1"/>
              </a:buClr>
              <a:buSzPts val="1100"/>
              <a:buFont typeface="Arial"/>
              <a:buNone/>
            </a:pPr>
            <a:r>
              <a:rPr lang="en" sz="1500">
                <a:latin typeface="Helvetica Neue Light"/>
                <a:ea typeface="Helvetica Neue Light"/>
                <a:cs typeface="Helvetica Neue Light"/>
                <a:sym typeface="Helvetica Neue Light"/>
              </a:rPr>
              <a:t>       </a:t>
            </a:r>
            <a:endParaRPr sz="1500">
              <a:latin typeface="Helvetica Neue Light"/>
              <a:ea typeface="Helvetica Neue Light"/>
              <a:cs typeface="Helvetica Neue Light"/>
              <a:sym typeface="Helvetica Neue Light"/>
            </a:endParaRPr>
          </a:p>
          <a:p>
            <a:pPr indent="0" lvl="0" marL="0" rtl="0" algn="l">
              <a:spcBef>
                <a:spcPts val="0"/>
              </a:spcBef>
              <a:spcAft>
                <a:spcPts val="0"/>
              </a:spcAft>
              <a:buClr>
                <a:schemeClr val="dk1"/>
              </a:buClr>
              <a:buSzPts val="1100"/>
              <a:buFont typeface="Arial"/>
              <a:buNone/>
            </a:pPr>
            <a:r>
              <a:rPr lang="en" sz="1500">
                <a:latin typeface="Helvetica Neue Light"/>
                <a:ea typeface="Helvetica Neue Light"/>
                <a:cs typeface="Helvetica Neue Light"/>
                <a:sym typeface="Helvetica Neue Light"/>
              </a:rPr>
              <a:t>How are the conflicts resolved? If there is no resolution, why not?</a:t>
            </a:r>
            <a:endParaRPr sz="1500">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658343160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658343160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Helvetica Neue Light"/>
                <a:ea typeface="Helvetica Neue Light"/>
                <a:cs typeface="Helvetica Neue Light"/>
                <a:sym typeface="Helvetica Neue Light"/>
              </a:rPr>
              <a:t>Fairy tales are some of the oldest and most enduring forms of storytelling. Passed down orally for centuries before being written, they capture universal human fears, desires, and morals through fantastical characters and events. Beyond entertainment, fairy tales shaped how stories are told: they established familiar plot structures—such as clear beginnings, rising conflicts, dramatic climaxes, and satisfying resolutions—that continue to influence literature, film, and drama today.</a:t>
            </a:r>
            <a:endParaRPr sz="1500">
              <a:latin typeface="Helvetica Neue Light"/>
              <a:ea typeface="Helvetica Neue Light"/>
              <a:cs typeface="Helvetica Neue Light"/>
              <a:sym typeface="Helvetica Neue Light"/>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658343160c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658343160c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500">
                <a:solidFill>
                  <a:schemeClr val="dk1"/>
                </a:solidFill>
                <a:latin typeface="Helvetica Neue Light"/>
                <a:ea typeface="Helvetica Neue Light"/>
                <a:cs typeface="Helvetica Neue Light"/>
                <a:sym typeface="Helvetica Neue Light"/>
              </a:rPr>
              <a:t>The Brothers Grimm recorded </a:t>
            </a:r>
            <a:r>
              <a:rPr i="1" lang="en" sz="1500">
                <a:solidFill>
                  <a:schemeClr val="dk1"/>
                </a:solidFill>
                <a:latin typeface="Helvetica Neue Light"/>
                <a:ea typeface="Helvetica Neue Light"/>
                <a:cs typeface="Helvetica Neue Light"/>
                <a:sym typeface="Helvetica Neue Light"/>
              </a:rPr>
              <a:t>Snow White</a:t>
            </a:r>
            <a:r>
              <a:rPr lang="en" sz="1500">
                <a:solidFill>
                  <a:schemeClr val="dk1"/>
                </a:solidFill>
                <a:latin typeface="Helvetica Neue Light"/>
                <a:ea typeface="Helvetica Neue Light"/>
                <a:cs typeface="Helvetica Neue Light"/>
                <a:sym typeface="Helvetica Neue Light"/>
              </a:rPr>
              <a:t> in the early 19th century, preserving a folk tale that became one of the world’s most famous stories. In this version, Snow White is a young princess whose beauty arouses the envy of her stepmother, the Queen. Ordered into the forest to be killed, Snow White escapes and finds shelter with seven dwarfs. The Queen, in disguise, attempts to murder her three times—through a bodice, a poisoned comb, and finally a poisoned apple. Snow White falls into a deathlike sleep until a prince awakens her, leading to the Queen’s downfall. The tale highlights themes of jealousy, innocence, deception, and justice, while offering a clear example of the classic fairy-tale plot arc.</a:t>
            </a:r>
            <a:endParaRPr sz="15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40a0b27fa4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40a0b27fa4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0"/>
              </a:spcAft>
              <a:buClr>
                <a:schemeClr val="dk1"/>
              </a:buClr>
              <a:buSzPts val="1100"/>
              <a:buFont typeface="Arial"/>
              <a:buNone/>
            </a:pPr>
            <a:r>
              <a:rPr lang="en" sz="1800">
                <a:solidFill>
                  <a:schemeClr val="dk1"/>
                </a:solidFill>
              </a:rPr>
              <a:t>He calls Brutus </a:t>
            </a:r>
            <a:r>
              <a:rPr i="1" lang="en" sz="1800">
                <a:solidFill>
                  <a:schemeClr val="dk1"/>
                </a:solidFill>
              </a:rPr>
              <a:t>an honourable man</a:t>
            </a:r>
            <a:r>
              <a:rPr lang="en" sz="1800">
                <a:solidFill>
                  <a:schemeClr val="dk1"/>
                </a:solidFill>
              </a:rPr>
              <a:t>, and repeats it through the speech.</a:t>
            </a:r>
            <a:endParaRPr sz="1800">
              <a:solidFill>
                <a:schemeClr val="dk1"/>
              </a:solidFill>
            </a:endParaRPr>
          </a:p>
          <a:p>
            <a:pPr indent="0" lvl="0" marL="0" rtl="0" algn="l">
              <a:lnSpc>
                <a:spcPct val="115000"/>
              </a:lnSpc>
              <a:spcBef>
                <a:spcPts val="900"/>
              </a:spcBef>
              <a:spcAft>
                <a:spcPts val="0"/>
              </a:spcAft>
              <a:buClr>
                <a:schemeClr val="dk1"/>
              </a:buClr>
              <a:buSzPts val="1100"/>
              <a:buFont typeface="Arial"/>
              <a:buNone/>
            </a:pPr>
            <a:r>
              <a:rPr lang="en" sz="1800">
                <a:solidFill>
                  <a:schemeClr val="dk1"/>
                </a:solidFill>
              </a:rPr>
              <a:t>He means the opposite. He knows he means the opposite. The crowd comes to hear it that way, and turns.</a:t>
            </a:r>
            <a:endParaRPr sz="1800">
              <a:solidFill>
                <a:schemeClr val="dk1"/>
              </a:solidFill>
            </a:endParaRPr>
          </a:p>
          <a:p>
            <a:pPr indent="0" lvl="0" marL="0" rtl="0" algn="l">
              <a:lnSpc>
                <a:spcPct val="115000"/>
              </a:lnSpc>
              <a:spcBef>
                <a:spcPts val="900"/>
              </a:spcBef>
              <a:spcAft>
                <a:spcPts val="0"/>
              </a:spcAft>
              <a:buClr>
                <a:schemeClr val="dk1"/>
              </a:buClr>
              <a:buSzPts val="1100"/>
              <a:buFont typeface="Arial"/>
              <a:buNone/>
            </a:pPr>
            <a:r>
              <a:rPr lang="en" sz="1800">
                <a:solidFill>
                  <a:schemeClr val="dk1"/>
                </a:solidFill>
              </a:rPr>
              <a:t>Two things worth drawing out:</a:t>
            </a:r>
            <a:endParaRPr sz="1800">
              <a:solidFill>
                <a:schemeClr val="dk1"/>
              </a:solidFill>
            </a:endParaRPr>
          </a:p>
          <a:p>
            <a:pPr indent="-342900" lvl="0" marL="457200" rtl="0" algn="l">
              <a:lnSpc>
                <a:spcPct val="115000"/>
              </a:lnSpc>
              <a:spcBef>
                <a:spcPts val="900"/>
              </a:spcBef>
              <a:spcAft>
                <a:spcPts val="0"/>
              </a:spcAft>
              <a:buClr>
                <a:schemeClr val="dk1"/>
              </a:buClr>
              <a:buSzPts val="1800"/>
              <a:buChar char="●"/>
            </a:pPr>
            <a:r>
              <a:rPr b="1" lang="en" sz="1800">
                <a:solidFill>
                  <a:schemeClr val="dk1"/>
                </a:solidFill>
              </a:rPr>
              <a:t>Repetition is the technique.</a:t>
            </a:r>
            <a:r>
              <a:rPr lang="en" sz="1800">
                <a:solidFill>
                  <a:schemeClr val="dk1"/>
                </a:solidFill>
              </a:rPr>
              <a:t> One use would be ambiguous. Said over and over against the evidence of the body, the word collapses. Antony never accuses Brutus of anything; he just says "honourable" until it means "murderer."</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 sz="1800">
                <a:solidFill>
                  <a:schemeClr val="dk1"/>
                </a:solidFill>
              </a:rPr>
              <a:t>Verbal irony can be a weapon.</a:t>
            </a:r>
            <a:r>
              <a:rPr lang="en" sz="1800">
                <a:solidFill>
                  <a:schemeClr val="dk1"/>
                </a:solidFill>
              </a:rPr>
              <a:t> It isn't only a joke. Antony uses it to move a crowd to riot while maintaining that he is saying nothing against anyone.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661aad42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661aad42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661aad428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661aad428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661aad428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661aad428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661aad428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661aad428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Helvetica Neue Light"/>
                <a:ea typeface="Helvetica Neue Light"/>
                <a:cs typeface="Helvetica Neue Light"/>
                <a:sym typeface="Helvetica Neue Light"/>
              </a:rPr>
              <a:t>Limited POV = </a:t>
            </a:r>
            <a:r>
              <a:rPr lang="en" sz="1500">
                <a:solidFill>
                  <a:schemeClr val="dk1"/>
                </a:solidFill>
                <a:latin typeface="Helvetica Neue Light"/>
                <a:ea typeface="Helvetica Neue Light"/>
                <a:cs typeface="Helvetica Neue Light"/>
                <a:sym typeface="Helvetica Neue Light"/>
              </a:rPr>
              <a:t>confined to the thoughts, feelings, and perceptions of one character at a time. The reader’s knowledge is “limited” — we only know what that character knows, sees, or thinks.</a:t>
            </a:r>
            <a:br>
              <a:rPr lang="en" sz="1500">
                <a:solidFill>
                  <a:schemeClr val="dk1"/>
                </a:solidFill>
                <a:latin typeface="Helvetica Neue Light"/>
                <a:ea typeface="Helvetica Neue Light"/>
                <a:cs typeface="Helvetica Neue Light"/>
                <a:sym typeface="Helvetica Neue Light"/>
              </a:rPr>
            </a:br>
            <a:br>
              <a:rPr lang="en" sz="1500">
                <a:solidFill>
                  <a:schemeClr val="dk1"/>
                </a:solidFill>
                <a:latin typeface="Helvetica Neue Light"/>
                <a:ea typeface="Helvetica Neue Light"/>
                <a:cs typeface="Helvetica Neue Light"/>
                <a:sym typeface="Helvetica Neue Light"/>
              </a:rPr>
            </a:br>
            <a:r>
              <a:rPr lang="en" sz="1500">
                <a:solidFill>
                  <a:schemeClr val="dk1"/>
                </a:solidFill>
                <a:latin typeface="Helvetica Neue Light"/>
                <a:ea typeface="Helvetica Neue Light"/>
                <a:cs typeface="Helvetica Neue Light"/>
                <a:sym typeface="Helvetica Neue Light"/>
              </a:rPr>
              <a:t>Omniscient POV = The narrator has a “godlike” perspective: able to reveal the thoughts, feelings, and experiences of multiple characters, as well as provide commentary or background information the characters don’t know. The reader can see the bigger picture beyond any single character’s viewpoint.</a:t>
            </a:r>
            <a:endParaRPr sz="1500">
              <a:latin typeface="Helvetica Neue Light"/>
              <a:ea typeface="Helvetica Neue Light"/>
              <a:cs typeface="Helvetica Neue Light"/>
              <a:sym typeface="Helvetica Neue Light"/>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661aad428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661aad428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500">
                <a:solidFill>
                  <a:schemeClr val="dk1"/>
                </a:solidFill>
                <a:latin typeface="Helvetica Neue Light"/>
                <a:ea typeface="Helvetica Neue Light"/>
                <a:cs typeface="Helvetica Neue Light"/>
                <a:sym typeface="Helvetica Neue Light"/>
              </a:rPr>
              <a:t>Neil Gaiman’s </a:t>
            </a:r>
            <a:r>
              <a:rPr i="1" lang="en" sz="1500">
                <a:solidFill>
                  <a:schemeClr val="dk1"/>
                </a:solidFill>
                <a:latin typeface="Helvetica Neue Light"/>
                <a:ea typeface="Helvetica Neue Light"/>
                <a:cs typeface="Helvetica Neue Light"/>
                <a:sym typeface="Helvetica Neue Light"/>
              </a:rPr>
              <a:t>Snow, Glass, Apples</a:t>
            </a:r>
            <a:r>
              <a:rPr lang="en" sz="1500">
                <a:solidFill>
                  <a:schemeClr val="dk1"/>
                </a:solidFill>
                <a:latin typeface="Helvetica Neue Light"/>
                <a:ea typeface="Helvetica Neue Light"/>
                <a:cs typeface="Helvetica Neue Light"/>
                <a:sym typeface="Helvetica Neue Light"/>
              </a:rPr>
              <a:t> retells </a:t>
            </a:r>
            <a:r>
              <a:rPr i="1" lang="en" sz="1500">
                <a:solidFill>
                  <a:schemeClr val="dk1"/>
                </a:solidFill>
                <a:latin typeface="Helvetica Neue Light"/>
                <a:ea typeface="Helvetica Neue Light"/>
                <a:cs typeface="Helvetica Neue Light"/>
                <a:sym typeface="Helvetica Neue Light"/>
              </a:rPr>
              <a:t>Snow White</a:t>
            </a:r>
            <a:r>
              <a:rPr lang="en" sz="1500">
                <a:solidFill>
                  <a:schemeClr val="dk1"/>
                </a:solidFill>
                <a:latin typeface="Helvetica Neue Light"/>
                <a:ea typeface="Helvetica Neue Light"/>
                <a:cs typeface="Helvetica Neue Light"/>
                <a:sym typeface="Helvetica Neue Light"/>
              </a:rPr>
              <a:t> from the queen’s perspective. In this version, Snow White is a vampire-like creature who feeds on others, while the queen tries to protect her kingdom by destroying her. Despite the queen’s efforts — cutting out her heart, using poisoned fruit — Snow White survives and eventually engineers the queen’s death. The story inverts the classic fairy tale, making the queen sympathetic and Snow White monstrous.</a:t>
            </a:r>
            <a:endParaRPr sz="15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661aad4287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661aad4287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Helvetica Neue Light"/>
                <a:ea typeface="Helvetica Neue Light"/>
                <a:cs typeface="Helvetica Neue Light"/>
                <a:sym typeface="Helvetica Neue Light"/>
              </a:rPr>
              <a:t>You can work on this as a class or let them work on it in groups.</a:t>
            </a:r>
            <a:br>
              <a:rPr lang="en" sz="1500">
                <a:latin typeface="Helvetica Neue Light"/>
                <a:ea typeface="Helvetica Neue Light"/>
                <a:cs typeface="Helvetica Neue Light"/>
                <a:sym typeface="Helvetica Neue Light"/>
              </a:rPr>
            </a:br>
            <a:br>
              <a:rPr lang="en" sz="1500">
                <a:latin typeface="Helvetica Neue Light"/>
                <a:ea typeface="Helvetica Neue Light"/>
                <a:cs typeface="Helvetica Neue Light"/>
                <a:sym typeface="Helvetica Neue Light"/>
              </a:rPr>
            </a:br>
            <a:r>
              <a:rPr b="1" lang="en" sz="1500">
                <a:solidFill>
                  <a:schemeClr val="dk1"/>
                </a:solidFill>
                <a:latin typeface="Helvetica Neue"/>
                <a:ea typeface="Helvetica Neue"/>
                <a:cs typeface="Helvetica Neue"/>
                <a:sym typeface="Helvetica Neue"/>
              </a:rPr>
              <a:t>Grimm’s </a:t>
            </a:r>
            <a:r>
              <a:rPr b="1" i="1" lang="en" sz="1500">
                <a:solidFill>
                  <a:schemeClr val="dk1"/>
                </a:solidFill>
                <a:latin typeface="Helvetica Neue"/>
                <a:ea typeface="Helvetica Neue"/>
                <a:cs typeface="Helvetica Neue"/>
                <a:sym typeface="Helvetica Neue"/>
              </a:rPr>
              <a:t>Snow White</a:t>
            </a:r>
            <a:endParaRPr b="1" sz="1500">
              <a:solidFill>
                <a:schemeClr val="dk1"/>
              </a:solidFill>
              <a:latin typeface="Helvetica Neue"/>
              <a:ea typeface="Helvetica Neue"/>
              <a:cs typeface="Helvetica Neue"/>
              <a:sym typeface="Helvetica Neue"/>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latin typeface="Helvetica Neue Light"/>
                <a:ea typeface="Helvetica Neue Light"/>
                <a:cs typeface="Helvetica Neue Light"/>
                <a:sym typeface="Helvetica Neue Light"/>
              </a:rPr>
              <a:t>Perspective: Third-person omniscient, traditional fairy-tale narrator.</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Plot: Classic structure — good vs. evil, innocence rewarded, villain punished.</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Snow White is innocent, passive, and victimized.</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The Queen is unequivocally evil, driven by jealousy.</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Moral simplicity: virtue triumphs over wickedness.</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Ending: Snow White lives “happily ever after” with the prince; Queen dies gruesomely.</a:t>
            </a:r>
            <a:endParaRPr sz="1500">
              <a:solidFill>
                <a:schemeClr val="dk1"/>
              </a:solidFill>
              <a:latin typeface="Helvetica Neue Light"/>
              <a:ea typeface="Helvetica Neue Light"/>
              <a:cs typeface="Helvetica Neue Light"/>
              <a:sym typeface="Helvetica Neue Light"/>
            </a:endParaRPr>
          </a:p>
          <a:p>
            <a:pPr indent="-228600" lvl="0" marL="457200" rtl="0" algn="l">
              <a:lnSpc>
                <a:spcPct val="115000"/>
              </a:lnSpc>
              <a:spcBef>
                <a:spcPts val="1200"/>
              </a:spcBef>
              <a:spcAft>
                <a:spcPts val="0"/>
              </a:spcAft>
              <a:buClr>
                <a:schemeClr val="dk1"/>
              </a:buClr>
              <a:buSzPts val="1100"/>
              <a:buFont typeface="Arial"/>
              <a:buNone/>
            </a:pPr>
            <a:r>
              <a:rPr lang="en" sz="1500">
                <a:solidFill>
                  <a:schemeClr val="dk1"/>
                </a:solidFill>
                <a:latin typeface="Helvetica Neue Light"/>
                <a:ea typeface="Helvetica Neue Light"/>
                <a:cs typeface="Helvetica Neue Light"/>
                <a:sym typeface="Helvetica Neue Light"/>
              </a:rPr>
              <a:t>Purpose of structure: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120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Reinforces </a:t>
            </a:r>
            <a:r>
              <a:rPr i="1" lang="en" sz="1500">
                <a:solidFill>
                  <a:schemeClr val="dk1"/>
                </a:solidFill>
                <a:latin typeface="Helvetica Neue Light"/>
                <a:ea typeface="Helvetica Neue Light"/>
                <a:cs typeface="Helvetica Neue Light"/>
                <a:sym typeface="Helvetica Neue Light"/>
              </a:rPr>
              <a:t>moral binaries</a:t>
            </a:r>
            <a:r>
              <a:rPr lang="en" sz="1500">
                <a:solidFill>
                  <a:schemeClr val="dk1"/>
                </a:solidFill>
                <a:latin typeface="Helvetica Neue Light"/>
                <a:ea typeface="Helvetica Neue Light"/>
                <a:cs typeface="Helvetica Neue Light"/>
                <a:sym typeface="Helvetica Neue Light"/>
              </a:rPr>
              <a:t> (innocence vs. wickedness).</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Builds suspense with repetition (three attempts by the Queen) before justice prevails.</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Ends with </a:t>
            </a:r>
            <a:r>
              <a:rPr i="1" lang="en" sz="1500">
                <a:solidFill>
                  <a:schemeClr val="dk1"/>
                </a:solidFill>
                <a:latin typeface="Helvetica Neue Light"/>
                <a:ea typeface="Helvetica Neue Light"/>
                <a:cs typeface="Helvetica Neue Light"/>
                <a:sym typeface="Helvetica Neue Light"/>
              </a:rPr>
              <a:t>closure</a:t>
            </a:r>
            <a:r>
              <a:rPr lang="en" sz="1500">
                <a:solidFill>
                  <a:schemeClr val="dk1"/>
                </a:solidFill>
                <a:latin typeface="Helvetica Neue Light"/>
                <a:ea typeface="Helvetica Neue Light"/>
                <a:cs typeface="Helvetica Neue Light"/>
                <a:sym typeface="Helvetica Neue Light"/>
              </a:rPr>
              <a:t> — Snow White is rewarded, the Queen punished.</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Meaning:</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9144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The plot affirms cultural values of virtue, beauty, and obedience.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Evil is externalized and defeated; goodness is preserved and celebrated.</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400"/>
              </a:spcBef>
              <a:spcAft>
                <a:spcPts val="0"/>
              </a:spcAft>
              <a:buClr>
                <a:schemeClr val="dk1"/>
              </a:buClr>
              <a:buSzPts val="1100"/>
              <a:buFont typeface="Arial"/>
              <a:buNone/>
            </a:pPr>
            <a:r>
              <a:rPr b="1" lang="en" sz="1500">
                <a:solidFill>
                  <a:schemeClr val="dk1"/>
                </a:solidFill>
                <a:latin typeface="Helvetica Neue"/>
                <a:ea typeface="Helvetica Neue"/>
                <a:cs typeface="Helvetica Neue"/>
                <a:sym typeface="Helvetica Neue"/>
              </a:rPr>
              <a:t>Shared Elements</a:t>
            </a:r>
            <a:endParaRPr b="1" sz="1500">
              <a:solidFill>
                <a:schemeClr val="dk1"/>
              </a:solidFill>
              <a:latin typeface="Helvetica Neue"/>
              <a:ea typeface="Helvetica Neue"/>
              <a:cs typeface="Helvetica Neue"/>
              <a:sym typeface="Helvetica Neue"/>
            </a:endParaRPr>
          </a:p>
          <a:p>
            <a:pPr indent="-323850" lvl="0" marL="457200" rtl="0" algn="l">
              <a:lnSpc>
                <a:spcPct val="115000"/>
              </a:lnSpc>
              <a:spcBef>
                <a:spcPts val="120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Both use familiar fairy-tale motifs: mirrors, poisoned apples, huntsman, dwarfs/forest folk, apparent death and revival.</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Themes of beauty, envy, power, and survival are central.</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The Queen and Snow White remain locked in a battle for dominance and identity.</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Both stories end with the Queen destroyed and Snow White alive.</a:t>
            </a:r>
            <a:endParaRPr sz="1500">
              <a:solidFill>
                <a:schemeClr val="dk1"/>
              </a:solidFill>
              <a:latin typeface="Helvetica Neue Light"/>
              <a:ea typeface="Helvetica Neue Light"/>
              <a:cs typeface="Helvetica Neue Light"/>
              <a:sym typeface="Helvetica Neue Light"/>
            </a:endParaRPr>
          </a:p>
          <a:p>
            <a:pPr indent="-228600" lvl="0" marL="457200" rtl="0" algn="l">
              <a:lnSpc>
                <a:spcPct val="115000"/>
              </a:lnSpc>
              <a:spcBef>
                <a:spcPts val="1200"/>
              </a:spcBef>
              <a:spcAft>
                <a:spcPts val="0"/>
              </a:spcAft>
              <a:buClr>
                <a:schemeClr val="dk1"/>
              </a:buClr>
              <a:buSzPts val="1100"/>
              <a:buFont typeface="Arial"/>
              <a:buNone/>
            </a:pPr>
            <a:r>
              <a:rPr lang="en" sz="1500">
                <a:solidFill>
                  <a:schemeClr val="dk1"/>
                </a:solidFill>
                <a:latin typeface="Helvetica Neue Light"/>
                <a:ea typeface="Helvetica Neue Light"/>
                <a:cs typeface="Helvetica Neue Light"/>
                <a:sym typeface="Helvetica Neue Light"/>
              </a:rPr>
              <a:t>Linear, classic fairy-tale arc: exposition → conflict → climax → resolution. For the most part. </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228600" lvl="0" marL="457200" rtl="0" algn="l">
              <a:lnSpc>
                <a:spcPct val="115000"/>
              </a:lnSpc>
              <a:spcBef>
                <a:spcPts val="1200"/>
              </a:spcBef>
              <a:spcAft>
                <a:spcPts val="0"/>
              </a:spcAft>
              <a:buClr>
                <a:schemeClr val="dk1"/>
              </a:buClr>
              <a:buSzPts val="1100"/>
              <a:buFont typeface="Arial"/>
              <a:buNone/>
            </a:pPr>
            <a:r>
              <a:rPr lang="en" sz="1500">
                <a:solidFill>
                  <a:schemeClr val="dk1"/>
                </a:solidFill>
                <a:latin typeface="Helvetica Neue Light"/>
                <a:ea typeface="Helvetica Neue Light"/>
                <a:cs typeface="Helvetica Neue Light"/>
                <a:sym typeface="Helvetica Neue Light"/>
              </a:rPr>
              <a:t>Snow White’s apparent death(s) and final revival lead to a clear moral outcome.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400"/>
              </a:spcBef>
              <a:spcAft>
                <a:spcPts val="0"/>
              </a:spcAft>
              <a:buClr>
                <a:schemeClr val="dk1"/>
              </a:buClr>
              <a:buSzPts val="1100"/>
              <a:buFont typeface="Arial"/>
              <a:buNone/>
            </a:pPr>
            <a:r>
              <a:rPr b="1" lang="en" sz="1500">
                <a:solidFill>
                  <a:schemeClr val="dk1"/>
                </a:solidFill>
                <a:latin typeface="Helvetica Neue"/>
                <a:ea typeface="Helvetica Neue"/>
                <a:cs typeface="Helvetica Neue"/>
                <a:sym typeface="Helvetica Neue"/>
              </a:rPr>
              <a:t>Gaiman’s </a:t>
            </a:r>
            <a:r>
              <a:rPr b="1" i="1" lang="en" sz="1500">
                <a:solidFill>
                  <a:schemeClr val="dk1"/>
                </a:solidFill>
                <a:latin typeface="Helvetica Neue"/>
                <a:ea typeface="Helvetica Neue"/>
                <a:cs typeface="Helvetica Neue"/>
                <a:sym typeface="Helvetica Neue"/>
              </a:rPr>
              <a:t>Snow, Glass, Apples</a:t>
            </a:r>
            <a:endParaRPr b="1" sz="1500">
              <a:solidFill>
                <a:schemeClr val="dk1"/>
              </a:solidFill>
              <a:latin typeface="Helvetica Neue"/>
              <a:ea typeface="Helvetica Neue"/>
              <a:cs typeface="Helvetica Neue"/>
              <a:sym typeface="Helvetica Neue"/>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latin typeface="Helvetica Neue Light"/>
                <a:ea typeface="Helvetica Neue Light"/>
                <a:cs typeface="Helvetica Neue Light"/>
                <a:sym typeface="Helvetica Neue Light"/>
              </a:rPr>
              <a:t>Perspective: First-person narration by the Queen, an unreliable narrator.</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latin typeface="Helvetica Neue Light"/>
                <a:ea typeface="Helvetica Neue Light"/>
                <a:cs typeface="Helvetica Neue Light"/>
                <a:sym typeface="Helvetica Neue Light"/>
              </a:rPr>
              <a:t>Plot: Retelling inverts roles — the Queen is sympathetic, Snow White monstrous.</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Snow White is depicted as vampiric, predatory, feeding on others’ blood and life.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The Queen frames her actions as necessary to protect her people.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latin typeface="Helvetica Neue Light"/>
                <a:ea typeface="Helvetica Neue Light"/>
                <a:cs typeface="Helvetica Neue Light"/>
                <a:sym typeface="Helvetica Neue Light"/>
              </a:rPr>
              <a:t>Themes of truth vs. lies, unreliable memory, sexuality, and monstrosity.</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Ending: The Queen is burned alive, claiming control of her own story.</a:t>
            </a: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latin typeface="Helvetica Neue Light"/>
                <a:ea typeface="Helvetica Neue Light"/>
                <a:cs typeface="Helvetica Neue Light"/>
                <a:sym typeface="Helvetica Neue Light"/>
              </a:rPr>
              <a:t>Fragmented, confessional structure: told retrospectively in the Queen’s first-person voice.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Events unfold as memories, shifting between what the Queen saw, feared, or imagined</a:t>
            </a:r>
            <a:br>
              <a:rPr lang="en" sz="1500">
                <a:solidFill>
                  <a:schemeClr val="dk1"/>
                </a:solidFill>
                <a:latin typeface="Helvetica Neue Light"/>
                <a:ea typeface="Helvetica Neue Light"/>
                <a:cs typeface="Helvetica Neue Light"/>
                <a:sym typeface="Helvetica Neue Light"/>
              </a:rPr>
            </a:br>
            <a:r>
              <a:rPr lang="en" sz="1500">
                <a:solidFill>
                  <a:schemeClr val="dk1"/>
                </a:solidFill>
                <a:latin typeface="Helvetica Neue Light"/>
                <a:ea typeface="Helvetica Neue Light"/>
                <a:cs typeface="Helvetica Neue Light"/>
                <a:sym typeface="Helvetica Neue Light"/>
              </a:rPr>
              <a:t>.</a:t>
            </a: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Purpose of structure: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1" marL="914400" rtl="0" algn="l">
              <a:lnSpc>
                <a:spcPct val="115000"/>
              </a:lnSpc>
              <a:spcBef>
                <a:spcPts val="0"/>
              </a:spcBef>
              <a:spcAft>
                <a:spcPts val="0"/>
              </a:spcAft>
              <a:buClr>
                <a:schemeClr val="dk1"/>
              </a:buClr>
              <a:buSzPts val="1500"/>
              <a:buFont typeface="Helvetica Neue Light"/>
              <a:buAutoNum type="alphaLcPeriod"/>
            </a:pPr>
            <a:r>
              <a:rPr lang="en" sz="1500">
                <a:solidFill>
                  <a:schemeClr val="dk1"/>
                </a:solidFill>
                <a:latin typeface="Helvetica Neue Light"/>
                <a:ea typeface="Helvetica Neue Light"/>
                <a:cs typeface="Helvetica Neue Light"/>
                <a:sym typeface="Helvetica Neue Light"/>
              </a:rPr>
              <a:t>Undermines the reliability of “truth” — we never know for sure what happened.</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1" marL="914400" rtl="0" algn="l">
              <a:lnSpc>
                <a:spcPct val="115000"/>
              </a:lnSpc>
              <a:spcBef>
                <a:spcPts val="0"/>
              </a:spcBef>
              <a:spcAft>
                <a:spcPts val="0"/>
              </a:spcAft>
              <a:buClr>
                <a:schemeClr val="dk1"/>
              </a:buClr>
              <a:buSzPts val="1500"/>
              <a:buFont typeface="Helvetica Neue Light"/>
              <a:buAutoNum type="alphaLcPeriod"/>
            </a:pPr>
            <a:r>
              <a:rPr lang="en" sz="1500">
                <a:solidFill>
                  <a:schemeClr val="dk1"/>
                </a:solidFill>
                <a:latin typeface="Helvetica Neue Light"/>
                <a:ea typeface="Helvetica Neue Light"/>
                <a:cs typeface="Helvetica Neue Light"/>
                <a:sym typeface="Helvetica Neue Light"/>
              </a:rPr>
              <a:t>Shifts the moral center: the Queen frames herself as protector, Snow White as predator.</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1" marL="914400" rtl="0" algn="l">
              <a:lnSpc>
                <a:spcPct val="115000"/>
              </a:lnSpc>
              <a:spcBef>
                <a:spcPts val="0"/>
              </a:spcBef>
              <a:spcAft>
                <a:spcPts val="0"/>
              </a:spcAft>
              <a:buClr>
                <a:schemeClr val="dk1"/>
              </a:buClr>
              <a:buSzPts val="1500"/>
              <a:buFont typeface="Helvetica Neue Light"/>
              <a:buAutoNum type="alphaLcPeriod"/>
            </a:pPr>
            <a:r>
              <a:rPr lang="en" sz="1500">
                <a:solidFill>
                  <a:schemeClr val="dk1"/>
                </a:solidFill>
                <a:latin typeface="Helvetica Neue Light"/>
                <a:ea typeface="Helvetica Neue Light"/>
                <a:cs typeface="Helvetica Neue Light"/>
                <a:sym typeface="Helvetica Neue Light"/>
              </a:rPr>
              <a:t>The climax (Snow White’s return and the Queen’s execution) reverses expectations — the “villain” is destroyed but the ending feels unjust.</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Meaning:</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1" marL="914400" rtl="0" algn="l">
              <a:lnSpc>
                <a:spcPct val="115000"/>
              </a:lnSpc>
              <a:spcBef>
                <a:spcPts val="0"/>
              </a:spcBef>
              <a:spcAft>
                <a:spcPts val="0"/>
              </a:spcAft>
              <a:buClr>
                <a:schemeClr val="dk1"/>
              </a:buClr>
              <a:buSzPts val="1500"/>
              <a:buFont typeface="Helvetica Neue Light"/>
              <a:buAutoNum type="alphaLcPeriod"/>
            </a:pPr>
            <a:r>
              <a:rPr lang="en" sz="1500">
                <a:solidFill>
                  <a:schemeClr val="dk1"/>
                </a:solidFill>
                <a:latin typeface="Helvetica Neue Light"/>
                <a:ea typeface="Helvetica Neue Light"/>
                <a:cs typeface="Helvetica Neue Light"/>
                <a:sym typeface="Helvetica Neue Light"/>
              </a:rPr>
              <a:t>Raises questions about </a:t>
            </a:r>
            <a:r>
              <a:rPr i="1" lang="en" sz="1500">
                <a:solidFill>
                  <a:schemeClr val="dk1"/>
                </a:solidFill>
                <a:latin typeface="Helvetica Neue Light"/>
                <a:ea typeface="Helvetica Neue Light"/>
                <a:cs typeface="Helvetica Neue Light"/>
                <a:sym typeface="Helvetica Neue Light"/>
              </a:rPr>
              <a:t>who controls the story</a:t>
            </a:r>
            <a:r>
              <a:rPr lang="en" sz="1500">
                <a:solidFill>
                  <a:schemeClr val="dk1"/>
                </a:solidFill>
                <a:latin typeface="Helvetica Neue Light"/>
                <a:ea typeface="Helvetica Neue Light"/>
                <a:cs typeface="Helvetica Neue Light"/>
                <a:sym typeface="Helvetica Neue Light"/>
              </a:rPr>
              <a:t> and how perspective shapes truth.</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1" marL="914400" rtl="0" algn="l">
              <a:lnSpc>
                <a:spcPct val="115000"/>
              </a:lnSpc>
              <a:spcBef>
                <a:spcPts val="0"/>
              </a:spcBef>
              <a:spcAft>
                <a:spcPts val="0"/>
              </a:spcAft>
              <a:buClr>
                <a:schemeClr val="dk1"/>
              </a:buClr>
              <a:buSzPts val="1500"/>
              <a:buFont typeface="Helvetica Neue Light"/>
              <a:buAutoNum type="alphaLcPeriod"/>
            </a:pPr>
            <a:r>
              <a:rPr lang="en" sz="1500">
                <a:solidFill>
                  <a:schemeClr val="dk1"/>
                </a:solidFill>
                <a:latin typeface="Helvetica Neue Light"/>
                <a:ea typeface="Helvetica Neue Light"/>
                <a:cs typeface="Helvetica Neue Light"/>
                <a:sym typeface="Helvetica Neue Light"/>
              </a:rPr>
              <a:t>Highlights themes of sexuality, monstrosity, and survival.</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298450" lvl="1" marL="914400" rtl="0" algn="l">
              <a:lnSpc>
                <a:spcPct val="115000"/>
              </a:lnSpc>
              <a:spcBef>
                <a:spcPts val="0"/>
              </a:spcBef>
              <a:spcAft>
                <a:spcPts val="0"/>
              </a:spcAft>
              <a:buClr>
                <a:schemeClr val="dk1"/>
              </a:buClr>
              <a:buSzPts val="1100"/>
              <a:buAutoNum type="alphaLcPeriod"/>
            </a:pPr>
            <a:r>
              <a:rPr lang="en" sz="1500">
                <a:solidFill>
                  <a:schemeClr val="dk1"/>
                </a:solidFill>
                <a:latin typeface="Helvetica Neue Light"/>
                <a:ea typeface="Helvetica Neue Light"/>
                <a:cs typeface="Helvetica Neue Light"/>
                <a:sym typeface="Helvetica Neue Light"/>
              </a:rPr>
              <a:t>Creates </a:t>
            </a:r>
            <a:r>
              <a:rPr i="1" lang="en" sz="1500">
                <a:solidFill>
                  <a:schemeClr val="dk1"/>
                </a:solidFill>
                <a:latin typeface="Helvetica Neue Light"/>
                <a:ea typeface="Helvetica Neue Light"/>
                <a:cs typeface="Helvetica Neue Light"/>
                <a:sym typeface="Helvetica Neue Light"/>
              </a:rPr>
              <a:t>moral ambiguity</a:t>
            </a:r>
            <a:r>
              <a:rPr lang="en" sz="1500">
                <a:solidFill>
                  <a:schemeClr val="dk1"/>
                </a:solidFill>
                <a:latin typeface="Helvetica Neue Light"/>
                <a:ea typeface="Helvetica Neue Light"/>
                <a:cs typeface="Helvetica Neue Light"/>
                <a:sym typeface="Helvetica Neue Light"/>
              </a:rPr>
              <a:t> — readers must decide whom to believe.</a:t>
            </a:r>
            <a:br>
              <a:rPr lang="en">
                <a:solidFill>
                  <a:schemeClr val="dk1"/>
                </a:solidFill>
              </a:rPr>
            </a:br>
            <a:endParaRPr>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t/>
            </a:r>
            <a:endParaRPr sz="15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400"/>
              </a:spcBef>
              <a:spcAft>
                <a:spcPts val="0"/>
              </a:spcAft>
              <a:buClr>
                <a:schemeClr val="dk1"/>
              </a:buClr>
              <a:buSzPts val="1100"/>
              <a:buFont typeface="Arial"/>
              <a:buNone/>
            </a:pPr>
            <a:r>
              <a:rPr lang="en" sz="1500">
                <a:solidFill>
                  <a:schemeClr val="dk1"/>
                </a:solidFill>
                <a:latin typeface="Helvetica Neue Light"/>
                <a:ea typeface="Helvetica Neue Light"/>
                <a:cs typeface="Helvetica Neue Light"/>
                <a:sym typeface="Helvetica Neue Light"/>
              </a:rPr>
              <a:t>Interpretive Notes</a:t>
            </a: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latin typeface="Helvetica Neue Light"/>
                <a:ea typeface="Helvetica Neue Light"/>
                <a:cs typeface="Helvetica Neue Light"/>
                <a:sym typeface="Helvetica Neue Light"/>
              </a:rPr>
              <a:t>Plot: Grimm’s tale reinforces moral binaries, while Gaiman destabilizes them, showing how narrative framing changes meaning.</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298450" lvl="0" marL="457200" rtl="0" algn="l">
              <a:lnSpc>
                <a:spcPct val="115000"/>
              </a:lnSpc>
              <a:spcBef>
                <a:spcPts val="0"/>
              </a:spcBef>
              <a:spcAft>
                <a:spcPts val="0"/>
              </a:spcAft>
              <a:buClr>
                <a:schemeClr val="dk1"/>
              </a:buClr>
              <a:buSzPts val="1100"/>
              <a:buChar char="●"/>
            </a:pPr>
            <a:r>
              <a:rPr lang="en" sz="1500">
                <a:solidFill>
                  <a:schemeClr val="dk1"/>
                </a:solidFill>
                <a:latin typeface="Helvetica Neue Light"/>
                <a:ea typeface="Helvetica Neue Light"/>
                <a:cs typeface="Helvetica Neue Light"/>
                <a:sym typeface="Helvetica Neue Light"/>
              </a:rPr>
              <a:t>Perspective: Grimm’s neutral, “all-seeing” narrator vs. Gaiman’s personal, confessional, unreliable narrator — demonstrating how shifting POV can completely reframe who is hero and who is monster.</a:t>
            </a:r>
            <a:endParaRPr sz="15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None/>
            </a:pPr>
            <a:r>
              <a:t/>
            </a:r>
            <a:endParaRPr sz="1500">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500">
              <a:latin typeface="Helvetica Neue Light"/>
              <a:ea typeface="Helvetica Neue Light"/>
              <a:cs typeface="Helvetica Neue Light"/>
              <a:sym typeface="Helvetica Neue Light"/>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661aad4287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661aad4287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Helvetica Neue Light"/>
                <a:ea typeface="Helvetica Neue Light"/>
                <a:cs typeface="Helvetica Neue Light"/>
                <a:sym typeface="Helvetica Neue Light"/>
              </a:rPr>
              <a:t>Show this after they have worked on it on their own first. </a:t>
            </a:r>
            <a:endParaRPr sz="1500">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500">
              <a:latin typeface="Helvetica Neue Light"/>
              <a:ea typeface="Helvetica Neue Light"/>
              <a:cs typeface="Helvetica Neue Light"/>
              <a:sym typeface="Helvetica Neue Light"/>
            </a:endParaRPr>
          </a:p>
          <a:p>
            <a:pPr indent="0" lvl="0" marL="0" rtl="0" algn="l">
              <a:spcBef>
                <a:spcPts val="0"/>
              </a:spcBef>
              <a:spcAft>
                <a:spcPts val="0"/>
              </a:spcAft>
              <a:buClr>
                <a:schemeClr val="dk1"/>
              </a:buClr>
              <a:buSzPts val="1100"/>
              <a:buFont typeface="Arial"/>
              <a:buNone/>
            </a:pPr>
            <a:r>
              <a:rPr b="1" lang="en" sz="1500">
                <a:solidFill>
                  <a:schemeClr val="dk1"/>
                </a:solidFill>
                <a:latin typeface="Helvetica Neue"/>
                <a:ea typeface="Helvetica Neue"/>
                <a:cs typeface="Helvetica Neue"/>
                <a:sym typeface="Helvetica Neue"/>
              </a:rPr>
              <a:t>Grimm’s </a:t>
            </a:r>
            <a:r>
              <a:rPr b="1" i="1" lang="en" sz="1500">
                <a:solidFill>
                  <a:schemeClr val="dk1"/>
                </a:solidFill>
                <a:latin typeface="Helvetica Neue"/>
                <a:ea typeface="Helvetica Neue"/>
                <a:cs typeface="Helvetica Neue"/>
                <a:sym typeface="Helvetica Neue"/>
              </a:rPr>
              <a:t>Snow White</a:t>
            </a:r>
            <a:endParaRPr b="1" sz="1500">
              <a:solidFill>
                <a:schemeClr val="dk1"/>
              </a:solidFill>
              <a:latin typeface="Helvetica Neue"/>
              <a:ea typeface="Helvetica Neue"/>
              <a:cs typeface="Helvetica Neue"/>
              <a:sym typeface="Helvetica Neue"/>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latin typeface="Helvetica Neue Light"/>
                <a:ea typeface="Helvetica Neue Light"/>
                <a:cs typeface="Helvetica Neue Light"/>
                <a:sym typeface="Helvetica Neue Light"/>
              </a:rPr>
              <a:t>Perspective: Third-person omniscient, traditional fairy-tale narrator.</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Plot: Classic structure — good vs. evil, innocence rewarded, villain punished.</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Snow White is innocent, passive, and victimized.</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The Queen is unequivocally evil, driven by jealousy.</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Moral simplicity: virtue triumphs over wickedness.</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Ending: Snow White lives “happily ever after” with the prince; Queen dies gruesomely.</a:t>
            </a:r>
            <a:endParaRPr sz="1500">
              <a:solidFill>
                <a:schemeClr val="dk1"/>
              </a:solidFill>
              <a:latin typeface="Helvetica Neue Light"/>
              <a:ea typeface="Helvetica Neue Light"/>
              <a:cs typeface="Helvetica Neue Light"/>
              <a:sym typeface="Helvetica Neue Light"/>
            </a:endParaRPr>
          </a:p>
          <a:p>
            <a:pPr indent="-228600" lvl="0" marL="457200" rtl="0" algn="l">
              <a:lnSpc>
                <a:spcPct val="115000"/>
              </a:lnSpc>
              <a:spcBef>
                <a:spcPts val="1200"/>
              </a:spcBef>
              <a:spcAft>
                <a:spcPts val="0"/>
              </a:spcAft>
              <a:buNone/>
            </a:pPr>
            <a:r>
              <a:rPr lang="en" sz="1500">
                <a:solidFill>
                  <a:schemeClr val="dk1"/>
                </a:solidFill>
                <a:latin typeface="Helvetica Neue Light"/>
                <a:ea typeface="Helvetica Neue Light"/>
                <a:cs typeface="Helvetica Neue Light"/>
                <a:sym typeface="Helvetica Neue Light"/>
              </a:rPr>
              <a:t>Purpose of structure: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120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Reinforces </a:t>
            </a:r>
            <a:r>
              <a:rPr i="1" lang="en" sz="1500">
                <a:solidFill>
                  <a:schemeClr val="dk1"/>
                </a:solidFill>
                <a:latin typeface="Helvetica Neue Light"/>
                <a:ea typeface="Helvetica Neue Light"/>
                <a:cs typeface="Helvetica Neue Light"/>
                <a:sym typeface="Helvetica Neue Light"/>
              </a:rPr>
              <a:t>moral binaries</a:t>
            </a:r>
            <a:r>
              <a:rPr lang="en" sz="1500">
                <a:solidFill>
                  <a:schemeClr val="dk1"/>
                </a:solidFill>
                <a:latin typeface="Helvetica Neue Light"/>
                <a:ea typeface="Helvetica Neue Light"/>
                <a:cs typeface="Helvetica Neue Light"/>
                <a:sym typeface="Helvetica Neue Light"/>
              </a:rPr>
              <a:t> (innocence vs. wickedness).</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Builds suspense with repetition (three attempts by the Queen) before justice prevails.</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Ends with </a:t>
            </a:r>
            <a:r>
              <a:rPr i="1" lang="en" sz="1500">
                <a:solidFill>
                  <a:schemeClr val="dk1"/>
                </a:solidFill>
                <a:latin typeface="Helvetica Neue Light"/>
                <a:ea typeface="Helvetica Neue Light"/>
                <a:cs typeface="Helvetica Neue Light"/>
                <a:sym typeface="Helvetica Neue Light"/>
              </a:rPr>
              <a:t>closure</a:t>
            </a:r>
            <a:r>
              <a:rPr lang="en" sz="1500">
                <a:solidFill>
                  <a:schemeClr val="dk1"/>
                </a:solidFill>
                <a:latin typeface="Helvetica Neue Light"/>
                <a:ea typeface="Helvetica Neue Light"/>
                <a:cs typeface="Helvetica Neue Light"/>
                <a:sym typeface="Helvetica Neue Light"/>
              </a:rPr>
              <a:t> — Snow White is rewarded, the Queen punished.</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Meaning:</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9144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The plot affirms cultural values of virtue, beauty, and obedience.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Evil is externalized and defeated; goodness is preserved and celebrated.</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400"/>
              </a:spcBef>
              <a:spcAft>
                <a:spcPts val="0"/>
              </a:spcAft>
              <a:buClr>
                <a:schemeClr val="dk1"/>
              </a:buClr>
              <a:buSzPts val="1100"/>
              <a:buFont typeface="Arial"/>
              <a:buNone/>
            </a:pPr>
            <a:r>
              <a:rPr b="1" lang="en" sz="1500">
                <a:solidFill>
                  <a:schemeClr val="dk1"/>
                </a:solidFill>
                <a:latin typeface="Helvetica Neue"/>
                <a:ea typeface="Helvetica Neue"/>
                <a:cs typeface="Helvetica Neue"/>
                <a:sym typeface="Helvetica Neue"/>
              </a:rPr>
              <a:t>Shared Elements</a:t>
            </a:r>
            <a:endParaRPr b="1" sz="1500">
              <a:solidFill>
                <a:schemeClr val="dk1"/>
              </a:solidFill>
              <a:latin typeface="Helvetica Neue"/>
              <a:ea typeface="Helvetica Neue"/>
              <a:cs typeface="Helvetica Neue"/>
              <a:sym typeface="Helvetica Neue"/>
            </a:endParaRPr>
          </a:p>
          <a:p>
            <a:pPr indent="-323850" lvl="0" marL="457200" rtl="0" algn="l">
              <a:lnSpc>
                <a:spcPct val="115000"/>
              </a:lnSpc>
              <a:spcBef>
                <a:spcPts val="120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Both use familiar fairy-tale motifs: mirrors, poisoned apples, huntsman, dwarfs/forest folk, apparent death and revival.</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Themes of beauty, envy, power, and survival are central.</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The Queen and Snow White remain locked in a battle for dominance and identity.</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Both stories end with the Queen destroyed and Snow White alive.</a:t>
            </a:r>
            <a:endParaRPr sz="1500">
              <a:solidFill>
                <a:schemeClr val="dk1"/>
              </a:solidFill>
              <a:latin typeface="Helvetica Neue Light"/>
              <a:ea typeface="Helvetica Neue Light"/>
              <a:cs typeface="Helvetica Neue Light"/>
              <a:sym typeface="Helvetica Neue Light"/>
            </a:endParaRPr>
          </a:p>
          <a:p>
            <a:pPr indent="-228600" lvl="0" marL="457200" rtl="0" algn="l">
              <a:lnSpc>
                <a:spcPct val="115000"/>
              </a:lnSpc>
              <a:spcBef>
                <a:spcPts val="1200"/>
              </a:spcBef>
              <a:spcAft>
                <a:spcPts val="0"/>
              </a:spcAft>
              <a:buNone/>
            </a:pPr>
            <a:r>
              <a:rPr lang="en" sz="1500">
                <a:solidFill>
                  <a:schemeClr val="dk1"/>
                </a:solidFill>
                <a:latin typeface="Helvetica Neue Light"/>
                <a:ea typeface="Helvetica Neue Light"/>
                <a:cs typeface="Helvetica Neue Light"/>
                <a:sym typeface="Helvetica Neue Light"/>
              </a:rPr>
              <a:t>Linear, classic fairy-tale arc: exposition → conflict → climax → resolution. For the most part. </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228600" lvl="0" marL="457200" rtl="0" algn="l">
              <a:lnSpc>
                <a:spcPct val="115000"/>
              </a:lnSpc>
              <a:spcBef>
                <a:spcPts val="1200"/>
              </a:spcBef>
              <a:spcAft>
                <a:spcPts val="0"/>
              </a:spcAft>
              <a:buNone/>
            </a:pPr>
            <a:r>
              <a:rPr lang="en" sz="1500">
                <a:solidFill>
                  <a:schemeClr val="dk1"/>
                </a:solidFill>
                <a:latin typeface="Helvetica Neue Light"/>
                <a:ea typeface="Helvetica Neue Light"/>
                <a:cs typeface="Helvetica Neue Light"/>
                <a:sym typeface="Helvetica Neue Light"/>
              </a:rPr>
              <a:t>Snow White’s apparent death(s) and final revival lead to a clear moral outcome.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400"/>
              </a:spcBef>
              <a:spcAft>
                <a:spcPts val="0"/>
              </a:spcAft>
              <a:buClr>
                <a:schemeClr val="dk1"/>
              </a:buClr>
              <a:buSzPts val="1100"/>
              <a:buFont typeface="Arial"/>
              <a:buNone/>
            </a:pPr>
            <a:r>
              <a:rPr b="1" lang="en" sz="1500">
                <a:solidFill>
                  <a:schemeClr val="dk1"/>
                </a:solidFill>
                <a:latin typeface="Helvetica Neue"/>
                <a:ea typeface="Helvetica Neue"/>
                <a:cs typeface="Helvetica Neue"/>
                <a:sym typeface="Helvetica Neue"/>
              </a:rPr>
              <a:t>Gaiman’s </a:t>
            </a:r>
            <a:r>
              <a:rPr b="1" i="1" lang="en" sz="1500">
                <a:solidFill>
                  <a:schemeClr val="dk1"/>
                </a:solidFill>
                <a:latin typeface="Helvetica Neue"/>
                <a:ea typeface="Helvetica Neue"/>
                <a:cs typeface="Helvetica Neue"/>
                <a:sym typeface="Helvetica Neue"/>
              </a:rPr>
              <a:t>Snow, Glass, Apples</a:t>
            </a:r>
            <a:endParaRPr b="1" sz="1500">
              <a:solidFill>
                <a:schemeClr val="dk1"/>
              </a:solidFill>
              <a:latin typeface="Helvetica Neue"/>
              <a:ea typeface="Helvetica Neue"/>
              <a:cs typeface="Helvetica Neue"/>
              <a:sym typeface="Helvetica Neue"/>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latin typeface="Helvetica Neue Light"/>
                <a:ea typeface="Helvetica Neue Light"/>
                <a:cs typeface="Helvetica Neue Light"/>
                <a:sym typeface="Helvetica Neue Light"/>
              </a:rPr>
              <a:t>Perspective: First-person narration by the Queen, an unreliable narrator.</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latin typeface="Helvetica Neue Light"/>
                <a:ea typeface="Helvetica Neue Light"/>
                <a:cs typeface="Helvetica Neue Light"/>
                <a:sym typeface="Helvetica Neue Light"/>
              </a:rPr>
              <a:t>Plot: Retelling inverts roles — the Queen is sympathetic, Snow White monstrous.</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Snow White is depicted as vampiric, predatory, feeding on others’ blood and life.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The Queen frames her actions as necessary to protect her people.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latin typeface="Helvetica Neue Light"/>
                <a:ea typeface="Helvetica Neue Light"/>
                <a:cs typeface="Helvetica Neue Light"/>
                <a:sym typeface="Helvetica Neue Light"/>
              </a:rPr>
              <a:t>Themes of truth vs. lies, unreliable memory, sexuality, and monstrosity.</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Ending: The Queen is burned alive, claiming control of her own story.</a:t>
            </a: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latin typeface="Helvetica Neue Light"/>
                <a:ea typeface="Helvetica Neue Light"/>
                <a:cs typeface="Helvetica Neue Light"/>
                <a:sym typeface="Helvetica Neue Light"/>
              </a:rPr>
              <a:t>Fragmented, confessional structure: told retrospectively in the Queen’s first-person voice.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Events unfold as memories, shifting between what the Queen saw, feared, or imagined</a:t>
            </a:r>
            <a:br>
              <a:rPr lang="en" sz="1500">
                <a:solidFill>
                  <a:schemeClr val="dk1"/>
                </a:solidFill>
                <a:latin typeface="Helvetica Neue Light"/>
                <a:ea typeface="Helvetica Neue Light"/>
                <a:cs typeface="Helvetica Neue Light"/>
                <a:sym typeface="Helvetica Neue Light"/>
              </a:rPr>
            </a:br>
            <a:r>
              <a:rPr lang="en" sz="1500">
                <a:solidFill>
                  <a:schemeClr val="dk1"/>
                </a:solidFill>
                <a:latin typeface="Helvetica Neue Light"/>
                <a:ea typeface="Helvetica Neue Light"/>
                <a:cs typeface="Helvetica Neue Light"/>
                <a:sym typeface="Helvetica Neue Light"/>
              </a:rPr>
              <a:t>.</a:t>
            </a: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Purpose of structure: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1" marL="914400" rtl="0" algn="l">
              <a:lnSpc>
                <a:spcPct val="115000"/>
              </a:lnSpc>
              <a:spcBef>
                <a:spcPts val="0"/>
              </a:spcBef>
              <a:spcAft>
                <a:spcPts val="0"/>
              </a:spcAft>
              <a:buClr>
                <a:schemeClr val="dk1"/>
              </a:buClr>
              <a:buSzPts val="1500"/>
              <a:buFont typeface="Helvetica Neue Light"/>
              <a:buAutoNum type="alphaLcPeriod"/>
            </a:pPr>
            <a:r>
              <a:rPr lang="en" sz="1500">
                <a:solidFill>
                  <a:schemeClr val="dk1"/>
                </a:solidFill>
                <a:latin typeface="Helvetica Neue Light"/>
                <a:ea typeface="Helvetica Neue Light"/>
                <a:cs typeface="Helvetica Neue Light"/>
                <a:sym typeface="Helvetica Neue Light"/>
              </a:rPr>
              <a:t>Undermines the reliability of “truth” — we never know for sure what happened.</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1" marL="914400" rtl="0" algn="l">
              <a:lnSpc>
                <a:spcPct val="115000"/>
              </a:lnSpc>
              <a:spcBef>
                <a:spcPts val="0"/>
              </a:spcBef>
              <a:spcAft>
                <a:spcPts val="0"/>
              </a:spcAft>
              <a:buClr>
                <a:schemeClr val="dk1"/>
              </a:buClr>
              <a:buSzPts val="1500"/>
              <a:buFont typeface="Helvetica Neue Light"/>
              <a:buAutoNum type="alphaLcPeriod"/>
            </a:pPr>
            <a:r>
              <a:rPr lang="en" sz="1500">
                <a:solidFill>
                  <a:schemeClr val="dk1"/>
                </a:solidFill>
                <a:latin typeface="Helvetica Neue Light"/>
                <a:ea typeface="Helvetica Neue Light"/>
                <a:cs typeface="Helvetica Neue Light"/>
                <a:sym typeface="Helvetica Neue Light"/>
              </a:rPr>
              <a:t>Shifts the moral center: the Queen frames herself as protector, Snow White as predator.</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1" marL="914400" rtl="0" algn="l">
              <a:lnSpc>
                <a:spcPct val="115000"/>
              </a:lnSpc>
              <a:spcBef>
                <a:spcPts val="0"/>
              </a:spcBef>
              <a:spcAft>
                <a:spcPts val="0"/>
              </a:spcAft>
              <a:buClr>
                <a:schemeClr val="dk1"/>
              </a:buClr>
              <a:buSzPts val="1500"/>
              <a:buFont typeface="Helvetica Neue Light"/>
              <a:buAutoNum type="alphaLcPeriod"/>
            </a:pPr>
            <a:r>
              <a:rPr lang="en" sz="1500">
                <a:solidFill>
                  <a:schemeClr val="dk1"/>
                </a:solidFill>
                <a:latin typeface="Helvetica Neue Light"/>
                <a:ea typeface="Helvetica Neue Light"/>
                <a:cs typeface="Helvetica Neue Light"/>
                <a:sym typeface="Helvetica Neue Light"/>
              </a:rPr>
              <a:t>The climax (Snow White’s return and the Queen’s execution) reverses expectations — the “villain” is destroyed but the ending feels unjust.</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Meaning:</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1" marL="914400" rtl="0" algn="l">
              <a:lnSpc>
                <a:spcPct val="115000"/>
              </a:lnSpc>
              <a:spcBef>
                <a:spcPts val="0"/>
              </a:spcBef>
              <a:spcAft>
                <a:spcPts val="0"/>
              </a:spcAft>
              <a:buClr>
                <a:schemeClr val="dk1"/>
              </a:buClr>
              <a:buSzPts val="1500"/>
              <a:buFont typeface="Helvetica Neue Light"/>
              <a:buAutoNum type="alphaLcPeriod"/>
            </a:pPr>
            <a:r>
              <a:rPr lang="en" sz="1500">
                <a:solidFill>
                  <a:schemeClr val="dk1"/>
                </a:solidFill>
                <a:latin typeface="Helvetica Neue Light"/>
                <a:ea typeface="Helvetica Neue Light"/>
                <a:cs typeface="Helvetica Neue Light"/>
                <a:sym typeface="Helvetica Neue Light"/>
              </a:rPr>
              <a:t>Raises questions about </a:t>
            </a:r>
            <a:r>
              <a:rPr i="1" lang="en" sz="1500">
                <a:solidFill>
                  <a:schemeClr val="dk1"/>
                </a:solidFill>
                <a:latin typeface="Helvetica Neue Light"/>
                <a:ea typeface="Helvetica Neue Light"/>
                <a:cs typeface="Helvetica Neue Light"/>
                <a:sym typeface="Helvetica Neue Light"/>
              </a:rPr>
              <a:t>who controls the story</a:t>
            </a:r>
            <a:r>
              <a:rPr lang="en" sz="1500">
                <a:solidFill>
                  <a:schemeClr val="dk1"/>
                </a:solidFill>
                <a:latin typeface="Helvetica Neue Light"/>
                <a:ea typeface="Helvetica Neue Light"/>
                <a:cs typeface="Helvetica Neue Light"/>
                <a:sym typeface="Helvetica Neue Light"/>
              </a:rPr>
              <a:t> and how perspective shapes truth.</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1" marL="914400" rtl="0" algn="l">
              <a:lnSpc>
                <a:spcPct val="115000"/>
              </a:lnSpc>
              <a:spcBef>
                <a:spcPts val="0"/>
              </a:spcBef>
              <a:spcAft>
                <a:spcPts val="0"/>
              </a:spcAft>
              <a:buClr>
                <a:schemeClr val="dk1"/>
              </a:buClr>
              <a:buSzPts val="1500"/>
              <a:buFont typeface="Helvetica Neue Light"/>
              <a:buAutoNum type="alphaLcPeriod"/>
            </a:pPr>
            <a:r>
              <a:rPr lang="en" sz="1500">
                <a:solidFill>
                  <a:schemeClr val="dk1"/>
                </a:solidFill>
                <a:latin typeface="Helvetica Neue Light"/>
                <a:ea typeface="Helvetica Neue Light"/>
                <a:cs typeface="Helvetica Neue Light"/>
                <a:sym typeface="Helvetica Neue Light"/>
              </a:rPr>
              <a:t>Highlights themes of sexuality, monstrosity, and survival.</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298450" lvl="1" marL="914400" rtl="0" algn="l">
              <a:lnSpc>
                <a:spcPct val="115000"/>
              </a:lnSpc>
              <a:spcBef>
                <a:spcPts val="0"/>
              </a:spcBef>
              <a:spcAft>
                <a:spcPts val="0"/>
              </a:spcAft>
              <a:buClr>
                <a:schemeClr val="dk1"/>
              </a:buClr>
              <a:buSzPts val="1100"/>
              <a:buAutoNum type="alphaLcPeriod"/>
            </a:pPr>
            <a:r>
              <a:rPr lang="en" sz="1500">
                <a:solidFill>
                  <a:schemeClr val="dk1"/>
                </a:solidFill>
                <a:latin typeface="Helvetica Neue Light"/>
                <a:ea typeface="Helvetica Neue Light"/>
                <a:cs typeface="Helvetica Neue Light"/>
                <a:sym typeface="Helvetica Neue Light"/>
              </a:rPr>
              <a:t>Creates </a:t>
            </a:r>
            <a:r>
              <a:rPr i="1" lang="en" sz="1500">
                <a:solidFill>
                  <a:schemeClr val="dk1"/>
                </a:solidFill>
                <a:latin typeface="Helvetica Neue Light"/>
                <a:ea typeface="Helvetica Neue Light"/>
                <a:cs typeface="Helvetica Neue Light"/>
                <a:sym typeface="Helvetica Neue Light"/>
              </a:rPr>
              <a:t>moral ambiguity</a:t>
            </a:r>
            <a:r>
              <a:rPr lang="en" sz="1500">
                <a:solidFill>
                  <a:schemeClr val="dk1"/>
                </a:solidFill>
                <a:latin typeface="Helvetica Neue Light"/>
                <a:ea typeface="Helvetica Neue Light"/>
                <a:cs typeface="Helvetica Neue Light"/>
                <a:sym typeface="Helvetica Neue Light"/>
              </a:rPr>
              <a:t> — readers must decide whom to believe.</a:t>
            </a:r>
            <a:br>
              <a:rPr lang="en">
                <a:solidFill>
                  <a:schemeClr val="dk1"/>
                </a:solidFill>
              </a:rPr>
            </a:br>
            <a:endParaRPr>
              <a:solidFill>
                <a:schemeClr val="dk1"/>
              </a:solidFill>
            </a:endParaRPr>
          </a:p>
          <a:p>
            <a:pPr indent="0" lvl="0" marL="457200" rtl="0" algn="l">
              <a:lnSpc>
                <a:spcPct val="115000"/>
              </a:lnSpc>
              <a:spcBef>
                <a:spcPts val="1200"/>
              </a:spcBef>
              <a:spcAft>
                <a:spcPts val="0"/>
              </a:spcAft>
              <a:buNone/>
            </a:pPr>
            <a:r>
              <a:t/>
            </a:r>
            <a:endParaRPr sz="15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400"/>
              </a:spcBef>
              <a:spcAft>
                <a:spcPts val="0"/>
              </a:spcAft>
              <a:buClr>
                <a:schemeClr val="dk1"/>
              </a:buClr>
              <a:buSzPts val="1100"/>
              <a:buFont typeface="Arial"/>
              <a:buNone/>
            </a:pPr>
            <a:r>
              <a:rPr lang="en" sz="1500">
                <a:solidFill>
                  <a:schemeClr val="dk1"/>
                </a:solidFill>
                <a:latin typeface="Helvetica Neue Light"/>
                <a:ea typeface="Helvetica Neue Light"/>
                <a:cs typeface="Helvetica Neue Light"/>
                <a:sym typeface="Helvetica Neue Light"/>
              </a:rPr>
              <a:t>Interpretive Notes</a:t>
            </a: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latin typeface="Helvetica Neue Light"/>
                <a:ea typeface="Helvetica Neue Light"/>
                <a:cs typeface="Helvetica Neue Light"/>
                <a:sym typeface="Helvetica Neue Light"/>
              </a:rPr>
              <a:t>Plot: Grimm’s tale reinforces moral binaries, while Gaiman destabilizes them, showing how narrative framing changes meaning.</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298450" lvl="0" marL="457200" rtl="0" algn="l">
              <a:lnSpc>
                <a:spcPct val="115000"/>
              </a:lnSpc>
              <a:spcBef>
                <a:spcPts val="0"/>
              </a:spcBef>
              <a:spcAft>
                <a:spcPts val="0"/>
              </a:spcAft>
              <a:buClr>
                <a:schemeClr val="dk1"/>
              </a:buClr>
              <a:buSzPts val="1100"/>
              <a:buChar char="●"/>
            </a:pPr>
            <a:r>
              <a:rPr lang="en" sz="1500">
                <a:solidFill>
                  <a:schemeClr val="dk1"/>
                </a:solidFill>
                <a:latin typeface="Helvetica Neue Light"/>
                <a:ea typeface="Helvetica Neue Light"/>
                <a:cs typeface="Helvetica Neue Light"/>
                <a:sym typeface="Helvetica Neue Light"/>
              </a:rPr>
              <a:t>Perspective: Grimm’s neutral, “all-seeing” narrator vs. Gaiman’s personal, confessional, unreliable narrator — demonstrating how shifting POV can completely reframe who is hero and who is monster.</a:t>
            </a:r>
            <a:endParaRPr sz="1500">
              <a:latin typeface="Helvetica Neue Light"/>
              <a:ea typeface="Helvetica Neue Light"/>
              <a:cs typeface="Helvetica Neue Light"/>
              <a:sym typeface="Helvetica Neue Light"/>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661aad4287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661aad4287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Helvetica Neue Light"/>
                <a:ea typeface="Helvetica Neue Light"/>
                <a:cs typeface="Helvetica Neue Light"/>
                <a:sym typeface="Helvetica Neue Light"/>
              </a:rPr>
              <a:t>1.5 - 2 pages</a:t>
            </a:r>
            <a:endParaRPr sz="1600">
              <a:latin typeface="Helvetica Neue Light"/>
              <a:ea typeface="Helvetica Neue Light"/>
              <a:cs typeface="Helvetica Neue Light"/>
              <a:sym typeface="Helvetica Neue Light"/>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www.youtube.com/watch?v=oP3c1h8v2ZQ" TargetMode="Externa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en.wikipedia.org/wiki/Brothers_Grimm" TargetMode="External"/><Relationship Id="rId4" Type="http://schemas.openxmlformats.org/officeDocument/2006/relationships/hyperlink" Target="https://en.wikipedia.org/wiki/Snow_White" TargetMode="External"/><Relationship Id="rId5" Type="http://schemas.openxmlformats.org/officeDocument/2006/relationships/hyperlink" Target="https://en.wikipedia.org/wiki/Evil_Queen" TargetMode="External"/><Relationship Id="rId6"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1385917" y="177140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8400">
                <a:solidFill>
                  <a:schemeClr val="accent1"/>
                </a:solidFill>
                <a:latin typeface="Helvetica Neue"/>
                <a:ea typeface="Helvetica Neue"/>
                <a:cs typeface="Helvetica Neue"/>
                <a:sym typeface="Helvetica Neue"/>
              </a:rPr>
              <a:t>Elements </a:t>
            </a:r>
            <a:endParaRPr b="1" sz="8400">
              <a:solidFill>
                <a:schemeClr val="accent1"/>
              </a:solidFill>
              <a:latin typeface="Helvetica Neue"/>
              <a:ea typeface="Helvetica Neue"/>
              <a:cs typeface="Helvetica Neue"/>
              <a:sym typeface="Helvetica Neue"/>
            </a:endParaRPr>
          </a:p>
          <a:p>
            <a:pPr indent="457200" lvl="0" marL="3200400" rtl="0" algn="ctr">
              <a:spcBef>
                <a:spcPts val="0"/>
              </a:spcBef>
              <a:spcAft>
                <a:spcPts val="0"/>
              </a:spcAft>
              <a:buNone/>
            </a:pPr>
            <a:r>
              <a:rPr b="1" lang="en" sz="8400">
                <a:solidFill>
                  <a:schemeClr val="accent1"/>
                </a:solidFill>
                <a:latin typeface="Helvetica Neue"/>
                <a:ea typeface="Helvetica Neue"/>
                <a:cs typeface="Helvetica Neue"/>
                <a:sym typeface="Helvetica Neue"/>
              </a:rPr>
              <a:t>of Fiction</a:t>
            </a:r>
            <a:endParaRPr b="1" sz="8400">
              <a:solidFill>
                <a:schemeClr val="accent1"/>
              </a:solidFill>
              <a:latin typeface="Helvetica Neue"/>
              <a:ea typeface="Helvetica Neue"/>
              <a:cs typeface="Helvetica Neue"/>
              <a:sym typeface="Helvetica Neue"/>
            </a:endParaRPr>
          </a:p>
        </p:txBody>
      </p:sp>
      <p:sp>
        <p:nvSpPr>
          <p:cNvPr id="55" name="Google Shape;55;p13"/>
          <p:cNvSpPr txBox="1"/>
          <p:nvPr>
            <p:ph idx="1" type="subTitle"/>
          </p:nvPr>
        </p:nvSpPr>
        <p:spPr>
          <a:xfrm>
            <a:off x="462325" y="4207075"/>
            <a:ext cx="8520600" cy="792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r>
              <a:rPr lang="en">
                <a:latin typeface="Helvetica Neue Light"/>
                <a:ea typeface="Helvetica Neue Light"/>
                <a:cs typeface="Helvetica Neue Light"/>
                <a:sym typeface="Helvetica Neue Light"/>
              </a:rPr>
              <a:t>Plot/Narrative Perspective</a:t>
            </a:r>
            <a:endParaRPr>
              <a:latin typeface="Helvetica Neue Light"/>
              <a:ea typeface="Helvetica Neue Light"/>
              <a:cs typeface="Helvetica Neue Light"/>
              <a:sym typeface="Helvetica Neue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00"/>
        </a:solidFill>
      </p:bgPr>
    </p:bg>
    <p:spTree>
      <p:nvGrpSpPr>
        <p:cNvPr id="59" name="Shape 59"/>
        <p:cNvGrpSpPr/>
        <p:nvPr/>
      </p:nvGrpSpPr>
      <p:grpSpPr>
        <a:xfrm>
          <a:off x="0" y="0"/>
          <a:ext cx="0" cy="0"/>
          <a:chOff x="0" y="0"/>
          <a:chExt cx="0" cy="0"/>
        </a:xfrm>
      </p:grpSpPr>
      <p:sp>
        <p:nvSpPr>
          <p:cNvPr id="60" name="Google Shape;60;p14"/>
          <p:cNvSpPr/>
          <p:nvPr/>
        </p:nvSpPr>
        <p:spPr>
          <a:xfrm>
            <a:off x="0" y="1305850"/>
            <a:ext cx="9144000" cy="3837600"/>
          </a:xfrm>
          <a:prstGeom prst="rect">
            <a:avLst/>
          </a:prstGeom>
          <a:solidFill>
            <a:srgbClr val="F1C232"/>
          </a:solidFill>
          <a:ln cap="flat" cmpd="sng" w="9525">
            <a:solidFill>
              <a:srgbClr val="FFE5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 name="Google Shape;61;p14"/>
          <p:cNvSpPr txBox="1"/>
          <p:nvPr>
            <p:ph type="title"/>
          </p:nvPr>
        </p:nvSpPr>
        <p:spPr>
          <a:xfrm>
            <a:off x="158050" y="306750"/>
            <a:ext cx="85206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b="1" lang="en" sz="5420"/>
              <a:t>Plot</a:t>
            </a:r>
            <a:endParaRPr b="1" sz="5420"/>
          </a:p>
        </p:txBody>
      </p:sp>
      <p:sp>
        <p:nvSpPr>
          <p:cNvPr id="62" name="Google Shape;62;p14"/>
          <p:cNvSpPr txBox="1"/>
          <p:nvPr>
            <p:ph idx="1" type="body"/>
          </p:nvPr>
        </p:nvSpPr>
        <p:spPr>
          <a:xfrm>
            <a:off x="465350" y="1613350"/>
            <a:ext cx="8520600" cy="3416400"/>
          </a:xfrm>
          <a:prstGeom prst="rect">
            <a:avLst/>
          </a:prstGeom>
        </p:spPr>
        <p:txBody>
          <a:bodyPr anchorCtr="0" anchor="t" bIns="91425" lIns="91425" spcFirstLastPara="1" rIns="91425" wrap="square" tIns="91425">
            <a:normAutofit/>
          </a:bodyPr>
          <a:lstStyle/>
          <a:p>
            <a:pPr indent="-374650" lvl="0" marL="457200" rtl="0" algn="l">
              <a:spcBef>
                <a:spcPts val="0"/>
              </a:spcBef>
              <a:spcAft>
                <a:spcPts val="0"/>
              </a:spcAft>
              <a:buClr>
                <a:schemeClr val="dk1"/>
              </a:buClr>
              <a:buSzPts val="2300"/>
              <a:buFont typeface="Helvetica Neue Light"/>
              <a:buChar char="●"/>
            </a:pPr>
            <a:r>
              <a:rPr lang="en" sz="2300">
                <a:solidFill>
                  <a:schemeClr val="dk1"/>
                </a:solidFill>
                <a:latin typeface="Helvetica Neue Light"/>
                <a:ea typeface="Helvetica Neue Light"/>
                <a:cs typeface="Helvetica Neue Light"/>
                <a:sym typeface="Helvetica Neue Light"/>
              </a:rPr>
              <a:t>What happens in a narrative.</a:t>
            </a:r>
            <a:endParaRPr sz="2300">
              <a:solidFill>
                <a:schemeClr val="dk1"/>
              </a:solidFill>
              <a:latin typeface="Helvetica Neue Light"/>
              <a:ea typeface="Helvetica Neue Light"/>
              <a:cs typeface="Helvetica Neue Light"/>
              <a:sym typeface="Helvetica Neue Light"/>
            </a:endParaRPr>
          </a:p>
          <a:p>
            <a:pPr indent="-374650" lvl="0" marL="457200" rtl="0" algn="l">
              <a:spcBef>
                <a:spcPts val="0"/>
              </a:spcBef>
              <a:spcAft>
                <a:spcPts val="0"/>
              </a:spcAft>
              <a:buClr>
                <a:schemeClr val="dk1"/>
              </a:buClr>
              <a:buSzPts val="2300"/>
              <a:buFont typeface="Helvetica Neue Light"/>
              <a:buChar char="●"/>
            </a:pPr>
            <a:r>
              <a:rPr lang="en" sz="2300">
                <a:solidFill>
                  <a:schemeClr val="dk1"/>
                </a:solidFill>
                <a:latin typeface="Helvetica Neue Light"/>
                <a:ea typeface="Helvetica Neue Light"/>
                <a:cs typeface="Helvetica Neue Light"/>
                <a:sym typeface="Helvetica Neue Light"/>
              </a:rPr>
              <a:t>Not just a sequence of events, but an arrangement of conflicts and resolutions to create a logical pattern of cause-and-effect.</a:t>
            </a:r>
            <a:endParaRPr sz="2300">
              <a:solidFill>
                <a:schemeClr val="dk1"/>
              </a:solidFill>
              <a:latin typeface="Helvetica Neue Light"/>
              <a:ea typeface="Helvetica Neue Light"/>
              <a:cs typeface="Helvetica Neue Light"/>
              <a:sym typeface="Helvetica Neue Light"/>
            </a:endParaRPr>
          </a:p>
          <a:p>
            <a:pPr indent="-374650" lvl="0" marL="457200" rtl="0" algn="l">
              <a:spcBef>
                <a:spcPts val="0"/>
              </a:spcBef>
              <a:spcAft>
                <a:spcPts val="0"/>
              </a:spcAft>
              <a:buClr>
                <a:schemeClr val="dk1"/>
              </a:buClr>
              <a:buSzPts val="2300"/>
              <a:buFont typeface="Helvetica Neue Light"/>
              <a:buChar char="●"/>
            </a:pPr>
            <a:r>
              <a:rPr lang="en" sz="2300">
                <a:solidFill>
                  <a:schemeClr val="dk1"/>
                </a:solidFill>
                <a:latin typeface="Helvetica Neue Light"/>
                <a:ea typeface="Helvetica Neue Light"/>
                <a:cs typeface="Helvetica Neue Light"/>
                <a:sym typeface="Helvetica Neue Light"/>
              </a:rPr>
              <a:t>Develops character relationships. Character and conflict go hand in hand. </a:t>
            </a:r>
            <a:endParaRPr sz="2300">
              <a:solidFill>
                <a:schemeClr val="dk1"/>
              </a:solidFill>
              <a:latin typeface="Helvetica Neue Light"/>
              <a:ea typeface="Helvetica Neue Light"/>
              <a:cs typeface="Helvetica Neue Light"/>
              <a:sym typeface="Helvetica Neue Light"/>
            </a:endParaRPr>
          </a:p>
          <a:p>
            <a:pPr indent="-374650" lvl="0" marL="457200" rtl="0" algn="l">
              <a:spcBef>
                <a:spcPts val="0"/>
              </a:spcBef>
              <a:spcAft>
                <a:spcPts val="0"/>
              </a:spcAft>
              <a:buClr>
                <a:schemeClr val="dk1"/>
              </a:buClr>
              <a:buSzPts val="2300"/>
              <a:buFont typeface="Helvetica Neue Light"/>
              <a:buChar char="●"/>
            </a:pPr>
            <a:r>
              <a:rPr lang="en" sz="2300">
                <a:solidFill>
                  <a:schemeClr val="dk1"/>
                </a:solidFill>
                <a:latin typeface="Helvetica Neue Light"/>
                <a:ea typeface="Helvetica Neue Light"/>
                <a:cs typeface="Helvetica Neue Light"/>
                <a:sym typeface="Helvetica Neue Light"/>
              </a:rPr>
              <a:t>You must understand what is happening, why it is happening, and how plot elements work together. </a:t>
            </a:r>
            <a:endParaRPr sz="2300">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descr="Short lecture by Kurt Vonnegut on the 'simple shapes of stories.'" id="67" name="Google Shape;67;p15" title="Kurt Vonnegut on the Shapes of Stories">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gtEl>
                                        <p:attrNameLst>
                                          <p:attrName>style.visibility</p:attrName>
                                        </p:attrNameLst>
                                      </p:cBhvr>
                                      <p:to>
                                        <p:strVal val="visible"/>
                                      </p:to>
                                    </p:set>
                                    <p:animEffect filter="fade" transition="in">
                                      <p:cBhvr>
                                        <p:cTn dur="1000"/>
                                        <p:tgtEl>
                                          <p:spTgt spid="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Freytag’s Pyramid</a:t>
            </a:r>
            <a:endParaRPr/>
          </a:p>
        </p:txBody>
      </p:sp>
      <p:pic>
        <p:nvPicPr>
          <p:cNvPr id="73" name="Google Shape;73;p16" title="Screenshot 2025-09-15 at 10.20.40 AM.png"/>
          <p:cNvPicPr preferRelativeResize="0"/>
          <p:nvPr/>
        </p:nvPicPr>
        <p:blipFill>
          <a:blip r:embed="rId3">
            <a:alphaModFix/>
          </a:blip>
          <a:stretch>
            <a:fillRect/>
          </a:stretch>
        </p:blipFill>
        <p:spPr>
          <a:xfrm>
            <a:off x="445500" y="1198423"/>
            <a:ext cx="7675324" cy="33433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FEAFB"/>
            </a:gs>
            <a:gs pos="100000">
              <a:srgbClr val="6E9CE7"/>
            </a:gs>
          </a:gsLst>
          <a:path path="circle">
            <a:fillToRect b="50%" l="50%" r="50%" t="50%"/>
          </a:path>
          <a:tileRect/>
        </a:gradFill>
      </p:bgPr>
    </p:bg>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120">
                <a:latin typeface="Helvetica Neue"/>
                <a:ea typeface="Helvetica Neue"/>
                <a:cs typeface="Helvetica Neue"/>
                <a:sym typeface="Helvetica Neue"/>
              </a:rPr>
              <a:t>Exposition</a:t>
            </a:r>
            <a:endParaRPr b="1" sz="3120">
              <a:latin typeface="Helvetica Neue"/>
              <a:ea typeface="Helvetica Neue"/>
              <a:cs typeface="Helvetica Neue"/>
              <a:sym typeface="Helvetica Neue"/>
            </a:endParaRPr>
          </a:p>
        </p:txBody>
      </p:sp>
      <p:sp>
        <p:nvSpPr>
          <p:cNvPr id="79" name="Google Shape;79;p17"/>
          <p:cNvSpPr txBox="1"/>
          <p:nvPr>
            <p:ph idx="1" type="body"/>
          </p:nvPr>
        </p:nvSpPr>
        <p:spPr>
          <a:xfrm>
            <a:off x="311700" y="1444125"/>
            <a:ext cx="8520600" cy="312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Helvetica Neue Light"/>
                <a:ea typeface="Helvetica Neue Light"/>
                <a:cs typeface="Helvetica Neue Light"/>
                <a:sym typeface="Helvetica Neue Light"/>
              </a:rPr>
              <a:t>This opening section of a story provides background information about the characters, the setting, and the basic situation. The exposition also describes the nature of key conflicts generally creating an unstable situation.</a:t>
            </a:r>
            <a:endParaRPr sz="28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BD4EB"/>
            </a:gs>
            <a:gs pos="100000">
              <a:srgbClr val="9080BB"/>
            </a:gs>
          </a:gsLst>
          <a:path path="circle">
            <a:fillToRect b="50%" l="50%" r="50%" t="50%"/>
          </a:path>
          <a:tileRect/>
        </a:gradFill>
      </p:bgPr>
    </p:bg>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320">
                <a:latin typeface="Helvetica Neue"/>
                <a:ea typeface="Helvetica Neue"/>
                <a:cs typeface="Helvetica Neue"/>
                <a:sym typeface="Helvetica Neue"/>
              </a:rPr>
              <a:t>Rising Action</a:t>
            </a:r>
            <a:endParaRPr b="1" sz="3320">
              <a:latin typeface="Helvetica Neue"/>
              <a:ea typeface="Helvetica Neue"/>
              <a:cs typeface="Helvetica Neue"/>
              <a:sym typeface="Helvetica Neue"/>
            </a:endParaRPr>
          </a:p>
        </p:txBody>
      </p:sp>
      <p:sp>
        <p:nvSpPr>
          <p:cNvPr id="85" name="Google Shape;85;p18"/>
          <p:cNvSpPr txBox="1"/>
          <p:nvPr>
            <p:ph idx="1" type="body"/>
          </p:nvPr>
        </p:nvSpPr>
        <p:spPr>
          <a:xfrm>
            <a:off x="311700" y="1444125"/>
            <a:ext cx="8520600" cy="312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solidFill>
                  <a:schemeClr val="dk1"/>
                </a:solidFill>
                <a:latin typeface="Helvetica Neue Light"/>
                <a:ea typeface="Helvetica Neue Light"/>
                <a:cs typeface="Helvetica Neue Light"/>
                <a:sym typeface="Helvetica Neue Light"/>
              </a:rPr>
              <a:t>After an inciting incident or event, the conflict and complications the main character experiences begin to build.</a:t>
            </a:r>
            <a:endParaRPr sz="33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None/>
            </a:pPr>
            <a:r>
              <a:t/>
            </a:r>
            <a:endParaRPr sz="28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D0D0"/>
            </a:gs>
            <a:gs pos="100000">
              <a:srgbClr val="D96868"/>
            </a:gs>
          </a:gsLst>
          <a:path path="circle">
            <a:fillToRect b="50%" l="50%" r="50%" t="50%"/>
          </a:path>
          <a:tileRect/>
        </a:gradFill>
      </p:bgPr>
    </p:bg>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320">
                <a:latin typeface="Helvetica Neue"/>
                <a:ea typeface="Helvetica Neue"/>
                <a:cs typeface="Helvetica Neue"/>
                <a:sym typeface="Helvetica Neue"/>
              </a:rPr>
              <a:t>Climax</a:t>
            </a:r>
            <a:endParaRPr b="1" sz="3320">
              <a:latin typeface="Helvetica Neue"/>
              <a:ea typeface="Helvetica Neue"/>
              <a:cs typeface="Helvetica Neue"/>
              <a:sym typeface="Helvetica Neue"/>
            </a:endParaRPr>
          </a:p>
        </p:txBody>
      </p:sp>
      <p:sp>
        <p:nvSpPr>
          <p:cNvPr id="91" name="Google Shape;91;p19"/>
          <p:cNvSpPr txBox="1"/>
          <p:nvPr>
            <p:ph idx="1" type="body"/>
          </p:nvPr>
        </p:nvSpPr>
        <p:spPr>
          <a:xfrm>
            <a:off x="311700" y="1444125"/>
            <a:ext cx="8520600" cy="31248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1200"/>
              </a:spcAft>
              <a:buNone/>
            </a:pPr>
            <a:r>
              <a:rPr lang="en" sz="3300">
                <a:solidFill>
                  <a:schemeClr val="dk1"/>
                </a:solidFill>
                <a:latin typeface="Helvetica Neue Light"/>
                <a:ea typeface="Helvetica Neue Light"/>
                <a:cs typeface="Helvetica Neue Light"/>
                <a:sym typeface="Helvetica Neue Light"/>
              </a:rPr>
              <a:t>The climax occurs when the emotional tension or suspense of the plot reaches its peak. It may include a </a:t>
            </a:r>
            <a:r>
              <a:rPr b="1" lang="en" sz="3300">
                <a:solidFill>
                  <a:schemeClr val="dk1"/>
                </a:solidFill>
                <a:latin typeface="Helvetica Neue"/>
                <a:ea typeface="Helvetica Neue"/>
                <a:cs typeface="Helvetica Neue"/>
                <a:sym typeface="Helvetica Neue"/>
              </a:rPr>
              <a:t>turning point</a:t>
            </a:r>
            <a:r>
              <a:rPr lang="en" sz="3300">
                <a:solidFill>
                  <a:schemeClr val="dk1"/>
                </a:solidFill>
                <a:latin typeface="Helvetica Neue Light"/>
                <a:ea typeface="Helvetica Neue Light"/>
                <a:cs typeface="Helvetica Neue Light"/>
                <a:sym typeface="Helvetica Neue Light"/>
              </a:rPr>
              <a:t> where the fortunes of the protagonist improve or worsen. Building to the climax usually occupies most of a story, and what follows is comparatively brief.</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DECDB"/>
            </a:gs>
            <a:gs pos="100000">
              <a:srgbClr val="F0AA63"/>
            </a:gs>
          </a:gsLst>
          <a:path path="circle">
            <a:fillToRect b="50%" l="50%" r="50%" t="50%"/>
          </a:path>
          <a:tileRect/>
        </a:gradFill>
      </p:bgPr>
    </p:bg>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320">
                <a:latin typeface="Helvetica Neue"/>
                <a:ea typeface="Helvetica Neue"/>
                <a:cs typeface="Helvetica Neue"/>
                <a:sym typeface="Helvetica Neue"/>
              </a:rPr>
              <a:t>Falling Action</a:t>
            </a:r>
            <a:endParaRPr b="1" sz="3320">
              <a:latin typeface="Helvetica Neue"/>
              <a:ea typeface="Helvetica Neue"/>
              <a:cs typeface="Helvetica Neue"/>
              <a:sym typeface="Helvetica Neue"/>
            </a:endParaRPr>
          </a:p>
        </p:txBody>
      </p:sp>
      <p:sp>
        <p:nvSpPr>
          <p:cNvPr id="97" name="Google Shape;97;p20"/>
          <p:cNvSpPr txBox="1"/>
          <p:nvPr>
            <p:ph idx="1" type="body"/>
          </p:nvPr>
        </p:nvSpPr>
        <p:spPr>
          <a:xfrm>
            <a:off x="311700" y="1444125"/>
            <a:ext cx="8520600" cy="312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500">
                <a:solidFill>
                  <a:schemeClr val="dk1"/>
                </a:solidFill>
                <a:latin typeface="Helvetica Neue Light"/>
                <a:ea typeface="Helvetica Neue Light"/>
                <a:cs typeface="Helvetica Neue Light"/>
                <a:sym typeface="Helvetica Neue Light"/>
              </a:rPr>
              <a:t>This section details the result (or fallout) of the climax or turning point. In this phase, conflicts often get resolved.</a:t>
            </a:r>
            <a:endParaRPr sz="35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1200"/>
              </a:spcAft>
              <a:buNone/>
            </a:pPr>
            <a:r>
              <a:t/>
            </a:r>
            <a:endParaRPr sz="3300">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6DB"/>
            </a:gs>
            <a:gs pos="100000">
              <a:srgbClr val="FAD15C"/>
            </a:gs>
          </a:gsLst>
          <a:path path="circle">
            <a:fillToRect b="50%" l="50%" r="50%" t="50%"/>
          </a:path>
          <a:tileRect/>
        </a:gradFill>
      </p:bgPr>
    </p:bg>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320">
                <a:latin typeface="Helvetica Neue"/>
                <a:ea typeface="Helvetica Neue"/>
                <a:cs typeface="Helvetica Neue"/>
                <a:sym typeface="Helvetica Neue"/>
              </a:rPr>
              <a:t>Denouement/Resolution</a:t>
            </a:r>
            <a:endParaRPr b="1" sz="3320">
              <a:latin typeface="Helvetica Neue"/>
              <a:ea typeface="Helvetica Neue"/>
              <a:cs typeface="Helvetica Neue"/>
              <a:sym typeface="Helvetica Neue"/>
            </a:endParaRPr>
          </a:p>
        </p:txBody>
      </p:sp>
      <p:sp>
        <p:nvSpPr>
          <p:cNvPr id="103" name="Google Shape;103;p21"/>
          <p:cNvSpPr txBox="1"/>
          <p:nvPr>
            <p:ph idx="1" type="body"/>
          </p:nvPr>
        </p:nvSpPr>
        <p:spPr>
          <a:xfrm>
            <a:off x="311700" y="1444125"/>
            <a:ext cx="8520600" cy="35487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None/>
            </a:pPr>
            <a:r>
              <a:rPr lang="en" sz="8649">
                <a:solidFill>
                  <a:schemeClr val="dk1"/>
                </a:solidFill>
                <a:latin typeface="Helvetica Neue Light"/>
                <a:ea typeface="Helvetica Neue Light"/>
                <a:cs typeface="Helvetica Neue Light"/>
                <a:sym typeface="Helvetica Neue Light"/>
              </a:rPr>
              <a:t>Means “untying the knot.” It’s the very end of a story, when the conflict is over and things return to balance. </a:t>
            </a:r>
            <a:endParaRPr sz="8649">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None/>
            </a:pPr>
            <a:r>
              <a:rPr lang="en" sz="8649">
                <a:solidFill>
                  <a:schemeClr val="dk1"/>
                </a:solidFill>
                <a:latin typeface="Helvetica Neue Light"/>
                <a:ea typeface="Helvetica Neue Light"/>
                <a:cs typeface="Helvetica Neue Light"/>
                <a:sym typeface="Helvetica Neue Light"/>
              </a:rPr>
              <a:t>In fairy tales, this is often just “And they lived happily ever after.” In the past, writers sometimes used this part to explain the “moral of the story.” </a:t>
            </a:r>
            <a:endParaRPr sz="8649">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None/>
            </a:pPr>
            <a:r>
              <a:rPr lang="en" sz="8649">
                <a:solidFill>
                  <a:schemeClr val="dk1"/>
                </a:solidFill>
                <a:latin typeface="Helvetica Neue Light"/>
                <a:ea typeface="Helvetica Neue Light"/>
                <a:cs typeface="Helvetica Neue Light"/>
                <a:sym typeface="Helvetica Neue Light"/>
              </a:rPr>
              <a:t>But in modern stories, writers often end without a clear moral, leaving readers to decide the meaning for themselves.</a:t>
            </a:r>
            <a:endParaRPr sz="8649">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None/>
            </a:pPr>
            <a:r>
              <a:t/>
            </a:r>
            <a:endParaRPr sz="35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None/>
            </a:pPr>
            <a:r>
              <a:t/>
            </a:r>
            <a:endParaRPr sz="35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1200"/>
              </a:spcAft>
              <a:buNone/>
            </a:pPr>
            <a:r>
              <a:t/>
            </a:r>
            <a:endParaRPr sz="3300">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t>The Story of an Hour</a:t>
            </a:r>
            <a:endParaRPr i="1"/>
          </a:p>
        </p:txBody>
      </p:sp>
      <p:pic>
        <p:nvPicPr>
          <p:cNvPr id="109" name="Google Shape;109;p22" title="Screenshot 2025-09-15 at 10.20.40 AM.png"/>
          <p:cNvPicPr preferRelativeResize="0"/>
          <p:nvPr/>
        </p:nvPicPr>
        <p:blipFill>
          <a:blip r:embed="rId3">
            <a:alphaModFix/>
          </a:blip>
          <a:stretch>
            <a:fillRect/>
          </a:stretch>
        </p:blipFill>
        <p:spPr>
          <a:xfrm>
            <a:off x="537675" y="975200"/>
            <a:ext cx="7835100" cy="3193100"/>
          </a:xfrm>
          <a:prstGeom prst="rect">
            <a:avLst/>
          </a:prstGeom>
          <a:noFill/>
          <a:ln>
            <a:noFill/>
          </a:ln>
        </p:spPr>
      </p:pic>
      <p:sp>
        <p:nvSpPr>
          <p:cNvPr id="110" name="Google Shape;110;p22"/>
          <p:cNvSpPr txBox="1"/>
          <p:nvPr/>
        </p:nvSpPr>
        <p:spPr>
          <a:xfrm>
            <a:off x="177425" y="3401950"/>
            <a:ext cx="1566900" cy="16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2"/>
                </a:solidFill>
                <a:latin typeface="Helvetica Neue Light"/>
                <a:ea typeface="Helvetica Neue Light"/>
                <a:cs typeface="Helvetica Neue Light"/>
                <a:sym typeface="Helvetica Neue Light"/>
              </a:rPr>
              <a:t>Mrs. Louise Mallard, who has a heart condition, is told by her sister Josephine and her husband’s friend Richards that Brently Mallard has died in a railroad accident.</a:t>
            </a:r>
            <a:br>
              <a:rPr lang="en" sz="800">
                <a:solidFill>
                  <a:schemeClr val="dk2"/>
                </a:solidFill>
                <a:latin typeface="Helvetica Neue Light"/>
                <a:ea typeface="Helvetica Neue Light"/>
                <a:cs typeface="Helvetica Neue Light"/>
                <a:sym typeface="Helvetica Neue Light"/>
              </a:rPr>
            </a:br>
            <a:endParaRPr sz="800">
              <a:solidFill>
                <a:schemeClr val="dk2"/>
              </a:solidFill>
              <a:latin typeface="Helvetica Neue Light"/>
              <a:ea typeface="Helvetica Neue Light"/>
              <a:cs typeface="Helvetica Neue Light"/>
              <a:sym typeface="Helvetica Neue Light"/>
            </a:endParaRPr>
          </a:p>
          <a:p>
            <a:pPr indent="0" lvl="0" marL="0" rtl="0" algn="l">
              <a:spcBef>
                <a:spcPts val="0"/>
              </a:spcBef>
              <a:spcAft>
                <a:spcPts val="0"/>
              </a:spcAft>
              <a:buClr>
                <a:schemeClr val="dk1"/>
              </a:buClr>
              <a:buSzPts val="1100"/>
              <a:buFont typeface="Arial"/>
              <a:buNone/>
            </a:pPr>
            <a:r>
              <a:rPr lang="en" sz="800">
                <a:solidFill>
                  <a:schemeClr val="dk2"/>
                </a:solidFill>
                <a:latin typeface="Helvetica Neue Light"/>
                <a:ea typeface="Helvetica Neue Light"/>
                <a:cs typeface="Helvetica Neue Light"/>
                <a:sym typeface="Helvetica Neue Light"/>
              </a:rPr>
              <a:t>We learn she is fragile but also strong, and the stage is set for her emotional journey.</a:t>
            </a:r>
            <a:endParaRPr sz="800">
              <a:solidFill>
                <a:schemeClr val="dk2"/>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800">
              <a:solidFill>
                <a:schemeClr val="dk2"/>
              </a:solidFill>
              <a:latin typeface="Helvetica Neue Light"/>
              <a:ea typeface="Helvetica Neue Light"/>
              <a:cs typeface="Helvetica Neue Light"/>
              <a:sym typeface="Helvetica Neue Light"/>
            </a:endParaRPr>
          </a:p>
        </p:txBody>
      </p:sp>
      <p:sp>
        <p:nvSpPr>
          <p:cNvPr id="111" name="Google Shape;111;p22"/>
          <p:cNvSpPr txBox="1"/>
          <p:nvPr/>
        </p:nvSpPr>
        <p:spPr>
          <a:xfrm>
            <a:off x="1991100" y="4030625"/>
            <a:ext cx="1759800" cy="99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Helvetica Neue Light"/>
                <a:ea typeface="Helvetica Neue Light"/>
                <a:cs typeface="Helvetica Neue Light"/>
                <a:sym typeface="Helvetica Neue Light"/>
              </a:rPr>
              <a:t>Louise retreats to her room alone after hearing the news, beginning her internal confrontation with grief and unexpected emotions.</a:t>
            </a:r>
            <a:endParaRPr sz="900">
              <a:solidFill>
                <a:schemeClr val="dk2"/>
              </a:solidFill>
              <a:latin typeface="Helvetica Neue Light"/>
              <a:ea typeface="Helvetica Neue Light"/>
              <a:cs typeface="Helvetica Neue Light"/>
              <a:sym typeface="Helvetica Neue Light"/>
            </a:endParaRPr>
          </a:p>
        </p:txBody>
      </p:sp>
      <p:sp>
        <p:nvSpPr>
          <p:cNvPr id="112" name="Google Shape;112;p22"/>
          <p:cNvSpPr txBox="1"/>
          <p:nvPr/>
        </p:nvSpPr>
        <p:spPr>
          <a:xfrm>
            <a:off x="769325" y="1216275"/>
            <a:ext cx="2366700" cy="126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2"/>
                </a:solidFill>
                <a:latin typeface="Helvetica Neue Light"/>
                <a:ea typeface="Helvetica Neue Light"/>
                <a:cs typeface="Helvetica Neue Light"/>
                <a:sym typeface="Helvetica Neue Light"/>
              </a:rPr>
              <a:t>Sitting by the open window, she observes signs of spring, blue skies, and hears lively sounds outside.</a:t>
            </a:r>
            <a:br>
              <a:rPr lang="en" sz="800">
                <a:solidFill>
                  <a:schemeClr val="dk2"/>
                </a:solidFill>
                <a:latin typeface="Helvetica Neue Light"/>
                <a:ea typeface="Helvetica Neue Light"/>
                <a:cs typeface="Helvetica Neue Light"/>
                <a:sym typeface="Helvetica Neue Light"/>
              </a:rPr>
            </a:br>
            <a:endParaRPr sz="800">
              <a:solidFill>
                <a:schemeClr val="dk2"/>
              </a:solidFill>
              <a:latin typeface="Helvetica Neue Light"/>
              <a:ea typeface="Helvetica Neue Light"/>
              <a:cs typeface="Helvetica Neue Light"/>
              <a:sym typeface="Helvetica Neue Light"/>
            </a:endParaRPr>
          </a:p>
          <a:p>
            <a:pPr indent="0" lvl="0" marL="0" rtl="0" algn="l">
              <a:spcBef>
                <a:spcPts val="0"/>
              </a:spcBef>
              <a:spcAft>
                <a:spcPts val="0"/>
              </a:spcAft>
              <a:buClr>
                <a:schemeClr val="dk1"/>
              </a:buClr>
              <a:buSzPts val="1100"/>
              <a:buFont typeface="Arial"/>
              <a:buNone/>
            </a:pPr>
            <a:r>
              <a:rPr lang="en" sz="800">
                <a:solidFill>
                  <a:schemeClr val="dk2"/>
                </a:solidFill>
                <a:latin typeface="Helvetica Neue Light"/>
                <a:ea typeface="Helvetica Neue Light"/>
                <a:cs typeface="Helvetica Neue Light"/>
                <a:sym typeface="Helvetica Neue Light"/>
              </a:rPr>
              <a:t>These details of setting awaken in her a new realization: her life will be free from her husband’s control.</a:t>
            </a:r>
            <a:br>
              <a:rPr lang="en" sz="800">
                <a:solidFill>
                  <a:schemeClr val="dk2"/>
                </a:solidFill>
                <a:latin typeface="Helvetica Neue Light"/>
                <a:ea typeface="Helvetica Neue Light"/>
                <a:cs typeface="Helvetica Neue Light"/>
                <a:sym typeface="Helvetica Neue Light"/>
              </a:rPr>
            </a:br>
            <a:endParaRPr sz="800">
              <a:solidFill>
                <a:schemeClr val="dk2"/>
              </a:solidFill>
              <a:latin typeface="Helvetica Neue Light"/>
              <a:ea typeface="Helvetica Neue Light"/>
              <a:cs typeface="Helvetica Neue Light"/>
              <a:sym typeface="Helvetica Neue Light"/>
            </a:endParaRPr>
          </a:p>
          <a:p>
            <a:pPr indent="0" lvl="0" marL="0" rtl="0" algn="l">
              <a:spcBef>
                <a:spcPts val="0"/>
              </a:spcBef>
              <a:spcAft>
                <a:spcPts val="0"/>
              </a:spcAft>
              <a:buClr>
                <a:schemeClr val="dk1"/>
              </a:buClr>
              <a:buSzPts val="1100"/>
              <a:buFont typeface="Arial"/>
              <a:buNone/>
            </a:pPr>
            <a:r>
              <a:rPr lang="en" sz="800">
                <a:solidFill>
                  <a:schemeClr val="dk2"/>
                </a:solidFill>
                <a:latin typeface="Helvetica Neue Light"/>
                <a:ea typeface="Helvetica Neue Light"/>
                <a:cs typeface="Helvetica Neue Light"/>
                <a:sym typeface="Helvetica Neue Light"/>
              </a:rPr>
              <a:t>She whispers “free, free, free!” as the sense of liberation grows stronger.</a:t>
            </a:r>
            <a:endParaRPr sz="800">
              <a:solidFill>
                <a:schemeClr val="dk2"/>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800">
              <a:solidFill>
                <a:schemeClr val="dk2"/>
              </a:solidFill>
              <a:latin typeface="Helvetica Neue Light"/>
              <a:ea typeface="Helvetica Neue Light"/>
              <a:cs typeface="Helvetica Neue Light"/>
              <a:sym typeface="Helvetica Neue Light"/>
            </a:endParaRPr>
          </a:p>
        </p:txBody>
      </p:sp>
      <p:sp>
        <p:nvSpPr>
          <p:cNvPr id="113" name="Google Shape;113;p22"/>
          <p:cNvSpPr txBox="1"/>
          <p:nvPr/>
        </p:nvSpPr>
        <p:spPr>
          <a:xfrm>
            <a:off x="3509600" y="2842850"/>
            <a:ext cx="2286000" cy="8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2"/>
                </a:solidFill>
                <a:latin typeface="Helvetica Neue Light"/>
                <a:ea typeface="Helvetica Neue Light"/>
                <a:cs typeface="Helvetica Neue Light"/>
                <a:sym typeface="Helvetica Neue Light"/>
              </a:rPr>
              <a:t>Louise fully embraces the idea of freedom: she imagines a long life ahead lived for herself alone.</a:t>
            </a:r>
            <a:br>
              <a:rPr lang="en" sz="800">
                <a:solidFill>
                  <a:schemeClr val="dk2"/>
                </a:solidFill>
                <a:latin typeface="Helvetica Neue Light"/>
                <a:ea typeface="Helvetica Neue Light"/>
                <a:cs typeface="Helvetica Neue Light"/>
                <a:sym typeface="Helvetica Neue Light"/>
              </a:rPr>
            </a:br>
            <a:endParaRPr sz="800">
              <a:solidFill>
                <a:schemeClr val="dk2"/>
              </a:solidFill>
              <a:latin typeface="Helvetica Neue Light"/>
              <a:ea typeface="Helvetica Neue Light"/>
              <a:cs typeface="Helvetica Neue Light"/>
              <a:sym typeface="Helvetica Neue Light"/>
            </a:endParaRPr>
          </a:p>
          <a:p>
            <a:pPr indent="0" lvl="0" marL="0" rtl="0" algn="l">
              <a:spcBef>
                <a:spcPts val="0"/>
              </a:spcBef>
              <a:spcAft>
                <a:spcPts val="0"/>
              </a:spcAft>
              <a:buClr>
                <a:schemeClr val="dk1"/>
              </a:buClr>
              <a:buSzPts val="1100"/>
              <a:buFont typeface="Arial"/>
              <a:buNone/>
            </a:pPr>
            <a:r>
              <a:rPr lang="en" sz="800">
                <a:solidFill>
                  <a:schemeClr val="dk2"/>
                </a:solidFill>
                <a:latin typeface="Helvetica Neue Light"/>
                <a:ea typeface="Helvetica Neue Light"/>
                <a:cs typeface="Helvetica Neue Light"/>
                <a:sym typeface="Helvetica Neue Light"/>
              </a:rPr>
              <a:t>She acknowledges that she sometimes loved her husband, but the recognition of self-assertion is more powerful.</a:t>
            </a:r>
            <a:endParaRPr sz="800">
              <a:solidFill>
                <a:schemeClr val="dk2"/>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800">
              <a:solidFill>
                <a:schemeClr val="dk2"/>
              </a:solidFill>
              <a:latin typeface="Helvetica Neue Light"/>
              <a:ea typeface="Helvetica Neue Light"/>
              <a:cs typeface="Helvetica Neue Light"/>
              <a:sym typeface="Helvetica Neue Light"/>
            </a:endParaRPr>
          </a:p>
        </p:txBody>
      </p:sp>
      <p:sp>
        <p:nvSpPr>
          <p:cNvPr id="114" name="Google Shape;114;p22"/>
          <p:cNvSpPr txBox="1"/>
          <p:nvPr/>
        </p:nvSpPr>
        <p:spPr>
          <a:xfrm>
            <a:off x="3318275" y="293900"/>
            <a:ext cx="2960100" cy="68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800">
                <a:solidFill>
                  <a:schemeClr val="dk2"/>
                </a:solidFill>
                <a:latin typeface="Helvetica Neue Light"/>
                <a:ea typeface="Helvetica Neue Light"/>
                <a:cs typeface="Helvetica Neue Light"/>
                <a:sym typeface="Helvetica Neue Light"/>
              </a:rPr>
              <a:t>She opens the door, triumphant, carrying herself “like a goddess of Victory.”</a:t>
            </a:r>
            <a:endParaRPr sz="800">
              <a:solidFill>
                <a:schemeClr val="dk2"/>
              </a:solidFill>
              <a:latin typeface="Helvetica Neue Light"/>
              <a:ea typeface="Helvetica Neue Light"/>
              <a:cs typeface="Helvetica Neue Light"/>
              <a:sym typeface="Helvetica Neue Light"/>
            </a:endParaRPr>
          </a:p>
          <a:p>
            <a:pPr indent="0" lvl="0" marL="0" rtl="0" algn="l">
              <a:lnSpc>
                <a:spcPct val="115000"/>
              </a:lnSpc>
              <a:spcBef>
                <a:spcPts val="1200"/>
              </a:spcBef>
              <a:spcAft>
                <a:spcPts val="0"/>
              </a:spcAft>
              <a:buNone/>
            </a:pPr>
            <a:r>
              <a:rPr lang="en" sz="800">
                <a:solidFill>
                  <a:schemeClr val="dk2"/>
                </a:solidFill>
                <a:latin typeface="Helvetica Neue Light"/>
                <a:ea typeface="Helvetica Neue Light"/>
                <a:cs typeface="Helvetica Neue Light"/>
                <a:sym typeface="Helvetica Neue Light"/>
              </a:rPr>
              <a:t>This moment of empowerment represents the peak of her emotional journey.</a:t>
            </a:r>
            <a:endParaRPr sz="800">
              <a:solidFill>
                <a:schemeClr val="dk2"/>
              </a:solidFill>
              <a:latin typeface="Helvetica Neue Light"/>
              <a:ea typeface="Helvetica Neue Light"/>
              <a:cs typeface="Helvetica Neue Light"/>
              <a:sym typeface="Helvetica Neue Light"/>
            </a:endParaRPr>
          </a:p>
          <a:p>
            <a:pPr indent="0" lvl="0" marL="0" rtl="0" algn="l">
              <a:spcBef>
                <a:spcPts val="1200"/>
              </a:spcBef>
              <a:spcAft>
                <a:spcPts val="0"/>
              </a:spcAft>
              <a:buNone/>
            </a:pPr>
            <a:r>
              <a:t/>
            </a:r>
            <a:endParaRPr sz="800">
              <a:solidFill>
                <a:schemeClr val="dk2"/>
              </a:solidFill>
              <a:latin typeface="Helvetica Neue Light"/>
              <a:ea typeface="Helvetica Neue Light"/>
              <a:cs typeface="Helvetica Neue Light"/>
              <a:sym typeface="Helvetica Neue Light"/>
            </a:endParaRPr>
          </a:p>
        </p:txBody>
      </p:sp>
      <p:sp>
        <p:nvSpPr>
          <p:cNvPr id="115" name="Google Shape;115;p22"/>
          <p:cNvSpPr txBox="1"/>
          <p:nvPr/>
        </p:nvSpPr>
        <p:spPr>
          <a:xfrm>
            <a:off x="5795600" y="1592225"/>
            <a:ext cx="2649600" cy="130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Helvetica Neue Light"/>
                <a:ea typeface="Helvetica Neue Light"/>
                <a:cs typeface="Helvetica Neue Light"/>
                <a:sym typeface="Helvetica Neue Light"/>
              </a:rPr>
              <a:t>As she descends the stairs with her sister, Brently Mallard unexpectedly returns home, alive and unaware of the reported accident.</a:t>
            </a:r>
            <a:endParaRPr sz="900">
              <a:solidFill>
                <a:schemeClr val="dk2"/>
              </a:solidFill>
              <a:latin typeface="Helvetica Neue Light"/>
              <a:ea typeface="Helvetica Neue Light"/>
              <a:cs typeface="Helvetica Neue Light"/>
              <a:sym typeface="Helvetica Neue Light"/>
            </a:endParaRPr>
          </a:p>
        </p:txBody>
      </p:sp>
      <p:sp>
        <p:nvSpPr>
          <p:cNvPr id="116" name="Google Shape;116;p22"/>
          <p:cNvSpPr txBox="1"/>
          <p:nvPr/>
        </p:nvSpPr>
        <p:spPr>
          <a:xfrm>
            <a:off x="4904825" y="3997025"/>
            <a:ext cx="2200500" cy="5727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200"/>
              </a:spcBef>
              <a:spcAft>
                <a:spcPts val="0"/>
              </a:spcAft>
              <a:buNone/>
            </a:pPr>
            <a:r>
              <a:rPr lang="en" sz="900">
                <a:solidFill>
                  <a:schemeClr val="dk2"/>
                </a:solidFill>
                <a:latin typeface="Helvetica Neue Light"/>
                <a:ea typeface="Helvetica Neue Light"/>
                <a:cs typeface="Helvetica Neue Light"/>
                <a:sym typeface="Helvetica Neue Light"/>
              </a:rPr>
              <a:t>Louise sees her husband alive, and the shock is too great. She collapses.</a:t>
            </a:r>
            <a:br>
              <a:rPr lang="en" sz="900">
                <a:solidFill>
                  <a:schemeClr val="dk2"/>
                </a:solidFill>
              </a:rPr>
            </a:br>
            <a:endParaRPr sz="900">
              <a:solidFill>
                <a:schemeClr val="dk2"/>
              </a:solidFill>
            </a:endParaRPr>
          </a:p>
          <a:p>
            <a:pPr indent="0" lvl="0" marL="0" rtl="0" algn="l">
              <a:spcBef>
                <a:spcPts val="1200"/>
              </a:spcBef>
              <a:spcAft>
                <a:spcPts val="0"/>
              </a:spcAft>
              <a:buNone/>
            </a:pPr>
            <a:r>
              <a:t/>
            </a:r>
            <a:endParaRPr sz="900">
              <a:solidFill>
                <a:schemeClr val="dk2"/>
              </a:solidFill>
            </a:endParaRPr>
          </a:p>
        </p:txBody>
      </p:sp>
      <p:sp>
        <p:nvSpPr>
          <p:cNvPr id="117" name="Google Shape;117;p22"/>
          <p:cNvSpPr txBox="1"/>
          <p:nvPr/>
        </p:nvSpPr>
        <p:spPr>
          <a:xfrm>
            <a:off x="7236800" y="3343800"/>
            <a:ext cx="1653300" cy="10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dk2"/>
                </a:solidFill>
                <a:latin typeface="Helvetica Neue Light"/>
                <a:ea typeface="Helvetica Neue Light"/>
                <a:cs typeface="Helvetica Neue Light"/>
                <a:sym typeface="Helvetica Neue Light"/>
              </a:rPr>
              <a:t>The doctors declare she died of “heart disease—of the joy that kills.”</a:t>
            </a:r>
            <a:br>
              <a:rPr lang="en" sz="900">
                <a:solidFill>
                  <a:schemeClr val="dk2"/>
                </a:solidFill>
                <a:latin typeface="Helvetica Neue Light"/>
                <a:ea typeface="Helvetica Neue Light"/>
                <a:cs typeface="Helvetica Neue Light"/>
                <a:sym typeface="Helvetica Neue Light"/>
              </a:rPr>
            </a:br>
            <a:endParaRPr sz="900">
              <a:solidFill>
                <a:schemeClr val="dk2"/>
              </a:solidFill>
              <a:latin typeface="Helvetica Neue Light"/>
              <a:ea typeface="Helvetica Neue Light"/>
              <a:cs typeface="Helvetica Neue Light"/>
              <a:sym typeface="Helvetica Neue Light"/>
            </a:endParaRPr>
          </a:p>
          <a:p>
            <a:pPr indent="0" lvl="0" marL="0" rtl="0" algn="l">
              <a:spcBef>
                <a:spcPts val="0"/>
              </a:spcBef>
              <a:spcAft>
                <a:spcPts val="0"/>
              </a:spcAft>
              <a:buClr>
                <a:schemeClr val="dk1"/>
              </a:buClr>
              <a:buSzPts val="1100"/>
              <a:buFont typeface="Arial"/>
              <a:buNone/>
            </a:pPr>
            <a:r>
              <a:rPr lang="en" sz="900">
                <a:solidFill>
                  <a:schemeClr val="dk2"/>
                </a:solidFill>
                <a:latin typeface="Helvetica Neue Light"/>
                <a:ea typeface="Helvetica Neue Light"/>
                <a:cs typeface="Helvetica Neue Light"/>
                <a:sym typeface="Helvetica Neue Light"/>
              </a:rPr>
              <a:t>The irony closes the story: society misreads her death as caused by joy, rather than despair at her lost freedom.</a:t>
            </a:r>
            <a:endParaRPr sz="900">
              <a:solidFill>
                <a:schemeClr val="dk2"/>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900">
              <a:solidFill>
                <a:schemeClr val="dk2"/>
              </a:solidFill>
              <a:latin typeface="Helvetica Neue Light"/>
              <a:ea typeface="Helvetica Neue Light"/>
              <a:cs typeface="Helvetica Neue Light"/>
              <a:sym typeface="Helvetica Neue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00FF"/>
        </a:solidFill>
      </p:bgPr>
    </p:bg>
    <p:spTree>
      <p:nvGrpSpPr>
        <p:cNvPr id="121" name="Shape 121"/>
        <p:cNvGrpSpPr/>
        <p:nvPr/>
      </p:nvGrpSpPr>
      <p:grpSpPr>
        <a:xfrm>
          <a:off x="0" y="0"/>
          <a:ext cx="0" cy="0"/>
          <a:chOff x="0" y="0"/>
          <a:chExt cx="0" cy="0"/>
        </a:xfrm>
      </p:grpSpPr>
      <p:sp>
        <p:nvSpPr>
          <p:cNvPr id="122" name="Google Shape;122;p23"/>
          <p:cNvSpPr txBox="1"/>
          <p:nvPr>
            <p:ph type="title"/>
          </p:nvPr>
        </p:nvSpPr>
        <p:spPr>
          <a:xfrm>
            <a:off x="1168950" y="348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4620">
                <a:solidFill>
                  <a:srgbClr val="F4CCCC"/>
                </a:solidFill>
                <a:latin typeface="Helvetica Neue"/>
                <a:ea typeface="Helvetica Neue"/>
                <a:cs typeface="Helvetica Neue"/>
                <a:sym typeface="Helvetica Neue"/>
              </a:rPr>
              <a:t>Fairy Tales</a:t>
            </a:r>
            <a:endParaRPr b="1" sz="4620">
              <a:solidFill>
                <a:srgbClr val="F4CCCC"/>
              </a:solidFill>
              <a:latin typeface="Helvetica Neue"/>
              <a:ea typeface="Helvetica Neue"/>
              <a:cs typeface="Helvetica Neue"/>
              <a:sym typeface="Helvetica Neue"/>
            </a:endParaRPr>
          </a:p>
        </p:txBody>
      </p:sp>
      <p:sp>
        <p:nvSpPr>
          <p:cNvPr id="123" name="Google Shape;123;p23"/>
          <p:cNvSpPr txBox="1"/>
          <p:nvPr>
            <p:ph idx="1" type="body"/>
          </p:nvPr>
        </p:nvSpPr>
        <p:spPr>
          <a:xfrm>
            <a:off x="251525" y="1293050"/>
            <a:ext cx="52008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100"/>
              <a:buFont typeface="Arial"/>
              <a:buNone/>
            </a:pPr>
            <a:r>
              <a:rPr lang="en" sz="2000">
                <a:solidFill>
                  <a:schemeClr val="lt1"/>
                </a:solidFill>
                <a:latin typeface="Helvetica Neue Light"/>
                <a:ea typeface="Helvetica Neue Light"/>
                <a:cs typeface="Helvetica Neue Light"/>
                <a:sym typeface="Helvetica Neue Light"/>
              </a:rPr>
              <a:t>Ancient stories passed down through oral tradition</a:t>
            </a:r>
            <a:br>
              <a:rPr lang="en" sz="2000">
                <a:solidFill>
                  <a:schemeClr val="lt1"/>
                </a:solidFill>
                <a:latin typeface="Helvetica Neue Light"/>
                <a:ea typeface="Helvetica Neue Light"/>
                <a:cs typeface="Helvetica Neue Light"/>
                <a:sym typeface="Helvetica Neue Light"/>
              </a:rPr>
            </a:br>
            <a:endParaRPr sz="2000">
              <a:solidFill>
                <a:schemeClr val="lt1"/>
              </a:solidFill>
              <a:latin typeface="Helvetica Neue Light"/>
              <a:ea typeface="Helvetica Neue Light"/>
              <a:cs typeface="Helvetica Neue Light"/>
              <a:sym typeface="Helvetica Neue Light"/>
            </a:endParaRPr>
          </a:p>
          <a:p>
            <a:pPr indent="0" lvl="0" marL="0" rtl="0" algn="l">
              <a:lnSpc>
                <a:spcPct val="95000"/>
              </a:lnSpc>
              <a:spcBef>
                <a:spcPts val="1200"/>
              </a:spcBef>
              <a:spcAft>
                <a:spcPts val="0"/>
              </a:spcAft>
              <a:buClr>
                <a:schemeClr val="dk1"/>
              </a:buClr>
              <a:buSzPts val="1100"/>
              <a:buFont typeface="Arial"/>
              <a:buNone/>
            </a:pPr>
            <a:r>
              <a:rPr lang="en" sz="2000">
                <a:solidFill>
                  <a:schemeClr val="lt1"/>
                </a:solidFill>
                <a:latin typeface="Helvetica Neue Light"/>
                <a:ea typeface="Helvetica Neue Light"/>
                <a:cs typeface="Helvetica Neue Light"/>
                <a:sym typeface="Helvetica Neue Light"/>
              </a:rPr>
              <a:t>Blend entertainment with morals and cultural lessons</a:t>
            </a:r>
            <a:br>
              <a:rPr lang="en" sz="2000">
                <a:solidFill>
                  <a:schemeClr val="lt1"/>
                </a:solidFill>
                <a:latin typeface="Helvetica Neue Light"/>
                <a:ea typeface="Helvetica Neue Light"/>
                <a:cs typeface="Helvetica Neue Light"/>
                <a:sym typeface="Helvetica Neue Light"/>
              </a:rPr>
            </a:br>
            <a:endParaRPr sz="2000">
              <a:solidFill>
                <a:schemeClr val="lt1"/>
              </a:solidFill>
              <a:latin typeface="Helvetica Neue Light"/>
              <a:ea typeface="Helvetica Neue Light"/>
              <a:cs typeface="Helvetica Neue Light"/>
              <a:sym typeface="Helvetica Neue Light"/>
            </a:endParaRPr>
          </a:p>
          <a:p>
            <a:pPr indent="0" lvl="0" marL="0" rtl="0" algn="l">
              <a:lnSpc>
                <a:spcPct val="95000"/>
              </a:lnSpc>
              <a:spcBef>
                <a:spcPts val="1200"/>
              </a:spcBef>
              <a:spcAft>
                <a:spcPts val="0"/>
              </a:spcAft>
              <a:buClr>
                <a:schemeClr val="dk1"/>
              </a:buClr>
              <a:buSzPts val="1100"/>
              <a:buFont typeface="Arial"/>
              <a:buNone/>
            </a:pPr>
            <a:r>
              <a:rPr lang="en" sz="2000">
                <a:solidFill>
                  <a:schemeClr val="lt1"/>
                </a:solidFill>
                <a:latin typeface="Helvetica Neue Light"/>
                <a:ea typeface="Helvetica Neue Light"/>
                <a:cs typeface="Helvetica Neue Light"/>
                <a:sym typeface="Helvetica Neue Light"/>
              </a:rPr>
              <a:t>Established classic plot patterns: beginning → conflict → climax → resolution</a:t>
            </a:r>
            <a:br>
              <a:rPr lang="en" sz="2000">
                <a:solidFill>
                  <a:schemeClr val="lt1"/>
                </a:solidFill>
                <a:latin typeface="Helvetica Neue Light"/>
                <a:ea typeface="Helvetica Neue Light"/>
                <a:cs typeface="Helvetica Neue Light"/>
                <a:sym typeface="Helvetica Neue Light"/>
              </a:rPr>
            </a:br>
            <a:endParaRPr sz="2000">
              <a:solidFill>
                <a:schemeClr val="lt1"/>
              </a:solidFill>
              <a:latin typeface="Helvetica Neue Light"/>
              <a:ea typeface="Helvetica Neue Light"/>
              <a:cs typeface="Helvetica Neue Light"/>
              <a:sym typeface="Helvetica Neue Light"/>
            </a:endParaRPr>
          </a:p>
          <a:p>
            <a:pPr indent="0" lvl="0" marL="0" rtl="0" algn="l">
              <a:lnSpc>
                <a:spcPct val="95000"/>
              </a:lnSpc>
              <a:spcBef>
                <a:spcPts val="1200"/>
              </a:spcBef>
              <a:spcAft>
                <a:spcPts val="0"/>
              </a:spcAft>
              <a:buClr>
                <a:schemeClr val="dk1"/>
              </a:buClr>
              <a:buSzPts val="1100"/>
              <a:buFont typeface="Arial"/>
              <a:buNone/>
            </a:pPr>
            <a:r>
              <a:rPr lang="en" sz="2000">
                <a:solidFill>
                  <a:schemeClr val="lt1"/>
                </a:solidFill>
                <a:latin typeface="Helvetica Neue Light"/>
                <a:ea typeface="Helvetica Neue Light"/>
                <a:cs typeface="Helvetica Neue Light"/>
                <a:sym typeface="Helvetica Neue Light"/>
              </a:rPr>
              <a:t>Still shape literature, film, and drama today</a:t>
            </a:r>
            <a:endParaRPr sz="2000">
              <a:solidFill>
                <a:schemeClr val="lt1"/>
              </a:solidFill>
              <a:latin typeface="Helvetica Neue Light"/>
              <a:ea typeface="Helvetica Neue Light"/>
              <a:cs typeface="Helvetica Neue Light"/>
              <a:sym typeface="Helvetica Neue Light"/>
            </a:endParaRPr>
          </a:p>
          <a:p>
            <a:pPr indent="0" lvl="0" marL="0" rtl="0" algn="l">
              <a:lnSpc>
                <a:spcPct val="95000"/>
              </a:lnSpc>
              <a:spcBef>
                <a:spcPts val="1200"/>
              </a:spcBef>
              <a:spcAft>
                <a:spcPts val="1200"/>
              </a:spcAft>
              <a:buNone/>
            </a:pPr>
            <a:r>
              <a:t/>
            </a:r>
            <a:endParaRPr sz="2000">
              <a:solidFill>
                <a:schemeClr val="lt1"/>
              </a:solidFill>
            </a:endParaRPr>
          </a:p>
        </p:txBody>
      </p:sp>
      <p:pic>
        <p:nvPicPr>
          <p:cNvPr descr="The Fairy Tales of the Brothers Grimm': 130 Years of Illustrations - The  Atlantic" id="124" name="Google Shape;124;p23"/>
          <p:cNvPicPr preferRelativeResize="0"/>
          <p:nvPr/>
        </p:nvPicPr>
        <p:blipFill>
          <a:blip r:embed="rId3">
            <a:alphaModFix/>
          </a:blip>
          <a:stretch>
            <a:fillRect/>
          </a:stretch>
        </p:blipFill>
        <p:spPr>
          <a:xfrm>
            <a:off x="5452325" y="531725"/>
            <a:ext cx="3379975" cy="4177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FF"/>
        </a:solidFill>
      </p:bgPr>
    </p:bg>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i="1" lang="en" sz="3500">
                <a:solidFill>
                  <a:srgbClr val="00FFFF"/>
                </a:solidFill>
                <a:latin typeface="Helvetica Neue"/>
                <a:ea typeface="Helvetica Neue"/>
                <a:cs typeface="Helvetica Neue"/>
                <a:sym typeface="Helvetica Neue"/>
              </a:rPr>
              <a:t>Snow White</a:t>
            </a:r>
            <a:r>
              <a:rPr b="1" lang="en" sz="3500">
                <a:solidFill>
                  <a:srgbClr val="00FFFF"/>
                </a:solidFill>
                <a:latin typeface="Helvetica Neue"/>
                <a:ea typeface="Helvetica Neue"/>
                <a:cs typeface="Helvetica Neue"/>
                <a:sym typeface="Helvetica Neue"/>
              </a:rPr>
              <a:t> (Grimm’s Version)</a:t>
            </a:r>
            <a:endParaRPr b="1" sz="5200">
              <a:solidFill>
                <a:srgbClr val="00FFFF"/>
              </a:solidFill>
              <a:latin typeface="Helvetica Neue"/>
              <a:ea typeface="Helvetica Neue"/>
              <a:cs typeface="Helvetica Neue"/>
              <a:sym typeface="Helvetica Neue"/>
            </a:endParaRPr>
          </a:p>
        </p:txBody>
      </p:sp>
      <p:sp>
        <p:nvSpPr>
          <p:cNvPr id="130" name="Google Shape;130;p24"/>
          <p:cNvSpPr txBox="1"/>
          <p:nvPr>
            <p:ph idx="1" type="body"/>
          </p:nvPr>
        </p:nvSpPr>
        <p:spPr>
          <a:xfrm>
            <a:off x="311700" y="1152475"/>
            <a:ext cx="4942500" cy="3416400"/>
          </a:xfrm>
          <a:prstGeom prst="rect">
            <a:avLst/>
          </a:prstGeom>
        </p:spPr>
        <p:txBody>
          <a:bodyPr anchorCtr="0" anchor="t" bIns="91425" lIns="91425" spcFirstLastPara="1" rIns="91425" wrap="square" tIns="91425">
            <a:noAutofit/>
          </a:bodyPr>
          <a:lstStyle/>
          <a:p>
            <a:pPr indent="-348933" lvl="0" marL="457200" rtl="0" algn="l">
              <a:lnSpc>
                <a:spcPct val="105000"/>
              </a:lnSpc>
              <a:spcBef>
                <a:spcPts val="0"/>
              </a:spcBef>
              <a:spcAft>
                <a:spcPts val="0"/>
              </a:spcAft>
              <a:buClr>
                <a:schemeClr val="lt1"/>
              </a:buClr>
              <a:buSzPts val="1895"/>
              <a:buFont typeface="Helvetica Neue Light"/>
              <a:buChar char="●"/>
            </a:pPr>
            <a:r>
              <a:rPr lang="en" sz="1895">
                <a:solidFill>
                  <a:schemeClr val="lt1"/>
                </a:solidFill>
                <a:latin typeface="Helvetica Neue Light"/>
                <a:ea typeface="Helvetica Neue Light"/>
                <a:cs typeface="Helvetica Neue Light"/>
                <a:sym typeface="Helvetica Neue Light"/>
              </a:rPr>
              <a:t>Collected by Brothers Grimm in 19th century</a:t>
            </a:r>
            <a:endParaRPr sz="1895">
              <a:solidFill>
                <a:schemeClr val="lt1"/>
              </a:solidFill>
              <a:latin typeface="Helvetica Neue Light"/>
              <a:ea typeface="Helvetica Neue Light"/>
              <a:cs typeface="Helvetica Neue Light"/>
              <a:sym typeface="Helvetica Neue Light"/>
            </a:endParaRPr>
          </a:p>
          <a:p>
            <a:pPr indent="-348933" lvl="0" marL="457200" rtl="0" algn="l">
              <a:lnSpc>
                <a:spcPct val="105000"/>
              </a:lnSpc>
              <a:spcBef>
                <a:spcPts val="0"/>
              </a:spcBef>
              <a:spcAft>
                <a:spcPts val="0"/>
              </a:spcAft>
              <a:buClr>
                <a:schemeClr val="lt1"/>
              </a:buClr>
              <a:buSzPts val="1895"/>
              <a:buFont typeface="Helvetica Neue Light"/>
              <a:buChar char="●"/>
            </a:pPr>
            <a:r>
              <a:rPr lang="en" sz="1895">
                <a:solidFill>
                  <a:schemeClr val="lt1"/>
                </a:solidFill>
                <a:latin typeface="Helvetica Neue Light"/>
                <a:ea typeface="Helvetica Neue Light"/>
                <a:cs typeface="Helvetica Neue Light"/>
                <a:sym typeface="Helvetica Neue Light"/>
              </a:rPr>
              <a:t>Snow White escapes her jealous stepmother, the Queen</a:t>
            </a:r>
            <a:endParaRPr sz="1895">
              <a:solidFill>
                <a:schemeClr val="lt1"/>
              </a:solidFill>
              <a:latin typeface="Helvetica Neue Light"/>
              <a:ea typeface="Helvetica Neue Light"/>
              <a:cs typeface="Helvetica Neue Light"/>
              <a:sym typeface="Helvetica Neue Light"/>
            </a:endParaRPr>
          </a:p>
          <a:p>
            <a:pPr indent="-348933" lvl="0" marL="457200" rtl="0" algn="l">
              <a:lnSpc>
                <a:spcPct val="105000"/>
              </a:lnSpc>
              <a:spcBef>
                <a:spcPts val="0"/>
              </a:spcBef>
              <a:spcAft>
                <a:spcPts val="0"/>
              </a:spcAft>
              <a:buClr>
                <a:schemeClr val="lt1"/>
              </a:buClr>
              <a:buSzPts val="1895"/>
              <a:buFont typeface="Helvetica Neue Light"/>
              <a:buChar char="●"/>
            </a:pPr>
            <a:r>
              <a:rPr lang="en" sz="1895">
                <a:solidFill>
                  <a:schemeClr val="lt1"/>
                </a:solidFill>
                <a:latin typeface="Helvetica Neue Light"/>
                <a:ea typeface="Helvetica Neue Light"/>
                <a:cs typeface="Helvetica Neue Light"/>
                <a:sym typeface="Helvetica Neue Light"/>
              </a:rPr>
              <a:t>Lives with seven dwarfs; Queen tries to kill her three times</a:t>
            </a:r>
            <a:endParaRPr sz="1895">
              <a:solidFill>
                <a:schemeClr val="lt1"/>
              </a:solidFill>
              <a:latin typeface="Helvetica Neue Light"/>
              <a:ea typeface="Helvetica Neue Light"/>
              <a:cs typeface="Helvetica Neue Light"/>
              <a:sym typeface="Helvetica Neue Light"/>
            </a:endParaRPr>
          </a:p>
          <a:p>
            <a:pPr indent="-348933" lvl="0" marL="457200" rtl="0" algn="l">
              <a:lnSpc>
                <a:spcPct val="105000"/>
              </a:lnSpc>
              <a:spcBef>
                <a:spcPts val="0"/>
              </a:spcBef>
              <a:spcAft>
                <a:spcPts val="0"/>
              </a:spcAft>
              <a:buClr>
                <a:schemeClr val="lt1"/>
              </a:buClr>
              <a:buSzPts val="1895"/>
              <a:buFont typeface="Helvetica Neue Light"/>
              <a:buChar char="●"/>
            </a:pPr>
            <a:r>
              <a:rPr lang="en" sz="1895">
                <a:solidFill>
                  <a:schemeClr val="lt1"/>
                </a:solidFill>
                <a:latin typeface="Helvetica Neue Light"/>
                <a:ea typeface="Helvetica Neue Light"/>
                <a:cs typeface="Helvetica Neue Light"/>
                <a:sym typeface="Helvetica Neue Light"/>
              </a:rPr>
              <a:t>Poisoned apple puts her in a deathlike sleep</a:t>
            </a:r>
            <a:endParaRPr sz="1895">
              <a:solidFill>
                <a:schemeClr val="lt1"/>
              </a:solidFill>
              <a:latin typeface="Helvetica Neue Light"/>
              <a:ea typeface="Helvetica Neue Light"/>
              <a:cs typeface="Helvetica Neue Light"/>
              <a:sym typeface="Helvetica Neue Light"/>
            </a:endParaRPr>
          </a:p>
          <a:p>
            <a:pPr indent="-348933" lvl="0" marL="457200" rtl="0" algn="l">
              <a:lnSpc>
                <a:spcPct val="105000"/>
              </a:lnSpc>
              <a:spcBef>
                <a:spcPts val="0"/>
              </a:spcBef>
              <a:spcAft>
                <a:spcPts val="0"/>
              </a:spcAft>
              <a:buClr>
                <a:schemeClr val="lt1"/>
              </a:buClr>
              <a:buSzPts val="1895"/>
              <a:buFont typeface="Helvetica Neue Light"/>
              <a:buChar char="●"/>
            </a:pPr>
            <a:r>
              <a:rPr lang="en" sz="1895">
                <a:solidFill>
                  <a:schemeClr val="lt1"/>
                </a:solidFill>
                <a:latin typeface="Helvetica Neue Light"/>
                <a:ea typeface="Helvetica Neue Light"/>
                <a:cs typeface="Helvetica Neue Light"/>
                <a:sym typeface="Helvetica Neue Light"/>
              </a:rPr>
              <a:t>Prince awakens her; Queen is punished</a:t>
            </a:r>
            <a:endParaRPr sz="1895">
              <a:solidFill>
                <a:schemeClr val="lt1"/>
              </a:solidFill>
              <a:latin typeface="Helvetica Neue Light"/>
              <a:ea typeface="Helvetica Neue Light"/>
              <a:cs typeface="Helvetica Neue Light"/>
              <a:sym typeface="Helvetica Neue Light"/>
            </a:endParaRPr>
          </a:p>
          <a:p>
            <a:pPr indent="-348933" lvl="0" marL="457200" rtl="0" algn="l">
              <a:lnSpc>
                <a:spcPct val="105000"/>
              </a:lnSpc>
              <a:spcBef>
                <a:spcPts val="0"/>
              </a:spcBef>
              <a:spcAft>
                <a:spcPts val="0"/>
              </a:spcAft>
              <a:buClr>
                <a:schemeClr val="lt1"/>
              </a:buClr>
              <a:buSzPts val="1895"/>
              <a:buFont typeface="Helvetica Neue Light"/>
              <a:buChar char="●"/>
            </a:pPr>
            <a:r>
              <a:rPr lang="en" sz="1895">
                <a:solidFill>
                  <a:schemeClr val="lt1"/>
                </a:solidFill>
                <a:latin typeface="Helvetica Neue Light"/>
                <a:ea typeface="Helvetica Neue Light"/>
                <a:cs typeface="Helvetica Neue Light"/>
                <a:sym typeface="Helvetica Neue Light"/>
              </a:rPr>
              <a:t>Themes: jealousy, innocence, deception, justice</a:t>
            </a:r>
            <a:endParaRPr sz="1895">
              <a:solidFill>
                <a:schemeClr val="lt1"/>
              </a:solidFill>
              <a:latin typeface="Helvetica Neue Light"/>
              <a:ea typeface="Helvetica Neue Light"/>
              <a:cs typeface="Helvetica Neue Light"/>
              <a:sym typeface="Helvetica Neue Light"/>
            </a:endParaRPr>
          </a:p>
        </p:txBody>
      </p:sp>
      <p:pic>
        <p:nvPicPr>
          <p:cNvPr descr="Everything We Know About The Disney Live-Action 'Snow White' Remake" id="131" name="Google Shape;131;p24"/>
          <p:cNvPicPr preferRelativeResize="0"/>
          <p:nvPr/>
        </p:nvPicPr>
        <p:blipFill>
          <a:blip r:embed="rId3">
            <a:alphaModFix/>
          </a:blip>
          <a:stretch>
            <a:fillRect/>
          </a:stretch>
        </p:blipFill>
        <p:spPr>
          <a:xfrm>
            <a:off x="5447675" y="1293200"/>
            <a:ext cx="3275675" cy="3275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9900"/>
        </a:solidFill>
      </p:bgPr>
    </p:bg>
    <p:spTree>
      <p:nvGrpSpPr>
        <p:cNvPr id="135" name="Shape 135"/>
        <p:cNvGrpSpPr/>
        <p:nvPr/>
      </p:nvGrpSpPr>
      <p:grpSpPr>
        <a:xfrm>
          <a:off x="0" y="0"/>
          <a:ext cx="0" cy="0"/>
          <a:chOff x="0" y="0"/>
          <a:chExt cx="0" cy="0"/>
        </a:xfrm>
      </p:grpSpPr>
      <p:sp>
        <p:nvSpPr>
          <p:cNvPr id="136" name="Google Shape;13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900"/>
              </a:spcBef>
              <a:spcAft>
                <a:spcPts val="0"/>
              </a:spcAft>
              <a:buClr>
                <a:schemeClr val="dk1"/>
              </a:buClr>
              <a:buSzPct val="54396"/>
              <a:buFont typeface="Arial"/>
              <a:buNone/>
            </a:pPr>
            <a:r>
              <a:rPr b="1" i="1" lang="en" sz="2022">
                <a:solidFill>
                  <a:srgbClr val="FF0000"/>
                </a:solidFill>
                <a:latin typeface="Helvetica Neue"/>
                <a:ea typeface="Helvetica Neue"/>
                <a:cs typeface="Helvetica Neue"/>
                <a:sym typeface="Helvetica Neue"/>
              </a:rPr>
              <a:t>Verbal Irony: The literary example: Julius Caesar, Mark Antony on Brutus.</a:t>
            </a:r>
            <a:endParaRPr b="1" i="1" sz="2022">
              <a:solidFill>
                <a:srgbClr val="FF0000"/>
              </a:solidFill>
              <a:latin typeface="Helvetica Neue"/>
              <a:ea typeface="Helvetica Neue"/>
              <a:cs typeface="Helvetica Neue"/>
              <a:sym typeface="Helvetica Neue"/>
            </a:endParaRPr>
          </a:p>
          <a:p>
            <a:pPr indent="0" lvl="0" marL="0" rtl="0" algn="l">
              <a:lnSpc>
                <a:spcPct val="115000"/>
              </a:lnSpc>
              <a:spcBef>
                <a:spcPts val="900"/>
              </a:spcBef>
              <a:spcAft>
                <a:spcPts val="900"/>
              </a:spcAft>
              <a:buClr>
                <a:schemeClr val="dk1"/>
              </a:buClr>
              <a:buSzPct val="39286"/>
              <a:buFont typeface="Arial"/>
              <a:buNone/>
            </a:pPr>
            <a:r>
              <a:t/>
            </a:r>
            <a:endParaRPr/>
          </a:p>
        </p:txBody>
      </p:sp>
      <p:sp>
        <p:nvSpPr>
          <p:cNvPr id="137" name="Google Shape;137;p25"/>
          <p:cNvSpPr txBox="1"/>
          <p:nvPr>
            <p:ph idx="1" type="body"/>
          </p:nvPr>
        </p:nvSpPr>
        <p:spPr>
          <a:xfrm>
            <a:off x="311700" y="862575"/>
            <a:ext cx="4260300" cy="7358700"/>
          </a:xfrm>
          <a:prstGeom prst="rect">
            <a:avLst/>
          </a:prstGeom>
        </p:spPr>
        <p:txBody>
          <a:bodyPr anchorCtr="0" anchor="t" bIns="91425" lIns="91425" spcFirstLastPara="1" rIns="91425" wrap="square" tIns="91425">
            <a:noAutofit/>
          </a:bodyPr>
          <a:lstStyle/>
          <a:p>
            <a:pPr indent="0" lvl="0" marL="0" rtl="0" algn="l">
              <a:spcBef>
                <a:spcPts val="900"/>
              </a:spcBef>
              <a:spcAft>
                <a:spcPts val="0"/>
              </a:spcAft>
              <a:buNone/>
            </a:pPr>
            <a:r>
              <a:rPr lang="en" sz="1100">
                <a:solidFill>
                  <a:schemeClr val="dk1"/>
                </a:solidFill>
              </a:rPr>
              <a:t>Antony speaks over Caesar's body, to a crowd, immediately after Brutus has helped kill him. </a:t>
            </a:r>
            <a:endParaRPr sz="1100">
              <a:solidFill>
                <a:schemeClr val="dk1"/>
              </a:solidFill>
            </a:endParaRPr>
          </a:p>
          <a:p>
            <a:pPr indent="0" lvl="0" marL="0" rtl="0" algn="l">
              <a:spcBef>
                <a:spcPts val="900"/>
              </a:spcBef>
              <a:spcAft>
                <a:spcPts val="0"/>
              </a:spcAft>
              <a:buNone/>
            </a:pPr>
            <a:r>
              <a:rPr b="1" lang="en" sz="1100">
                <a:solidFill>
                  <a:schemeClr val="dk1"/>
                </a:solidFill>
              </a:rPr>
              <a:t>Mark Antony</a:t>
            </a:r>
            <a:endParaRPr b="1" sz="1100">
              <a:solidFill>
                <a:schemeClr val="dk1"/>
              </a:solidFill>
            </a:endParaRPr>
          </a:p>
          <a:p>
            <a:pPr indent="0" lvl="0" marL="381000" marR="381000" rtl="0" algn="l">
              <a:spcBef>
                <a:spcPts val="900"/>
              </a:spcBef>
              <a:spcAft>
                <a:spcPts val="0"/>
              </a:spcAft>
              <a:buNone/>
            </a:pPr>
            <a:r>
              <a:rPr lang="en" sz="1100">
                <a:solidFill>
                  <a:schemeClr val="dk1"/>
                </a:solidFill>
              </a:rPr>
              <a:t>Friends, Romans, countrymen, lend me your ears;</a:t>
            </a:r>
            <a:br>
              <a:rPr lang="en" sz="1100">
                <a:solidFill>
                  <a:schemeClr val="dk1"/>
                </a:solidFill>
              </a:rPr>
            </a:br>
            <a:r>
              <a:rPr lang="en" sz="1100">
                <a:solidFill>
                  <a:schemeClr val="dk1"/>
                </a:solidFill>
              </a:rPr>
              <a:t> I come to bury Caesar, not to praise him.</a:t>
            </a:r>
            <a:br>
              <a:rPr lang="en" sz="1100">
                <a:solidFill>
                  <a:schemeClr val="dk1"/>
                </a:solidFill>
              </a:rPr>
            </a:br>
            <a:r>
              <a:rPr lang="en" sz="1100">
                <a:solidFill>
                  <a:schemeClr val="dk1"/>
                </a:solidFill>
              </a:rPr>
              <a:t> The evil that men do lives after them;</a:t>
            </a:r>
            <a:br>
              <a:rPr lang="en" sz="1100">
                <a:solidFill>
                  <a:schemeClr val="dk1"/>
                </a:solidFill>
              </a:rPr>
            </a:br>
            <a:r>
              <a:rPr lang="en" sz="1100">
                <a:solidFill>
                  <a:schemeClr val="dk1"/>
                </a:solidFill>
              </a:rPr>
              <a:t> The good is oft interrèd with their bones;</a:t>
            </a:r>
            <a:br>
              <a:rPr lang="en" sz="1100">
                <a:solidFill>
                  <a:schemeClr val="dk1"/>
                </a:solidFill>
              </a:rPr>
            </a:br>
            <a:r>
              <a:rPr lang="en" sz="1100">
                <a:solidFill>
                  <a:schemeClr val="dk1"/>
                </a:solidFill>
              </a:rPr>
              <a:t> So let it be with Caesar. The noble Brutus</a:t>
            </a:r>
            <a:br>
              <a:rPr lang="en" sz="1100">
                <a:solidFill>
                  <a:schemeClr val="dk1"/>
                </a:solidFill>
              </a:rPr>
            </a:br>
            <a:r>
              <a:rPr lang="en" sz="1100">
                <a:solidFill>
                  <a:schemeClr val="dk1"/>
                </a:solidFill>
              </a:rPr>
              <a:t> Hath told you Caesar was ambitious:</a:t>
            </a:r>
            <a:br>
              <a:rPr lang="en" sz="1100">
                <a:solidFill>
                  <a:schemeClr val="dk1"/>
                </a:solidFill>
              </a:rPr>
            </a:br>
            <a:r>
              <a:rPr lang="en" sz="1100">
                <a:solidFill>
                  <a:schemeClr val="dk1"/>
                </a:solidFill>
              </a:rPr>
              <a:t> If it were so, it was a grievous fault,</a:t>
            </a:r>
            <a:br>
              <a:rPr lang="en" sz="1100">
                <a:solidFill>
                  <a:schemeClr val="dk1"/>
                </a:solidFill>
              </a:rPr>
            </a:br>
            <a:r>
              <a:rPr lang="en" sz="1100">
                <a:solidFill>
                  <a:schemeClr val="dk1"/>
                </a:solidFill>
              </a:rPr>
              <a:t> And grievously hath Caesar answer'd it.</a:t>
            </a:r>
            <a:br>
              <a:rPr lang="en" sz="1100">
                <a:solidFill>
                  <a:schemeClr val="dk1"/>
                </a:solidFill>
              </a:rPr>
            </a:br>
            <a:r>
              <a:rPr lang="en" sz="1100">
                <a:solidFill>
                  <a:schemeClr val="dk1"/>
                </a:solidFill>
              </a:rPr>
              <a:t> Here, under leave of Brutus and the rest—</a:t>
            </a:r>
            <a:br>
              <a:rPr lang="en" sz="1100">
                <a:solidFill>
                  <a:schemeClr val="dk1"/>
                </a:solidFill>
              </a:rPr>
            </a:br>
            <a:r>
              <a:rPr lang="en" sz="1100">
                <a:solidFill>
                  <a:schemeClr val="dk1"/>
                </a:solidFill>
              </a:rPr>
              <a:t> For Brutus is an honourable man;</a:t>
            </a:r>
            <a:br>
              <a:rPr lang="en" sz="1100">
                <a:solidFill>
                  <a:schemeClr val="dk1"/>
                </a:solidFill>
              </a:rPr>
            </a:br>
            <a:r>
              <a:rPr lang="en" sz="1100">
                <a:solidFill>
                  <a:schemeClr val="dk1"/>
                </a:solidFill>
              </a:rPr>
              <a:t> So are they all, all honourable men—</a:t>
            </a:r>
            <a:br>
              <a:rPr lang="en" sz="1100">
                <a:solidFill>
                  <a:schemeClr val="dk1"/>
                </a:solidFill>
              </a:rPr>
            </a:br>
            <a:r>
              <a:rPr lang="en" sz="1100">
                <a:solidFill>
                  <a:schemeClr val="dk1"/>
                </a:solidFill>
              </a:rPr>
              <a:t> Come I to speak in Caesar's funeral.</a:t>
            </a:r>
            <a:br>
              <a:rPr lang="en" sz="1100">
                <a:solidFill>
                  <a:schemeClr val="dk1"/>
                </a:solidFill>
              </a:rPr>
            </a:br>
            <a:r>
              <a:rPr lang="en" sz="1100">
                <a:solidFill>
                  <a:schemeClr val="dk1"/>
                </a:solidFill>
              </a:rPr>
              <a:t> He was my friend, faithful and just to me:</a:t>
            </a:r>
            <a:br>
              <a:rPr lang="en" sz="1100">
                <a:solidFill>
                  <a:schemeClr val="dk1"/>
                </a:solidFill>
              </a:rPr>
            </a:br>
            <a:r>
              <a:rPr lang="en" sz="1100">
                <a:solidFill>
                  <a:schemeClr val="dk1"/>
                </a:solidFill>
              </a:rPr>
              <a:t> But Brutus says he was ambitious;</a:t>
            </a:r>
            <a:br>
              <a:rPr lang="en" sz="1100">
                <a:solidFill>
                  <a:schemeClr val="dk1"/>
                </a:solidFill>
              </a:rPr>
            </a:br>
            <a:r>
              <a:rPr lang="en" sz="1100">
                <a:solidFill>
                  <a:schemeClr val="dk1"/>
                </a:solidFill>
              </a:rPr>
              <a:t> And Brutus is an honourable man.</a:t>
            </a:r>
            <a:br>
              <a:rPr lang="en" sz="1100">
                <a:solidFill>
                  <a:schemeClr val="dk1"/>
                </a:solidFill>
              </a:rPr>
            </a:br>
            <a:r>
              <a:rPr lang="en" sz="1100">
                <a:solidFill>
                  <a:schemeClr val="dk1"/>
                </a:solidFill>
              </a:rPr>
              <a:t> He hath brought many captives home to Rome</a:t>
            </a:r>
            <a:br>
              <a:rPr lang="en" sz="1100">
                <a:solidFill>
                  <a:schemeClr val="dk1"/>
                </a:solidFill>
              </a:rPr>
            </a:br>
            <a:r>
              <a:rPr lang="en" sz="1100">
                <a:solidFill>
                  <a:schemeClr val="dk1"/>
                </a:solidFill>
              </a:rPr>
              <a:t> Whose ransoms did the general coffers fill:</a:t>
            </a:r>
            <a:br>
              <a:rPr lang="en" sz="928">
                <a:solidFill>
                  <a:schemeClr val="dk1"/>
                </a:solidFill>
              </a:rPr>
            </a:br>
            <a:endParaRPr sz="928">
              <a:solidFill>
                <a:schemeClr val="dk1"/>
              </a:solidFill>
            </a:endParaRPr>
          </a:p>
          <a:p>
            <a:pPr indent="0" lvl="0" marL="0" rtl="0" algn="l">
              <a:spcBef>
                <a:spcPts val="900"/>
              </a:spcBef>
              <a:spcAft>
                <a:spcPts val="0"/>
              </a:spcAft>
              <a:buNone/>
            </a:pPr>
            <a:r>
              <a:t/>
            </a:r>
            <a:endParaRPr>
              <a:solidFill>
                <a:schemeClr val="dk1"/>
              </a:solidFill>
            </a:endParaRPr>
          </a:p>
          <a:p>
            <a:pPr indent="0" lvl="0" marL="0" rtl="0" algn="l">
              <a:spcBef>
                <a:spcPts val="900"/>
              </a:spcBef>
              <a:spcAft>
                <a:spcPts val="0"/>
              </a:spcAft>
              <a:buNone/>
            </a:pPr>
            <a:r>
              <a:t/>
            </a:r>
            <a:endParaRPr>
              <a:solidFill>
                <a:schemeClr val="dk1"/>
              </a:solidFill>
            </a:endParaRPr>
          </a:p>
          <a:p>
            <a:pPr indent="0" lvl="0" marL="0" rtl="0" algn="l">
              <a:spcBef>
                <a:spcPts val="900"/>
              </a:spcBef>
              <a:spcAft>
                <a:spcPts val="900"/>
              </a:spcAft>
              <a:buClr>
                <a:schemeClr val="dk1"/>
              </a:buClr>
              <a:buSzPts val="1100"/>
              <a:buFont typeface="Arial"/>
              <a:buNone/>
            </a:pPr>
            <a:r>
              <a:t/>
            </a:r>
            <a:endParaRPr>
              <a:solidFill>
                <a:schemeClr val="dk1"/>
              </a:solidFill>
            </a:endParaRPr>
          </a:p>
        </p:txBody>
      </p:sp>
      <p:sp>
        <p:nvSpPr>
          <p:cNvPr id="138" name="Google Shape;138;p25"/>
          <p:cNvSpPr txBox="1"/>
          <p:nvPr/>
        </p:nvSpPr>
        <p:spPr>
          <a:xfrm>
            <a:off x="4685600" y="915825"/>
            <a:ext cx="4146600" cy="4078500"/>
          </a:xfrm>
          <a:prstGeom prst="rect">
            <a:avLst/>
          </a:prstGeom>
          <a:noFill/>
          <a:ln>
            <a:noFill/>
          </a:ln>
        </p:spPr>
        <p:txBody>
          <a:bodyPr anchorCtr="0" anchor="t" bIns="91425" lIns="91425" spcFirstLastPara="1" rIns="91425" wrap="square" tIns="91425">
            <a:noAutofit/>
          </a:bodyPr>
          <a:lstStyle/>
          <a:p>
            <a:pPr indent="0" lvl="0" marL="381000" marR="381000" rtl="0" algn="l">
              <a:lnSpc>
                <a:spcPct val="115000"/>
              </a:lnSpc>
              <a:spcBef>
                <a:spcPts val="900"/>
              </a:spcBef>
              <a:spcAft>
                <a:spcPts val="900"/>
              </a:spcAft>
              <a:buClr>
                <a:schemeClr val="dk1"/>
              </a:buClr>
              <a:buSzPts val="1100"/>
              <a:buFont typeface="Arial"/>
              <a:buNone/>
            </a:pPr>
            <a:r>
              <a:rPr lang="en" sz="1800">
                <a:solidFill>
                  <a:schemeClr val="dk1"/>
                </a:solidFill>
              </a:rPr>
              <a:t> </a:t>
            </a:r>
            <a:r>
              <a:rPr lang="en" sz="1200">
                <a:solidFill>
                  <a:schemeClr val="dk1"/>
                </a:solidFill>
              </a:rPr>
              <a:t>Did this in Caesar seem ambitious?</a:t>
            </a:r>
            <a:br>
              <a:rPr lang="en" sz="1200">
                <a:solidFill>
                  <a:schemeClr val="dk1"/>
                </a:solidFill>
              </a:rPr>
            </a:br>
            <a:r>
              <a:rPr lang="en" sz="1200">
                <a:solidFill>
                  <a:schemeClr val="dk1"/>
                </a:solidFill>
              </a:rPr>
              <a:t> When that the poor have cried, Caesar hath wept:</a:t>
            </a:r>
            <a:br>
              <a:rPr lang="en" sz="1200">
                <a:solidFill>
                  <a:schemeClr val="dk1"/>
                </a:solidFill>
              </a:rPr>
            </a:br>
            <a:r>
              <a:rPr lang="en" sz="1200">
                <a:solidFill>
                  <a:schemeClr val="dk1"/>
                </a:solidFill>
              </a:rPr>
              <a:t> Ambition should be made of sterner stuff:</a:t>
            </a:r>
            <a:br>
              <a:rPr lang="en" sz="1200">
                <a:solidFill>
                  <a:schemeClr val="dk1"/>
                </a:solidFill>
              </a:rPr>
            </a:br>
            <a:r>
              <a:rPr lang="en" sz="1200">
                <a:solidFill>
                  <a:schemeClr val="dk1"/>
                </a:solidFill>
              </a:rPr>
              <a:t> Yet Brutus says he was ambitious;</a:t>
            </a:r>
            <a:br>
              <a:rPr lang="en" sz="1200">
                <a:solidFill>
                  <a:schemeClr val="dk1"/>
                </a:solidFill>
              </a:rPr>
            </a:br>
            <a:r>
              <a:rPr lang="en" sz="1200">
                <a:solidFill>
                  <a:schemeClr val="dk1"/>
                </a:solidFill>
              </a:rPr>
              <a:t> And Brutus is an honourable man.</a:t>
            </a:r>
            <a:br>
              <a:rPr lang="en" sz="1200">
                <a:solidFill>
                  <a:schemeClr val="dk1"/>
                </a:solidFill>
              </a:rPr>
            </a:br>
            <a:r>
              <a:rPr lang="en" sz="1200">
                <a:solidFill>
                  <a:schemeClr val="dk1"/>
                </a:solidFill>
              </a:rPr>
              <a:t> You all did see that on the Lupercal</a:t>
            </a:r>
            <a:br>
              <a:rPr lang="en" sz="1200">
                <a:solidFill>
                  <a:schemeClr val="dk1"/>
                </a:solidFill>
              </a:rPr>
            </a:br>
            <a:r>
              <a:rPr lang="en" sz="1200">
                <a:solidFill>
                  <a:schemeClr val="dk1"/>
                </a:solidFill>
              </a:rPr>
              <a:t> I thrice presented him a kingly crown,</a:t>
            </a:r>
            <a:br>
              <a:rPr lang="en" sz="1200">
                <a:solidFill>
                  <a:schemeClr val="dk1"/>
                </a:solidFill>
              </a:rPr>
            </a:br>
            <a:r>
              <a:rPr lang="en" sz="1200">
                <a:solidFill>
                  <a:schemeClr val="dk1"/>
                </a:solidFill>
              </a:rPr>
              <a:t> Which he did thrice refuse: was this ambition?</a:t>
            </a:r>
            <a:br>
              <a:rPr lang="en" sz="1200">
                <a:solidFill>
                  <a:schemeClr val="dk1"/>
                </a:solidFill>
              </a:rPr>
            </a:br>
            <a:r>
              <a:rPr lang="en" sz="1200">
                <a:solidFill>
                  <a:schemeClr val="dk1"/>
                </a:solidFill>
              </a:rPr>
              <a:t> Yet Brutus says he was ambitious;</a:t>
            </a:r>
            <a:br>
              <a:rPr lang="en" sz="1200">
                <a:solidFill>
                  <a:schemeClr val="dk1"/>
                </a:solidFill>
              </a:rPr>
            </a:br>
            <a:r>
              <a:rPr lang="en" sz="1200">
                <a:solidFill>
                  <a:schemeClr val="dk1"/>
                </a:solidFill>
              </a:rPr>
              <a:t> And, sure, he is an honourable man.</a:t>
            </a:r>
            <a:br>
              <a:rPr lang="en" sz="1200">
                <a:solidFill>
                  <a:schemeClr val="dk1"/>
                </a:solidFill>
              </a:rPr>
            </a:br>
            <a:r>
              <a:rPr lang="en" sz="1200">
                <a:solidFill>
                  <a:schemeClr val="dk1"/>
                </a:solidFill>
              </a:rPr>
              <a:t> I speak not to disprove what Brutus spoke,</a:t>
            </a:r>
            <a:br>
              <a:rPr lang="en" sz="1200">
                <a:solidFill>
                  <a:schemeClr val="dk1"/>
                </a:solidFill>
              </a:rPr>
            </a:br>
            <a:r>
              <a:rPr lang="en" sz="1200">
                <a:solidFill>
                  <a:schemeClr val="dk1"/>
                </a:solidFill>
              </a:rPr>
              <a:t> But here I am to speak what I do know.</a:t>
            </a:r>
            <a:br>
              <a:rPr lang="en" sz="1200">
                <a:solidFill>
                  <a:schemeClr val="dk1"/>
                </a:solidFill>
              </a:rPr>
            </a:br>
            <a:r>
              <a:rPr lang="en" sz="1200">
                <a:solidFill>
                  <a:schemeClr val="dk1"/>
                </a:solidFill>
              </a:rPr>
              <a:t> You all did love him once, not without cause:</a:t>
            </a:r>
            <a:br>
              <a:rPr lang="en" sz="1200">
                <a:solidFill>
                  <a:schemeClr val="dk1"/>
                </a:solidFill>
              </a:rPr>
            </a:br>
            <a:r>
              <a:rPr lang="en" sz="1200">
                <a:solidFill>
                  <a:schemeClr val="dk1"/>
                </a:solidFill>
              </a:rPr>
              <a:t> What cause withholds you then to mourn for him?</a:t>
            </a:r>
            <a:endParaRPr sz="12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142" name="Shape 142"/>
        <p:cNvGrpSpPr/>
        <p:nvPr/>
      </p:nvGrpSpPr>
      <p:grpSpPr>
        <a:xfrm>
          <a:off x="0" y="0"/>
          <a:ext cx="0" cy="0"/>
          <a:chOff x="0" y="0"/>
          <a:chExt cx="0" cy="0"/>
        </a:xfrm>
      </p:grpSpPr>
      <p:sp>
        <p:nvSpPr>
          <p:cNvPr id="143" name="Google Shape;143;p26"/>
          <p:cNvSpPr/>
          <p:nvPr/>
        </p:nvSpPr>
        <p:spPr>
          <a:xfrm>
            <a:off x="0" y="0"/>
            <a:ext cx="9154800" cy="1182900"/>
          </a:xfrm>
          <a:prstGeom prst="rect">
            <a:avLst/>
          </a:prstGeom>
          <a:solidFill>
            <a:srgbClr val="FFFF00"/>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020">
                <a:latin typeface="Helvetica Neue"/>
                <a:ea typeface="Helvetica Neue"/>
                <a:cs typeface="Helvetica Neue"/>
                <a:sym typeface="Helvetica Neue"/>
              </a:rPr>
              <a:t>Narrative Perspective and Point of View</a:t>
            </a:r>
            <a:endParaRPr b="1" sz="3020">
              <a:latin typeface="Helvetica Neue"/>
              <a:ea typeface="Helvetica Neue"/>
              <a:cs typeface="Helvetica Neue"/>
              <a:sym typeface="Helvetica Neue"/>
            </a:endParaRPr>
          </a:p>
        </p:txBody>
      </p:sp>
      <p:sp>
        <p:nvSpPr>
          <p:cNvPr id="145" name="Google Shape;145;p26"/>
          <p:cNvSpPr txBox="1"/>
          <p:nvPr>
            <p:ph idx="1" type="body"/>
          </p:nvPr>
        </p:nvSpPr>
        <p:spPr>
          <a:xfrm>
            <a:off x="311700" y="1725350"/>
            <a:ext cx="8520600" cy="284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100">
                <a:solidFill>
                  <a:schemeClr val="dk1"/>
                </a:solidFill>
                <a:latin typeface="Helvetica Neue"/>
                <a:ea typeface="Helvetica Neue"/>
                <a:cs typeface="Helvetica Neue"/>
                <a:sym typeface="Helvetica Neue"/>
              </a:rPr>
              <a:t>Point of view:</a:t>
            </a:r>
            <a:r>
              <a:rPr lang="en" sz="2100">
                <a:solidFill>
                  <a:schemeClr val="dk1"/>
                </a:solidFill>
                <a:latin typeface="Helvetica Neue Light"/>
                <a:ea typeface="Helvetica Neue Light"/>
                <a:cs typeface="Helvetica Neue Light"/>
                <a:sym typeface="Helvetica Neue Light"/>
              </a:rPr>
              <a:t> is the </a:t>
            </a:r>
            <a:r>
              <a:rPr lang="en" sz="2100">
                <a:solidFill>
                  <a:schemeClr val="dk1"/>
                </a:solidFill>
                <a:latin typeface="Helvetica Neue Light"/>
                <a:ea typeface="Helvetica Neue Light"/>
                <a:cs typeface="Helvetica Neue Light"/>
                <a:sym typeface="Helvetica Neue Light"/>
              </a:rPr>
              <a:t>position</a:t>
            </a:r>
            <a:r>
              <a:rPr lang="en" sz="2100">
                <a:solidFill>
                  <a:schemeClr val="dk1"/>
                </a:solidFill>
                <a:latin typeface="Helvetica Neue Light"/>
                <a:ea typeface="Helvetica Neue Light"/>
                <a:cs typeface="Helvetica Neue Light"/>
                <a:sym typeface="Helvetica Neue Light"/>
              </a:rPr>
              <a:t> from which the narrator relates the events of a narrative.</a:t>
            </a:r>
            <a:endParaRPr sz="21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None/>
            </a:pPr>
            <a:r>
              <a:rPr b="1" lang="en" sz="2100">
                <a:solidFill>
                  <a:schemeClr val="dk1"/>
                </a:solidFill>
                <a:latin typeface="Helvetica Neue"/>
                <a:ea typeface="Helvetica Neue"/>
                <a:cs typeface="Helvetica Neue"/>
                <a:sym typeface="Helvetica Neue"/>
              </a:rPr>
              <a:t>Narrative Perspective:</a:t>
            </a:r>
            <a:r>
              <a:rPr lang="en" sz="2100">
                <a:solidFill>
                  <a:schemeClr val="dk1"/>
                </a:solidFill>
                <a:latin typeface="Helvetica Neue Light"/>
                <a:ea typeface="Helvetica Neue Light"/>
                <a:cs typeface="Helvetica Neue Light"/>
                <a:sym typeface="Helvetica Neue Light"/>
              </a:rPr>
              <a:t> describes how narrators or characters see and experience their individual circumstances. Determines what information a narrator chooses to share. </a:t>
            </a:r>
            <a:endParaRPr sz="21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1200"/>
              </a:spcAft>
              <a:buNone/>
            </a:pPr>
            <a:r>
              <a:rPr lang="en" sz="2100">
                <a:solidFill>
                  <a:schemeClr val="dk1"/>
                </a:solidFill>
                <a:latin typeface="Helvetica Neue Light"/>
                <a:ea typeface="Helvetica Neue Light"/>
                <a:cs typeface="Helvetica Neue Light"/>
                <a:sym typeface="Helvetica Neue Light"/>
              </a:rPr>
              <a:t>Both influence what people believe about events in a story. </a:t>
            </a:r>
            <a:endParaRPr sz="2100">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p:nvPr/>
        </p:nvSpPr>
        <p:spPr>
          <a:xfrm>
            <a:off x="0" y="3233700"/>
            <a:ext cx="9144000" cy="19098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7"/>
          <p:cNvSpPr/>
          <p:nvPr/>
        </p:nvSpPr>
        <p:spPr>
          <a:xfrm>
            <a:off x="0" y="1215300"/>
            <a:ext cx="9144000" cy="2018400"/>
          </a:xfrm>
          <a:prstGeom prst="rect">
            <a:avLst/>
          </a:prstGeom>
          <a:solidFill>
            <a:srgbClr val="6D9EEB"/>
          </a:solidFill>
          <a:ln cap="flat" cmpd="sng" w="9525">
            <a:solidFill>
              <a:srgbClr val="6D9EE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27"/>
          <p:cNvSpPr/>
          <p:nvPr/>
        </p:nvSpPr>
        <p:spPr>
          <a:xfrm>
            <a:off x="0" y="0"/>
            <a:ext cx="9144000" cy="12153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27"/>
          <p:cNvSpPr txBox="1"/>
          <p:nvPr>
            <p:ph type="title"/>
          </p:nvPr>
        </p:nvSpPr>
        <p:spPr>
          <a:xfrm>
            <a:off x="311700" y="2714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120">
                <a:solidFill>
                  <a:schemeClr val="lt1"/>
                </a:solidFill>
                <a:latin typeface="Helvetica Neue"/>
                <a:ea typeface="Helvetica Neue"/>
                <a:cs typeface="Helvetica Neue"/>
                <a:sym typeface="Helvetica Neue"/>
              </a:rPr>
              <a:t>First-Person Point of View</a:t>
            </a:r>
            <a:endParaRPr b="1" sz="3120">
              <a:solidFill>
                <a:schemeClr val="lt1"/>
              </a:solidFill>
              <a:latin typeface="Helvetica Neue"/>
              <a:ea typeface="Helvetica Neue"/>
              <a:cs typeface="Helvetica Neue"/>
              <a:sym typeface="Helvetica Neue"/>
            </a:endParaRPr>
          </a:p>
        </p:txBody>
      </p:sp>
      <p:sp>
        <p:nvSpPr>
          <p:cNvPr id="154" name="Google Shape;154;p27"/>
          <p:cNvSpPr txBox="1"/>
          <p:nvPr>
            <p:ph idx="1" type="body"/>
          </p:nvPr>
        </p:nvSpPr>
        <p:spPr>
          <a:xfrm>
            <a:off x="311700" y="1369500"/>
            <a:ext cx="8520600" cy="15636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2500">
                <a:solidFill>
                  <a:schemeClr val="lt1"/>
                </a:solidFill>
                <a:latin typeface="Helvetica Neue Light"/>
                <a:ea typeface="Helvetica Neue Light"/>
                <a:cs typeface="Helvetica Neue Light"/>
                <a:sym typeface="Helvetica Neue Light"/>
              </a:rPr>
              <a:t>A story told from a single character’s perspective, using pronouns such as </a:t>
            </a:r>
            <a:r>
              <a:rPr i="1" lang="en" sz="2500">
                <a:solidFill>
                  <a:schemeClr val="lt1"/>
                </a:solidFill>
                <a:latin typeface="Helvetica Neue Light"/>
                <a:ea typeface="Helvetica Neue Light"/>
                <a:cs typeface="Helvetica Neue Light"/>
                <a:sym typeface="Helvetica Neue Light"/>
              </a:rPr>
              <a:t>I</a:t>
            </a:r>
            <a:r>
              <a:rPr lang="en" sz="2500">
                <a:solidFill>
                  <a:schemeClr val="lt1"/>
                </a:solidFill>
                <a:latin typeface="Helvetica Neue Light"/>
                <a:ea typeface="Helvetica Neue Light"/>
                <a:cs typeface="Helvetica Neue Light"/>
                <a:sym typeface="Helvetica Neue Light"/>
              </a:rPr>
              <a:t> and </a:t>
            </a:r>
            <a:r>
              <a:rPr i="1" lang="en" sz="2500">
                <a:solidFill>
                  <a:schemeClr val="lt1"/>
                </a:solidFill>
                <a:latin typeface="Helvetica Neue Light"/>
                <a:ea typeface="Helvetica Neue Light"/>
                <a:cs typeface="Helvetica Neue Light"/>
                <a:sym typeface="Helvetica Neue Light"/>
              </a:rPr>
              <a:t>we. </a:t>
            </a:r>
            <a:r>
              <a:rPr lang="en" sz="2500">
                <a:solidFill>
                  <a:schemeClr val="lt1"/>
                </a:solidFill>
                <a:latin typeface="Helvetica Neue Light"/>
                <a:ea typeface="Helvetica Neue Light"/>
                <a:cs typeface="Helvetica Neue Light"/>
                <a:sym typeface="Helvetica Neue Light"/>
              </a:rPr>
              <a:t>It gives a vivid on-the-spot account of events and internal thoughts. </a:t>
            </a:r>
            <a:endParaRPr sz="2500">
              <a:solidFill>
                <a:schemeClr val="lt1"/>
              </a:solidFill>
              <a:latin typeface="Helvetica Neue Light"/>
              <a:ea typeface="Helvetica Neue Light"/>
              <a:cs typeface="Helvetica Neue Light"/>
              <a:sym typeface="Helvetica Neue Light"/>
            </a:endParaRPr>
          </a:p>
        </p:txBody>
      </p:sp>
      <p:sp>
        <p:nvSpPr>
          <p:cNvPr id="155" name="Google Shape;155;p27"/>
          <p:cNvSpPr txBox="1"/>
          <p:nvPr>
            <p:ph idx="1" type="body"/>
          </p:nvPr>
        </p:nvSpPr>
        <p:spPr>
          <a:xfrm>
            <a:off x="464100" y="3604900"/>
            <a:ext cx="8520600" cy="1324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1900">
                <a:solidFill>
                  <a:srgbClr val="1155CC"/>
                </a:solidFill>
                <a:latin typeface="Helvetica Neue Light"/>
                <a:ea typeface="Helvetica Neue Light"/>
                <a:cs typeface="Helvetica Neue Light"/>
                <a:sym typeface="Helvetica Neue Light"/>
              </a:rPr>
              <a:t>“If you really want to hear about it, the first thing you’ll probably want to know is where I was born…” </a:t>
            </a:r>
            <a:r>
              <a:rPr b="1" i="1" lang="en" sz="1900">
                <a:solidFill>
                  <a:srgbClr val="1155CC"/>
                </a:solidFill>
                <a:latin typeface="Helvetica Neue"/>
                <a:ea typeface="Helvetica Neue"/>
                <a:cs typeface="Helvetica Neue"/>
                <a:sym typeface="Helvetica Neue"/>
              </a:rPr>
              <a:t>The Catcher in the Rye</a:t>
            </a:r>
            <a:r>
              <a:rPr lang="en" sz="1900">
                <a:solidFill>
                  <a:srgbClr val="1155CC"/>
                </a:solidFill>
                <a:latin typeface="Helvetica Neue Light"/>
                <a:ea typeface="Helvetica Neue Light"/>
                <a:cs typeface="Helvetica Neue Light"/>
                <a:sym typeface="Helvetica Neue Light"/>
              </a:rPr>
              <a:t> by J.D. Salinger (1951)</a:t>
            </a:r>
            <a:endParaRPr sz="1900">
              <a:solidFill>
                <a:srgbClr val="1155CC"/>
              </a:solidFill>
              <a:latin typeface="Helvetica Neue Light"/>
              <a:ea typeface="Helvetica Neue Light"/>
              <a:cs typeface="Helvetica Neue Light"/>
              <a:sym typeface="Helvetica Neue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p:nvPr/>
        </p:nvSpPr>
        <p:spPr>
          <a:xfrm>
            <a:off x="0" y="3233700"/>
            <a:ext cx="9144000" cy="1909800"/>
          </a:xfrm>
          <a:prstGeom prst="rect">
            <a:avLst/>
          </a:prstGeom>
          <a:solidFill>
            <a:srgbClr val="D5A6BD"/>
          </a:solidFill>
          <a:ln cap="flat" cmpd="sng" w="9525">
            <a:solidFill>
              <a:srgbClr val="EAD1D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 name="Google Shape;161;p28"/>
          <p:cNvSpPr/>
          <p:nvPr/>
        </p:nvSpPr>
        <p:spPr>
          <a:xfrm>
            <a:off x="0" y="1215300"/>
            <a:ext cx="9144000" cy="2018400"/>
          </a:xfrm>
          <a:prstGeom prst="rect">
            <a:avLst/>
          </a:prstGeom>
          <a:solidFill>
            <a:srgbClr val="C27BA0"/>
          </a:solidFill>
          <a:ln cap="flat" cmpd="sng" w="9525">
            <a:solidFill>
              <a:srgbClr val="C27BA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28"/>
          <p:cNvSpPr/>
          <p:nvPr/>
        </p:nvSpPr>
        <p:spPr>
          <a:xfrm>
            <a:off x="0" y="0"/>
            <a:ext cx="9144000" cy="1215300"/>
          </a:xfrm>
          <a:prstGeom prst="rect">
            <a:avLst/>
          </a:prstGeom>
          <a:solidFill>
            <a:srgbClr val="741B47"/>
          </a:solidFill>
          <a:ln cap="flat" cmpd="sng" w="952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28"/>
          <p:cNvSpPr txBox="1"/>
          <p:nvPr>
            <p:ph type="title"/>
          </p:nvPr>
        </p:nvSpPr>
        <p:spPr>
          <a:xfrm>
            <a:off x="311700" y="2714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120">
                <a:solidFill>
                  <a:schemeClr val="lt1"/>
                </a:solidFill>
                <a:latin typeface="Helvetica Neue"/>
                <a:ea typeface="Helvetica Neue"/>
                <a:cs typeface="Helvetica Neue"/>
                <a:sym typeface="Helvetica Neue"/>
              </a:rPr>
              <a:t>Second</a:t>
            </a:r>
            <a:r>
              <a:rPr b="1" lang="en" sz="3120">
                <a:solidFill>
                  <a:schemeClr val="lt1"/>
                </a:solidFill>
                <a:latin typeface="Helvetica Neue"/>
                <a:ea typeface="Helvetica Neue"/>
                <a:cs typeface="Helvetica Neue"/>
                <a:sym typeface="Helvetica Neue"/>
              </a:rPr>
              <a:t>-Person Point of View</a:t>
            </a:r>
            <a:endParaRPr b="1" sz="3120">
              <a:solidFill>
                <a:schemeClr val="lt1"/>
              </a:solidFill>
              <a:latin typeface="Helvetica Neue"/>
              <a:ea typeface="Helvetica Neue"/>
              <a:cs typeface="Helvetica Neue"/>
              <a:sym typeface="Helvetica Neue"/>
            </a:endParaRPr>
          </a:p>
        </p:txBody>
      </p:sp>
      <p:sp>
        <p:nvSpPr>
          <p:cNvPr id="164" name="Google Shape;164;p28"/>
          <p:cNvSpPr txBox="1"/>
          <p:nvPr>
            <p:ph idx="1" type="body"/>
          </p:nvPr>
        </p:nvSpPr>
        <p:spPr>
          <a:xfrm>
            <a:off x="311700" y="1369500"/>
            <a:ext cx="8520600" cy="15636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2500">
                <a:solidFill>
                  <a:schemeClr val="lt1"/>
                </a:solidFill>
                <a:latin typeface="Helvetica Neue Light"/>
                <a:ea typeface="Helvetica Neue Light"/>
                <a:cs typeface="Helvetica Neue Light"/>
                <a:sym typeface="Helvetica Neue Light"/>
              </a:rPr>
              <a:t>Rare but not unheard of. It puts the reader right into the story. You are not just asked to imagine a character, but told that you are one. </a:t>
            </a:r>
            <a:endParaRPr sz="2500">
              <a:solidFill>
                <a:schemeClr val="lt1"/>
              </a:solidFill>
              <a:latin typeface="Helvetica Neue Light"/>
              <a:ea typeface="Helvetica Neue Light"/>
              <a:cs typeface="Helvetica Neue Light"/>
              <a:sym typeface="Helvetica Neue Light"/>
            </a:endParaRPr>
          </a:p>
        </p:txBody>
      </p:sp>
      <p:sp>
        <p:nvSpPr>
          <p:cNvPr id="165" name="Google Shape;165;p28"/>
          <p:cNvSpPr txBox="1"/>
          <p:nvPr>
            <p:ph idx="1" type="body"/>
          </p:nvPr>
        </p:nvSpPr>
        <p:spPr>
          <a:xfrm>
            <a:off x="464100" y="3604900"/>
            <a:ext cx="8520600" cy="1324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1900">
                <a:solidFill>
                  <a:srgbClr val="741B47"/>
                </a:solidFill>
                <a:latin typeface="Helvetica Neue Light"/>
                <a:ea typeface="Helvetica Neue Light"/>
                <a:cs typeface="Helvetica Neue Light"/>
                <a:sym typeface="Helvetica Neue Light"/>
              </a:rPr>
              <a:t>“You are about to begin reading Italo Calvino’s new novel, </a:t>
            </a:r>
            <a:r>
              <a:rPr i="1" lang="en" sz="1900">
                <a:solidFill>
                  <a:srgbClr val="741B47"/>
                </a:solidFill>
                <a:latin typeface="Helvetica Neue Light"/>
                <a:ea typeface="Helvetica Neue Light"/>
                <a:cs typeface="Helvetica Neue Light"/>
                <a:sym typeface="Helvetica Neue Light"/>
              </a:rPr>
              <a:t>If on a winter’s night a traveler</a:t>
            </a:r>
            <a:r>
              <a:rPr lang="en" sz="1900">
                <a:solidFill>
                  <a:srgbClr val="741B47"/>
                </a:solidFill>
                <a:latin typeface="Helvetica Neue Light"/>
                <a:ea typeface="Helvetica Neue Light"/>
                <a:cs typeface="Helvetica Neue Light"/>
                <a:sym typeface="Helvetica Neue Light"/>
              </a:rPr>
              <a:t>. Relax. Concentrate. Dispel every other thought. Let the world around you fade.” </a:t>
            </a:r>
            <a:r>
              <a:rPr b="1" i="1" lang="en" sz="1900">
                <a:solidFill>
                  <a:srgbClr val="741B47"/>
                </a:solidFill>
                <a:latin typeface="Helvetica Neue"/>
                <a:ea typeface="Helvetica Neue"/>
                <a:cs typeface="Helvetica Neue"/>
                <a:sym typeface="Helvetica Neue"/>
              </a:rPr>
              <a:t>If on a winter’s night a traveler</a:t>
            </a:r>
            <a:r>
              <a:rPr lang="en" sz="1900">
                <a:solidFill>
                  <a:srgbClr val="741B47"/>
                </a:solidFill>
                <a:latin typeface="Helvetica Neue Light"/>
                <a:ea typeface="Helvetica Neue Light"/>
                <a:cs typeface="Helvetica Neue Light"/>
                <a:sym typeface="Helvetica Neue Light"/>
              </a:rPr>
              <a:t> by Italo Calvino (1979)</a:t>
            </a:r>
            <a:endParaRPr sz="2700">
              <a:solidFill>
                <a:srgbClr val="741B47"/>
              </a:solidFill>
              <a:latin typeface="Helvetica Neue Light"/>
              <a:ea typeface="Helvetica Neue Light"/>
              <a:cs typeface="Helvetica Neue Light"/>
              <a:sym typeface="Helvetica Neue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9"/>
          <p:cNvSpPr/>
          <p:nvPr/>
        </p:nvSpPr>
        <p:spPr>
          <a:xfrm>
            <a:off x="0" y="3233700"/>
            <a:ext cx="9144000" cy="1909800"/>
          </a:xfrm>
          <a:prstGeom prst="rect">
            <a:avLst/>
          </a:prstGeom>
          <a:solidFill>
            <a:srgbClr val="A2C4C9"/>
          </a:solidFill>
          <a:ln cap="flat" cmpd="sng" w="9525">
            <a:solidFill>
              <a:srgbClr val="A2C4C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9"/>
          <p:cNvSpPr/>
          <p:nvPr/>
        </p:nvSpPr>
        <p:spPr>
          <a:xfrm>
            <a:off x="0" y="1215300"/>
            <a:ext cx="9144000" cy="2018400"/>
          </a:xfrm>
          <a:prstGeom prst="rect">
            <a:avLst/>
          </a:prstGeom>
          <a:solidFill>
            <a:srgbClr val="76A5AF"/>
          </a:solidFill>
          <a:ln cap="flat" cmpd="sng" w="9525">
            <a:solidFill>
              <a:srgbClr val="76A5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29"/>
          <p:cNvSpPr/>
          <p:nvPr/>
        </p:nvSpPr>
        <p:spPr>
          <a:xfrm>
            <a:off x="0" y="0"/>
            <a:ext cx="9144000" cy="1215300"/>
          </a:xfrm>
          <a:prstGeom prst="rect">
            <a:avLst/>
          </a:prstGeom>
          <a:solidFill>
            <a:srgbClr val="134F5C"/>
          </a:solidFill>
          <a:ln cap="flat" cmpd="sng" w="9525">
            <a:solidFill>
              <a:srgbClr val="134F5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 name="Google Shape;173;p29"/>
          <p:cNvSpPr txBox="1"/>
          <p:nvPr>
            <p:ph type="title"/>
          </p:nvPr>
        </p:nvSpPr>
        <p:spPr>
          <a:xfrm>
            <a:off x="311700" y="2714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120">
                <a:solidFill>
                  <a:schemeClr val="lt1"/>
                </a:solidFill>
                <a:latin typeface="Helvetica Neue"/>
                <a:ea typeface="Helvetica Neue"/>
                <a:cs typeface="Helvetica Neue"/>
                <a:sym typeface="Helvetica Neue"/>
              </a:rPr>
              <a:t>Third</a:t>
            </a:r>
            <a:r>
              <a:rPr b="1" lang="en" sz="3120">
                <a:solidFill>
                  <a:schemeClr val="lt1"/>
                </a:solidFill>
                <a:latin typeface="Helvetica Neue"/>
                <a:ea typeface="Helvetica Neue"/>
                <a:cs typeface="Helvetica Neue"/>
                <a:sym typeface="Helvetica Neue"/>
              </a:rPr>
              <a:t>-Person Point of View</a:t>
            </a:r>
            <a:endParaRPr b="1" sz="3120">
              <a:solidFill>
                <a:schemeClr val="lt1"/>
              </a:solidFill>
              <a:latin typeface="Helvetica Neue"/>
              <a:ea typeface="Helvetica Neue"/>
              <a:cs typeface="Helvetica Neue"/>
              <a:sym typeface="Helvetica Neue"/>
            </a:endParaRPr>
          </a:p>
        </p:txBody>
      </p:sp>
      <p:sp>
        <p:nvSpPr>
          <p:cNvPr id="174" name="Google Shape;174;p29"/>
          <p:cNvSpPr txBox="1"/>
          <p:nvPr>
            <p:ph idx="1" type="body"/>
          </p:nvPr>
        </p:nvSpPr>
        <p:spPr>
          <a:xfrm>
            <a:off x="311700" y="1442700"/>
            <a:ext cx="8520600" cy="15636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1200"/>
              </a:spcAft>
              <a:buNone/>
            </a:pPr>
            <a:r>
              <a:rPr lang="en" sz="2500">
                <a:solidFill>
                  <a:schemeClr val="lt1"/>
                </a:solidFill>
                <a:latin typeface="Helvetica Neue Light"/>
                <a:ea typeface="Helvetica Neue Light"/>
                <a:cs typeface="Helvetica Neue Light"/>
                <a:sym typeface="Helvetica Neue Light"/>
              </a:rPr>
              <a:t>This type of narrator view all events in a story from a distance and does not typically play a role in the actual plot. Can feature limited or omniscient point of view. Uses pronouns such as</a:t>
            </a:r>
            <a:r>
              <a:rPr i="1" lang="en" sz="2500">
                <a:solidFill>
                  <a:schemeClr val="lt1"/>
                </a:solidFill>
                <a:latin typeface="Helvetica Neue Light"/>
                <a:ea typeface="Helvetica Neue Light"/>
                <a:cs typeface="Helvetica Neue Light"/>
                <a:sym typeface="Helvetica Neue Light"/>
              </a:rPr>
              <a:t> he</a:t>
            </a:r>
            <a:r>
              <a:rPr lang="en" sz="2500">
                <a:solidFill>
                  <a:schemeClr val="lt1"/>
                </a:solidFill>
                <a:latin typeface="Helvetica Neue Light"/>
                <a:ea typeface="Helvetica Neue Light"/>
                <a:cs typeface="Helvetica Neue Light"/>
                <a:sym typeface="Helvetica Neue Light"/>
              </a:rPr>
              <a:t>, </a:t>
            </a:r>
            <a:r>
              <a:rPr i="1" lang="en" sz="2500">
                <a:solidFill>
                  <a:schemeClr val="lt1"/>
                </a:solidFill>
                <a:latin typeface="Helvetica Neue Light"/>
                <a:ea typeface="Helvetica Neue Light"/>
                <a:cs typeface="Helvetica Neue Light"/>
                <a:sym typeface="Helvetica Neue Light"/>
              </a:rPr>
              <a:t>she</a:t>
            </a:r>
            <a:r>
              <a:rPr lang="en" sz="2500">
                <a:solidFill>
                  <a:schemeClr val="lt1"/>
                </a:solidFill>
                <a:latin typeface="Helvetica Neue Light"/>
                <a:ea typeface="Helvetica Neue Light"/>
                <a:cs typeface="Helvetica Neue Light"/>
                <a:sym typeface="Helvetica Neue Light"/>
              </a:rPr>
              <a:t>, and </a:t>
            </a:r>
            <a:r>
              <a:rPr i="1" lang="en" sz="2500">
                <a:solidFill>
                  <a:schemeClr val="lt1"/>
                </a:solidFill>
                <a:latin typeface="Helvetica Neue Light"/>
                <a:ea typeface="Helvetica Neue Light"/>
                <a:cs typeface="Helvetica Neue Light"/>
                <a:sym typeface="Helvetica Neue Light"/>
              </a:rPr>
              <a:t>it</a:t>
            </a:r>
            <a:r>
              <a:rPr i="1" lang="en" sz="2500">
                <a:solidFill>
                  <a:schemeClr val="lt1"/>
                </a:solidFill>
                <a:latin typeface="Helvetica Neue Light"/>
                <a:ea typeface="Helvetica Neue Light"/>
                <a:cs typeface="Helvetica Neue Light"/>
                <a:sym typeface="Helvetica Neue Light"/>
              </a:rPr>
              <a:t> </a:t>
            </a:r>
            <a:endParaRPr i="1" sz="2500">
              <a:solidFill>
                <a:schemeClr val="lt1"/>
              </a:solidFill>
              <a:latin typeface="Helvetica Neue Light"/>
              <a:ea typeface="Helvetica Neue Light"/>
              <a:cs typeface="Helvetica Neue Light"/>
              <a:sym typeface="Helvetica Neue Light"/>
            </a:endParaRPr>
          </a:p>
        </p:txBody>
      </p:sp>
      <p:sp>
        <p:nvSpPr>
          <p:cNvPr id="175" name="Google Shape;175;p29"/>
          <p:cNvSpPr txBox="1"/>
          <p:nvPr>
            <p:ph idx="1" type="body"/>
          </p:nvPr>
        </p:nvSpPr>
        <p:spPr>
          <a:xfrm>
            <a:off x="453250" y="3526200"/>
            <a:ext cx="8520600" cy="13248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solidFill>
                  <a:srgbClr val="134F5C"/>
                </a:solidFill>
                <a:latin typeface="Helvetica Neue Light"/>
                <a:ea typeface="Helvetica Neue Light"/>
                <a:cs typeface="Helvetica Neue Light"/>
                <a:sym typeface="Helvetica Neue Light"/>
              </a:rPr>
              <a:t>“When Mr. Bilbo Baggins of Bag End announced that he would shortly be celebrating his eleventy-first birthday with a party of special magnificence, there was much talk and excitement in Hobbiton.” </a:t>
            </a:r>
            <a:r>
              <a:rPr b="1" i="1" lang="en">
                <a:solidFill>
                  <a:srgbClr val="134F5C"/>
                </a:solidFill>
                <a:latin typeface="Helvetica Neue"/>
                <a:ea typeface="Helvetica Neue"/>
                <a:cs typeface="Helvetica Neue"/>
                <a:sym typeface="Helvetica Neue"/>
              </a:rPr>
              <a:t>The Lord of the Rings: The Fellowship of the Ring</a:t>
            </a:r>
            <a:r>
              <a:rPr lang="en">
                <a:solidFill>
                  <a:srgbClr val="134F5C"/>
                </a:solidFill>
                <a:latin typeface="Helvetica Neue Light"/>
                <a:ea typeface="Helvetica Neue Light"/>
                <a:cs typeface="Helvetica Neue Light"/>
                <a:sym typeface="Helvetica Neue Light"/>
              </a:rPr>
              <a:t> by J.R.R. Tolkien (1954)</a:t>
            </a:r>
            <a:endParaRPr>
              <a:solidFill>
                <a:srgbClr val="134F5C"/>
              </a:solidFill>
              <a:latin typeface="Helvetica Neue Light"/>
              <a:ea typeface="Helvetica Neue Light"/>
              <a:cs typeface="Helvetica Neue Light"/>
              <a:sym typeface="Helvetica Neue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124D"/>
        </a:solidFill>
      </p:bgPr>
    </p:bg>
    <p:spTree>
      <p:nvGrpSpPr>
        <p:cNvPr id="179" name="Shape 179"/>
        <p:cNvGrpSpPr/>
        <p:nvPr/>
      </p:nvGrpSpPr>
      <p:grpSpPr>
        <a:xfrm>
          <a:off x="0" y="0"/>
          <a:ext cx="0" cy="0"/>
          <a:chOff x="0" y="0"/>
          <a:chExt cx="0" cy="0"/>
        </a:xfrm>
      </p:grpSpPr>
      <p:sp>
        <p:nvSpPr>
          <p:cNvPr id="180" name="Google Shape;180;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i="1" lang="en" sz="3920">
                <a:solidFill>
                  <a:srgbClr val="D9D2E9"/>
                </a:solidFill>
                <a:latin typeface="Helvetica Neue"/>
                <a:ea typeface="Helvetica Neue"/>
                <a:cs typeface="Helvetica Neue"/>
                <a:sym typeface="Helvetica Neue"/>
              </a:rPr>
              <a:t>Snow, Glass, Apple</a:t>
            </a:r>
            <a:r>
              <a:rPr b="1" lang="en" sz="3920">
                <a:solidFill>
                  <a:srgbClr val="D9D2E9"/>
                </a:solidFill>
                <a:latin typeface="Helvetica Neue"/>
                <a:ea typeface="Helvetica Neue"/>
                <a:cs typeface="Helvetica Neue"/>
                <a:sym typeface="Helvetica Neue"/>
              </a:rPr>
              <a:t> </a:t>
            </a:r>
            <a:endParaRPr b="1" sz="3920">
              <a:solidFill>
                <a:srgbClr val="D9D2E9"/>
              </a:solidFill>
              <a:latin typeface="Helvetica Neue"/>
              <a:ea typeface="Helvetica Neue"/>
              <a:cs typeface="Helvetica Neue"/>
              <a:sym typeface="Helvetica Neue"/>
            </a:endParaRPr>
          </a:p>
          <a:p>
            <a:pPr indent="0" lvl="0" marL="0" rtl="0" algn="l">
              <a:spcBef>
                <a:spcPts val="0"/>
              </a:spcBef>
              <a:spcAft>
                <a:spcPts val="0"/>
              </a:spcAft>
              <a:buSzPts val="990"/>
              <a:buNone/>
            </a:pPr>
            <a:r>
              <a:rPr b="1" lang="en" sz="3920">
                <a:solidFill>
                  <a:srgbClr val="D9D2E9"/>
                </a:solidFill>
                <a:latin typeface="Helvetica Neue"/>
                <a:ea typeface="Helvetica Neue"/>
                <a:cs typeface="Helvetica Neue"/>
                <a:sym typeface="Helvetica Neue"/>
              </a:rPr>
              <a:t>by Neil Gaiman (1994)</a:t>
            </a:r>
            <a:endParaRPr b="1" sz="3920">
              <a:solidFill>
                <a:srgbClr val="D9D2E9"/>
              </a:solidFill>
              <a:latin typeface="Helvetica Neue"/>
              <a:ea typeface="Helvetica Neue"/>
              <a:cs typeface="Helvetica Neue"/>
              <a:sym typeface="Helvetica Neue"/>
            </a:endParaRPr>
          </a:p>
        </p:txBody>
      </p:sp>
      <p:sp>
        <p:nvSpPr>
          <p:cNvPr id="181" name="Google Shape;181;p30"/>
          <p:cNvSpPr txBox="1"/>
          <p:nvPr>
            <p:ph idx="1" type="body"/>
          </p:nvPr>
        </p:nvSpPr>
        <p:spPr>
          <a:xfrm>
            <a:off x="311700" y="2147775"/>
            <a:ext cx="5366100" cy="2514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2300">
                <a:solidFill>
                  <a:srgbClr val="D9D2E9"/>
                </a:solidFill>
                <a:latin typeface="Helvetica Neue Light"/>
                <a:ea typeface="Helvetica Neue Light"/>
                <a:cs typeface="Helvetica Neue Light"/>
                <a:sym typeface="Helvetica Neue Light"/>
              </a:rPr>
              <a:t>It is a retelling of the </a:t>
            </a:r>
            <a:r>
              <a:rPr lang="en" sz="2300">
                <a:solidFill>
                  <a:srgbClr val="D9D2E9"/>
                </a:solidFill>
                <a:uFill>
                  <a:noFill/>
                </a:uFill>
                <a:latin typeface="Helvetica Neue Light"/>
                <a:ea typeface="Helvetica Neue Light"/>
                <a:cs typeface="Helvetica Neue Light"/>
                <a:sym typeface="Helvetica Neue Light"/>
                <a:hlinkClick r:id="rId3">
                  <a:extLst>
                    <a:ext uri="{A12FA001-AC4F-418D-AE19-62706E023703}">
                      <ahyp:hlinkClr val="tx"/>
                    </a:ext>
                  </a:extLst>
                </a:hlinkClick>
              </a:rPr>
              <a:t>Brothers Grimm</a:t>
            </a:r>
            <a:r>
              <a:rPr lang="en" sz="2300">
                <a:solidFill>
                  <a:srgbClr val="D9D2E9"/>
                </a:solidFill>
                <a:latin typeface="Helvetica Neue Light"/>
                <a:ea typeface="Helvetica Neue Light"/>
                <a:cs typeface="Helvetica Neue Light"/>
                <a:sym typeface="Helvetica Neue Light"/>
              </a:rPr>
              <a:t> fairy tale </a:t>
            </a:r>
            <a:r>
              <a:rPr lang="en" sz="2300">
                <a:solidFill>
                  <a:srgbClr val="D9D2E9"/>
                </a:solidFill>
                <a:uFill>
                  <a:noFill/>
                </a:uFill>
                <a:latin typeface="Helvetica Neue Light"/>
                <a:ea typeface="Helvetica Neue Light"/>
                <a:cs typeface="Helvetica Neue Light"/>
                <a:sym typeface="Helvetica Neue Light"/>
                <a:hlinkClick r:id="rId4">
                  <a:extLst>
                    <a:ext uri="{A12FA001-AC4F-418D-AE19-62706E023703}">
                      <ahyp:hlinkClr val="tx"/>
                    </a:ext>
                  </a:extLst>
                </a:hlinkClick>
              </a:rPr>
              <a:t>Snow White</a:t>
            </a:r>
            <a:r>
              <a:rPr lang="en" sz="2300">
                <a:solidFill>
                  <a:srgbClr val="D9D2E9"/>
                </a:solidFill>
                <a:latin typeface="Helvetica Neue Light"/>
                <a:ea typeface="Helvetica Neue Light"/>
                <a:cs typeface="Helvetica Neue Light"/>
                <a:sym typeface="Helvetica Neue Light"/>
              </a:rPr>
              <a:t>, but from her </a:t>
            </a:r>
            <a:r>
              <a:rPr lang="en" sz="2300">
                <a:solidFill>
                  <a:srgbClr val="D9D2E9"/>
                </a:solidFill>
                <a:uFill>
                  <a:noFill/>
                </a:uFill>
                <a:latin typeface="Helvetica Neue Light"/>
                <a:ea typeface="Helvetica Neue Light"/>
                <a:cs typeface="Helvetica Neue Light"/>
                <a:sym typeface="Helvetica Neue Light"/>
                <a:hlinkClick r:id="rId5">
                  <a:extLst>
                    <a:ext uri="{A12FA001-AC4F-418D-AE19-62706E023703}">
                      <ahyp:hlinkClr val="tx"/>
                    </a:ext>
                  </a:extLst>
                </a:hlinkClick>
              </a:rPr>
              <a:t>stepmother</a:t>
            </a:r>
            <a:r>
              <a:rPr lang="en" sz="2300">
                <a:solidFill>
                  <a:srgbClr val="D9D2E9"/>
                </a:solidFill>
                <a:latin typeface="Helvetica Neue Light"/>
                <a:ea typeface="Helvetica Neue Light"/>
                <a:cs typeface="Helvetica Neue Light"/>
                <a:sym typeface="Helvetica Neue Light"/>
              </a:rPr>
              <a:t>'s point of view.</a:t>
            </a:r>
            <a:endParaRPr sz="2300">
              <a:solidFill>
                <a:srgbClr val="D9D2E9"/>
              </a:solidFill>
              <a:latin typeface="Helvetica Neue Light"/>
              <a:ea typeface="Helvetica Neue Light"/>
              <a:cs typeface="Helvetica Neue Light"/>
              <a:sym typeface="Helvetica Neue Light"/>
            </a:endParaRPr>
          </a:p>
          <a:p>
            <a:pPr indent="0" lvl="0" marL="0" rtl="0" algn="l">
              <a:spcBef>
                <a:spcPts val="1200"/>
              </a:spcBef>
              <a:spcAft>
                <a:spcPts val="1200"/>
              </a:spcAft>
              <a:buNone/>
            </a:pPr>
            <a:r>
              <a:rPr lang="en" sz="2300">
                <a:solidFill>
                  <a:srgbClr val="D9D2E9"/>
                </a:solidFill>
                <a:latin typeface="Helvetica Neue Light"/>
                <a:ea typeface="Helvetica Neue Light"/>
                <a:cs typeface="Helvetica Neue Light"/>
                <a:sym typeface="Helvetica Neue Light"/>
              </a:rPr>
              <a:t>Told from a first-person point of view, it </a:t>
            </a:r>
            <a:r>
              <a:rPr lang="en" sz="2300">
                <a:solidFill>
                  <a:srgbClr val="D9D2E9"/>
                </a:solidFill>
                <a:latin typeface="Helvetica Neue Light"/>
                <a:ea typeface="Helvetica Neue Light"/>
                <a:cs typeface="Helvetica Neue Light"/>
                <a:sym typeface="Helvetica Neue Light"/>
              </a:rPr>
              <a:t>completely</a:t>
            </a:r>
            <a:r>
              <a:rPr lang="en" sz="2300">
                <a:solidFill>
                  <a:srgbClr val="D9D2E9"/>
                </a:solidFill>
                <a:latin typeface="Helvetica Neue Light"/>
                <a:ea typeface="Helvetica Neue Light"/>
                <a:cs typeface="Helvetica Neue Light"/>
                <a:sym typeface="Helvetica Neue Light"/>
              </a:rPr>
              <a:t> changes the meaning of the original fairy-tale.</a:t>
            </a:r>
            <a:endParaRPr sz="2300">
              <a:solidFill>
                <a:srgbClr val="D9D2E9"/>
              </a:solidFill>
              <a:latin typeface="Helvetica Neue Light"/>
              <a:ea typeface="Helvetica Neue Light"/>
              <a:cs typeface="Helvetica Neue Light"/>
              <a:sym typeface="Helvetica Neue Light"/>
            </a:endParaRPr>
          </a:p>
        </p:txBody>
      </p:sp>
      <p:pic>
        <p:nvPicPr>
          <p:cNvPr descr="STUNNING! Snow Glass Apples print by Colleen Doran – Neverwear" id="182" name="Google Shape;182;p30"/>
          <p:cNvPicPr preferRelativeResize="0"/>
          <p:nvPr/>
        </p:nvPicPr>
        <p:blipFill rotWithShape="1">
          <a:blip r:embed="rId6">
            <a:alphaModFix/>
          </a:blip>
          <a:srcRect b="8821" l="9889" r="8791" t="6605"/>
          <a:stretch/>
        </p:blipFill>
        <p:spPr>
          <a:xfrm>
            <a:off x="5940675" y="0"/>
            <a:ext cx="3203314" cy="5143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descr="Venn Diagrams: Humor, Advice, and Math – Occupy Math" id="187" name="Google Shape;187;p31"/>
          <p:cNvPicPr preferRelativeResize="0"/>
          <p:nvPr/>
        </p:nvPicPr>
        <p:blipFill>
          <a:blip r:embed="rId3">
            <a:alphaModFix/>
          </a:blip>
          <a:stretch>
            <a:fillRect/>
          </a:stretch>
        </p:blipFill>
        <p:spPr>
          <a:xfrm>
            <a:off x="0" y="0"/>
            <a:ext cx="9144001" cy="5143500"/>
          </a:xfrm>
          <a:prstGeom prst="rect">
            <a:avLst/>
          </a:prstGeom>
          <a:noFill/>
          <a:ln>
            <a:noFill/>
          </a:ln>
        </p:spPr>
      </p:pic>
      <p:sp>
        <p:nvSpPr>
          <p:cNvPr id="188" name="Google Shape;188;p31"/>
          <p:cNvSpPr txBox="1"/>
          <p:nvPr/>
        </p:nvSpPr>
        <p:spPr>
          <a:xfrm>
            <a:off x="1560125" y="65700"/>
            <a:ext cx="2759100" cy="103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Helvetica Neue"/>
                <a:ea typeface="Helvetica Neue"/>
                <a:cs typeface="Helvetica Neue"/>
                <a:sym typeface="Helvetica Neue"/>
              </a:rPr>
              <a:t>Grimm’s </a:t>
            </a:r>
            <a:r>
              <a:rPr b="1" i="1" lang="en" sz="1800">
                <a:solidFill>
                  <a:schemeClr val="dk1"/>
                </a:solidFill>
                <a:latin typeface="Helvetica Neue"/>
                <a:ea typeface="Helvetica Neue"/>
                <a:cs typeface="Helvetica Neue"/>
                <a:sym typeface="Helvetica Neue"/>
              </a:rPr>
              <a:t>Snow White</a:t>
            </a:r>
            <a:endParaRPr b="1" sz="1800">
              <a:solidFill>
                <a:schemeClr val="dk2"/>
              </a:solidFill>
              <a:latin typeface="Helvetica Neue"/>
              <a:ea typeface="Helvetica Neue"/>
              <a:cs typeface="Helvetica Neue"/>
              <a:sym typeface="Helvetica Neue"/>
            </a:endParaRPr>
          </a:p>
        </p:txBody>
      </p:sp>
      <p:sp>
        <p:nvSpPr>
          <p:cNvPr id="189" name="Google Shape;189;p31"/>
          <p:cNvSpPr txBox="1"/>
          <p:nvPr/>
        </p:nvSpPr>
        <p:spPr>
          <a:xfrm>
            <a:off x="4795350" y="65700"/>
            <a:ext cx="3514500" cy="103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Helvetica Neue"/>
                <a:ea typeface="Helvetica Neue"/>
                <a:cs typeface="Helvetica Neue"/>
                <a:sym typeface="Helvetica Neue"/>
              </a:rPr>
              <a:t>Gaiman’s </a:t>
            </a:r>
            <a:r>
              <a:rPr b="1" i="1" lang="en" sz="1800">
                <a:solidFill>
                  <a:schemeClr val="dk1"/>
                </a:solidFill>
                <a:latin typeface="Helvetica Neue"/>
                <a:ea typeface="Helvetica Neue"/>
                <a:cs typeface="Helvetica Neue"/>
                <a:sym typeface="Helvetica Neue"/>
              </a:rPr>
              <a:t>Snow, Glass, Apples</a:t>
            </a:r>
            <a:endParaRPr b="1" sz="1800">
              <a:solidFill>
                <a:schemeClr val="dk2"/>
              </a:solidFill>
              <a:latin typeface="Helvetica Neue"/>
              <a:ea typeface="Helvetica Neue"/>
              <a:cs typeface="Helvetica Neue"/>
              <a:sym typeface="Helvetica Neu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descr="Venn Diagrams: Humor, Advice, and Math – Occupy Math" id="194" name="Google Shape;194;p32"/>
          <p:cNvPicPr preferRelativeResize="0"/>
          <p:nvPr/>
        </p:nvPicPr>
        <p:blipFill>
          <a:blip r:embed="rId3">
            <a:alphaModFix/>
          </a:blip>
          <a:stretch>
            <a:fillRect/>
          </a:stretch>
        </p:blipFill>
        <p:spPr>
          <a:xfrm>
            <a:off x="0" y="0"/>
            <a:ext cx="9144001" cy="5143500"/>
          </a:xfrm>
          <a:prstGeom prst="rect">
            <a:avLst/>
          </a:prstGeom>
          <a:noFill/>
          <a:ln>
            <a:noFill/>
          </a:ln>
        </p:spPr>
      </p:pic>
      <p:sp>
        <p:nvSpPr>
          <p:cNvPr id="195" name="Google Shape;195;p32"/>
          <p:cNvSpPr txBox="1"/>
          <p:nvPr/>
        </p:nvSpPr>
        <p:spPr>
          <a:xfrm>
            <a:off x="1560125" y="65700"/>
            <a:ext cx="2759100" cy="103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Helvetica Neue"/>
                <a:ea typeface="Helvetica Neue"/>
                <a:cs typeface="Helvetica Neue"/>
                <a:sym typeface="Helvetica Neue"/>
              </a:rPr>
              <a:t>Grimm’s </a:t>
            </a:r>
            <a:r>
              <a:rPr b="1" i="1" lang="en" sz="1800">
                <a:solidFill>
                  <a:schemeClr val="dk1"/>
                </a:solidFill>
                <a:latin typeface="Helvetica Neue"/>
                <a:ea typeface="Helvetica Neue"/>
                <a:cs typeface="Helvetica Neue"/>
                <a:sym typeface="Helvetica Neue"/>
              </a:rPr>
              <a:t>Snow White</a:t>
            </a:r>
            <a:endParaRPr b="1" sz="1800">
              <a:solidFill>
                <a:schemeClr val="dk2"/>
              </a:solidFill>
              <a:latin typeface="Helvetica Neue"/>
              <a:ea typeface="Helvetica Neue"/>
              <a:cs typeface="Helvetica Neue"/>
              <a:sym typeface="Helvetica Neue"/>
            </a:endParaRPr>
          </a:p>
        </p:txBody>
      </p:sp>
      <p:sp>
        <p:nvSpPr>
          <p:cNvPr id="196" name="Google Shape;196;p32"/>
          <p:cNvSpPr txBox="1"/>
          <p:nvPr/>
        </p:nvSpPr>
        <p:spPr>
          <a:xfrm>
            <a:off x="4795350" y="65700"/>
            <a:ext cx="3514500" cy="103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Helvetica Neue"/>
                <a:ea typeface="Helvetica Neue"/>
                <a:cs typeface="Helvetica Neue"/>
                <a:sym typeface="Helvetica Neue"/>
              </a:rPr>
              <a:t>Gaiman’s </a:t>
            </a:r>
            <a:r>
              <a:rPr b="1" i="1" lang="en" sz="1800">
                <a:solidFill>
                  <a:schemeClr val="dk1"/>
                </a:solidFill>
                <a:latin typeface="Helvetica Neue"/>
                <a:ea typeface="Helvetica Neue"/>
                <a:cs typeface="Helvetica Neue"/>
                <a:sym typeface="Helvetica Neue"/>
              </a:rPr>
              <a:t>Snow, Glass, Apples</a:t>
            </a:r>
            <a:endParaRPr b="1" sz="1800">
              <a:solidFill>
                <a:schemeClr val="dk2"/>
              </a:solidFill>
              <a:latin typeface="Helvetica Neue"/>
              <a:ea typeface="Helvetica Neue"/>
              <a:cs typeface="Helvetica Neue"/>
              <a:sym typeface="Helvetica Neue"/>
            </a:endParaRPr>
          </a:p>
        </p:txBody>
      </p:sp>
      <p:sp>
        <p:nvSpPr>
          <p:cNvPr id="197" name="Google Shape;197;p32"/>
          <p:cNvSpPr txBox="1"/>
          <p:nvPr/>
        </p:nvSpPr>
        <p:spPr>
          <a:xfrm>
            <a:off x="760000" y="1100400"/>
            <a:ext cx="2463900" cy="103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Helvetica Neue Light"/>
                <a:ea typeface="Helvetica Neue Light"/>
                <a:cs typeface="Helvetica Neue Light"/>
                <a:sym typeface="Helvetica Neue Light"/>
              </a:rPr>
              <a:t>Perspective: Third-person omniscient, traditional fairy-tale narrator.</a:t>
            </a:r>
            <a:endParaRPr sz="900">
              <a:solidFill>
                <a:schemeClr val="dk1"/>
              </a:solidFill>
              <a:latin typeface="Helvetica Neue Light"/>
              <a:ea typeface="Helvetica Neue Light"/>
              <a:cs typeface="Helvetica Neue Light"/>
              <a:sym typeface="Helvetica Neue Light"/>
            </a:endParaRPr>
          </a:p>
          <a:p>
            <a:pPr indent="0" lvl="0" marL="0" rtl="0" algn="ctr">
              <a:lnSpc>
                <a:spcPct val="115000"/>
              </a:lnSpc>
              <a:spcBef>
                <a:spcPts val="1200"/>
              </a:spcBef>
              <a:spcAft>
                <a:spcPts val="0"/>
              </a:spcAft>
              <a:buNone/>
            </a:pPr>
            <a:r>
              <a:rPr lang="en" sz="900">
                <a:solidFill>
                  <a:schemeClr val="dk1"/>
                </a:solidFill>
                <a:latin typeface="Helvetica Neue Light"/>
                <a:ea typeface="Helvetica Neue Light"/>
                <a:cs typeface="Helvetica Neue Light"/>
                <a:sym typeface="Helvetica Neue Light"/>
              </a:rPr>
              <a:t>Plot: Classic structure — good vs. evil, innocence rewarded, villain punished.</a:t>
            </a:r>
            <a:endParaRPr sz="900">
              <a:solidFill>
                <a:schemeClr val="dk1"/>
              </a:solidFill>
              <a:latin typeface="Helvetica Neue Light"/>
              <a:ea typeface="Helvetica Neue Light"/>
              <a:cs typeface="Helvetica Neue Light"/>
              <a:sym typeface="Helvetica Neue Light"/>
            </a:endParaRPr>
          </a:p>
          <a:p>
            <a:pPr indent="0" lvl="0" marL="0" rtl="0" algn="ctr">
              <a:lnSpc>
                <a:spcPct val="115000"/>
              </a:lnSpc>
              <a:spcBef>
                <a:spcPts val="1200"/>
              </a:spcBef>
              <a:spcAft>
                <a:spcPts val="0"/>
              </a:spcAft>
              <a:buNone/>
            </a:pPr>
            <a:r>
              <a:rPr lang="en" sz="900">
                <a:solidFill>
                  <a:schemeClr val="dk1"/>
                </a:solidFill>
                <a:latin typeface="Helvetica Neue Light"/>
                <a:ea typeface="Helvetica Neue Light"/>
                <a:cs typeface="Helvetica Neue Light"/>
                <a:sym typeface="Helvetica Neue Light"/>
              </a:rPr>
              <a:t>Snow White is innocent, passive, and victimized.</a:t>
            </a:r>
            <a:endParaRPr sz="900">
              <a:solidFill>
                <a:schemeClr val="dk1"/>
              </a:solidFill>
              <a:latin typeface="Helvetica Neue Light"/>
              <a:ea typeface="Helvetica Neue Light"/>
              <a:cs typeface="Helvetica Neue Light"/>
              <a:sym typeface="Helvetica Neue Light"/>
            </a:endParaRPr>
          </a:p>
          <a:p>
            <a:pPr indent="0" lvl="0" marL="0" rtl="0" algn="ctr">
              <a:lnSpc>
                <a:spcPct val="115000"/>
              </a:lnSpc>
              <a:spcBef>
                <a:spcPts val="1200"/>
              </a:spcBef>
              <a:spcAft>
                <a:spcPts val="0"/>
              </a:spcAft>
              <a:buNone/>
            </a:pPr>
            <a:r>
              <a:rPr lang="en" sz="900">
                <a:solidFill>
                  <a:schemeClr val="dk1"/>
                </a:solidFill>
                <a:latin typeface="Helvetica Neue Light"/>
                <a:ea typeface="Helvetica Neue Light"/>
                <a:cs typeface="Helvetica Neue Light"/>
                <a:sym typeface="Helvetica Neue Light"/>
              </a:rPr>
              <a:t>The Queen is unequivocally evil, driven by jealousy.</a:t>
            </a:r>
            <a:endParaRPr sz="900">
              <a:solidFill>
                <a:schemeClr val="dk1"/>
              </a:solidFill>
              <a:latin typeface="Helvetica Neue Light"/>
              <a:ea typeface="Helvetica Neue Light"/>
              <a:cs typeface="Helvetica Neue Light"/>
              <a:sym typeface="Helvetica Neue Light"/>
            </a:endParaRPr>
          </a:p>
          <a:p>
            <a:pPr indent="0" lvl="0" marL="0" rtl="0" algn="ctr">
              <a:lnSpc>
                <a:spcPct val="115000"/>
              </a:lnSpc>
              <a:spcBef>
                <a:spcPts val="1200"/>
              </a:spcBef>
              <a:spcAft>
                <a:spcPts val="0"/>
              </a:spcAft>
              <a:buNone/>
            </a:pPr>
            <a:r>
              <a:rPr lang="en" sz="900">
                <a:solidFill>
                  <a:schemeClr val="dk1"/>
                </a:solidFill>
                <a:latin typeface="Helvetica Neue Light"/>
                <a:ea typeface="Helvetica Neue Light"/>
                <a:cs typeface="Helvetica Neue Light"/>
                <a:sym typeface="Helvetica Neue Light"/>
              </a:rPr>
              <a:t>Moral simplicity: virtue triumphs over wickedness.</a:t>
            </a:r>
            <a:endParaRPr sz="900">
              <a:solidFill>
                <a:schemeClr val="dk1"/>
              </a:solidFill>
              <a:latin typeface="Helvetica Neue Light"/>
              <a:ea typeface="Helvetica Neue Light"/>
              <a:cs typeface="Helvetica Neue Light"/>
              <a:sym typeface="Helvetica Neue Light"/>
            </a:endParaRPr>
          </a:p>
          <a:p>
            <a:pPr indent="0" lvl="0" marL="0" rtl="0" algn="ctr">
              <a:lnSpc>
                <a:spcPct val="115000"/>
              </a:lnSpc>
              <a:spcBef>
                <a:spcPts val="1200"/>
              </a:spcBef>
              <a:spcAft>
                <a:spcPts val="0"/>
              </a:spcAft>
              <a:buNone/>
            </a:pPr>
            <a:r>
              <a:rPr lang="en" sz="900">
                <a:solidFill>
                  <a:schemeClr val="dk1"/>
                </a:solidFill>
                <a:latin typeface="Helvetica Neue Light"/>
                <a:ea typeface="Helvetica Neue Light"/>
                <a:cs typeface="Helvetica Neue Light"/>
                <a:sym typeface="Helvetica Neue Light"/>
              </a:rPr>
              <a:t>Ending: Snow White lives “happily ever after” with the prince; Queen dies gruesomely.</a:t>
            </a:r>
            <a:br>
              <a:rPr lang="en" sz="1000">
                <a:solidFill>
                  <a:schemeClr val="dk1"/>
                </a:solidFill>
                <a:latin typeface="Helvetica Neue Light"/>
                <a:ea typeface="Helvetica Neue Light"/>
                <a:cs typeface="Helvetica Neue Light"/>
                <a:sym typeface="Helvetica Neue Light"/>
              </a:rPr>
            </a:br>
            <a:endParaRPr sz="10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ctr">
              <a:spcBef>
                <a:spcPts val="0"/>
              </a:spcBef>
              <a:spcAft>
                <a:spcPts val="0"/>
              </a:spcAft>
              <a:buNone/>
            </a:pPr>
            <a:r>
              <a:t/>
            </a:r>
            <a:endParaRPr sz="1100">
              <a:solidFill>
                <a:schemeClr val="dk1"/>
              </a:solidFill>
            </a:endParaRPr>
          </a:p>
        </p:txBody>
      </p:sp>
      <p:sp>
        <p:nvSpPr>
          <p:cNvPr id="198" name="Google Shape;198;p32"/>
          <p:cNvSpPr txBox="1"/>
          <p:nvPr/>
        </p:nvSpPr>
        <p:spPr>
          <a:xfrm>
            <a:off x="5957525" y="1190000"/>
            <a:ext cx="2463900" cy="103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dk1"/>
                </a:solidFill>
                <a:latin typeface="Helvetica Neue Light"/>
                <a:ea typeface="Helvetica Neue Light"/>
                <a:cs typeface="Helvetica Neue Light"/>
                <a:sym typeface="Helvetica Neue Light"/>
              </a:rPr>
              <a:t>Perspective: First-person narration by the Queen, an unreliable narrator.</a:t>
            </a:r>
            <a:br>
              <a:rPr lang="en" sz="900">
                <a:solidFill>
                  <a:schemeClr val="dk1"/>
                </a:solidFill>
                <a:latin typeface="Helvetica Neue Light"/>
                <a:ea typeface="Helvetica Neue Light"/>
                <a:cs typeface="Helvetica Neue Light"/>
                <a:sym typeface="Helvetica Neue Light"/>
              </a:rPr>
            </a:br>
            <a:endParaRPr sz="900">
              <a:solidFill>
                <a:schemeClr val="dk1"/>
              </a:solidFill>
              <a:latin typeface="Helvetica Neue Light"/>
              <a:ea typeface="Helvetica Neue Light"/>
              <a:cs typeface="Helvetica Neue Light"/>
              <a:sym typeface="Helvetica Neue Light"/>
            </a:endParaRPr>
          </a:p>
          <a:p>
            <a:pPr indent="0" lvl="0" marL="0" rtl="0" algn="ctr">
              <a:spcBef>
                <a:spcPts val="0"/>
              </a:spcBef>
              <a:spcAft>
                <a:spcPts val="0"/>
              </a:spcAft>
              <a:buClr>
                <a:schemeClr val="dk1"/>
              </a:buClr>
              <a:buSzPts val="1100"/>
              <a:buFont typeface="Arial"/>
              <a:buNone/>
            </a:pPr>
            <a:r>
              <a:rPr lang="en" sz="900">
                <a:solidFill>
                  <a:schemeClr val="dk1"/>
                </a:solidFill>
                <a:latin typeface="Helvetica Neue Light"/>
                <a:ea typeface="Helvetica Neue Light"/>
                <a:cs typeface="Helvetica Neue Light"/>
                <a:sym typeface="Helvetica Neue Light"/>
              </a:rPr>
              <a:t>Plot: Retelling inverts roles — the Queen is sympathetic, Snow White monstrous.</a:t>
            </a:r>
            <a:br>
              <a:rPr lang="en" sz="900">
                <a:solidFill>
                  <a:schemeClr val="dk1"/>
                </a:solidFill>
                <a:latin typeface="Helvetica Neue Light"/>
                <a:ea typeface="Helvetica Neue Light"/>
                <a:cs typeface="Helvetica Neue Light"/>
                <a:sym typeface="Helvetica Neue Light"/>
              </a:rPr>
            </a:br>
            <a:endParaRPr sz="900">
              <a:solidFill>
                <a:schemeClr val="dk1"/>
              </a:solidFill>
              <a:latin typeface="Helvetica Neue Light"/>
              <a:ea typeface="Helvetica Neue Light"/>
              <a:cs typeface="Helvetica Neue Light"/>
              <a:sym typeface="Helvetica Neue Light"/>
            </a:endParaRPr>
          </a:p>
          <a:p>
            <a:pPr indent="0" lvl="0" marL="0" rtl="0" algn="ctr">
              <a:spcBef>
                <a:spcPts val="0"/>
              </a:spcBef>
              <a:spcAft>
                <a:spcPts val="0"/>
              </a:spcAft>
              <a:buClr>
                <a:schemeClr val="dk1"/>
              </a:buClr>
              <a:buSzPts val="1100"/>
              <a:buFont typeface="Arial"/>
              <a:buNone/>
            </a:pPr>
            <a:r>
              <a:rPr lang="en" sz="900">
                <a:solidFill>
                  <a:schemeClr val="dk1"/>
                </a:solidFill>
                <a:latin typeface="Helvetica Neue Light"/>
                <a:ea typeface="Helvetica Neue Light"/>
                <a:cs typeface="Helvetica Neue Light"/>
                <a:sym typeface="Helvetica Neue Light"/>
              </a:rPr>
              <a:t>Snow White is depicted as vampiric, predatory, feeding on others’ blood and life.</a:t>
            </a:r>
            <a:br>
              <a:rPr lang="en" sz="900">
                <a:solidFill>
                  <a:schemeClr val="dk1"/>
                </a:solidFill>
                <a:latin typeface="Helvetica Neue Light"/>
                <a:ea typeface="Helvetica Neue Light"/>
                <a:cs typeface="Helvetica Neue Light"/>
                <a:sym typeface="Helvetica Neue Light"/>
              </a:rPr>
            </a:br>
            <a:endParaRPr sz="900">
              <a:solidFill>
                <a:schemeClr val="dk1"/>
              </a:solidFill>
              <a:latin typeface="Helvetica Neue Light"/>
              <a:ea typeface="Helvetica Neue Light"/>
              <a:cs typeface="Helvetica Neue Light"/>
              <a:sym typeface="Helvetica Neue Light"/>
            </a:endParaRPr>
          </a:p>
          <a:p>
            <a:pPr indent="0" lvl="0" marL="0" rtl="0" algn="ctr">
              <a:spcBef>
                <a:spcPts val="0"/>
              </a:spcBef>
              <a:spcAft>
                <a:spcPts val="0"/>
              </a:spcAft>
              <a:buClr>
                <a:schemeClr val="dk1"/>
              </a:buClr>
              <a:buSzPts val="1100"/>
              <a:buFont typeface="Arial"/>
              <a:buNone/>
            </a:pPr>
            <a:r>
              <a:rPr lang="en" sz="900">
                <a:solidFill>
                  <a:schemeClr val="dk1"/>
                </a:solidFill>
                <a:latin typeface="Helvetica Neue Light"/>
                <a:ea typeface="Helvetica Neue Light"/>
                <a:cs typeface="Helvetica Neue Light"/>
                <a:sym typeface="Helvetica Neue Light"/>
              </a:rPr>
              <a:t>The Queen frames her actions as necessary to protect her people.</a:t>
            </a:r>
            <a:br>
              <a:rPr lang="en" sz="900">
                <a:solidFill>
                  <a:schemeClr val="dk1"/>
                </a:solidFill>
                <a:latin typeface="Helvetica Neue Light"/>
                <a:ea typeface="Helvetica Neue Light"/>
                <a:cs typeface="Helvetica Neue Light"/>
                <a:sym typeface="Helvetica Neue Light"/>
              </a:rPr>
            </a:br>
            <a:endParaRPr sz="900">
              <a:solidFill>
                <a:schemeClr val="dk1"/>
              </a:solidFill>
              <a:latin typeface="Helvetica Neue Light"/>
              <a:ea typeface="Helvetica Neue Light"/>
              <a:cs typeface="Helvetica Neue Light"/>
              <a:sym typeface="Helvetica Neue Light"/>
            </a:endParaRPr>
          </a:p>
          <a:p>
            <a:pPr indent="0" lvl="0" marL="0" rtl="0" algn="ctr">
              <a:spcBef>
                <a:spcPts val="0"/>
              </a:spcBef>
              <a:spcAft>
                <a:spcPts val="0"/>
              </a:spcAft>
              <a:buClr>
                <a:schemeClr val="dk1"/>
              </a:buClr>
              <a:buSzPts val="1100"/>
              <a:buFont typeface="Arial"/>
              <a:buNone/>
            </a:pPr>
            <a:r>
              <a:rPr lang="en" sz="900">
                <a:solidFill>
                  <a:schemeClr val="dk1"/>
                </a:solidFill>
                <a:latin typeface="Helvetica Neue Light"/>
                <a:ea typeface="Helvetica Neue Light"/>
                <a:cs typeface="Helvetica Neue Light"/>
                <a:sym typeface="Helvetica Neue Light"/>
              </a:rPr>
              <a:t>Themes of truth vs. lies, unreliable memory, sexuality, and monstrosity.</a:t>
            </a:r>
            <a:br>
              <a:rPr lang="en" sz="900">
                <a:solidFill>
                  <a:schemeClr val="dk1"/>
                </a:solidFill>
                <a:latin typeface="Helvetica Neue Light"/>
                <a:ea typeface="Helvetica Neue Light"/>
                <a:cs typeface="Helvetica Neue Light"/>
                <a:sym typeface="Helvetica Neue Light"/>
              </a:rPr>
            </a:br>
            <a:endParaRPr sz="900">
              <a:solidFill>
                <a:schemeClr val="dk1"/>
              </a:solidFill>
              <a:latin typeface="Helvetica Neue Light"/>
              <a:ea typeface="Helvetica Neue Light"/>
              <a:cs typeface="Helvetica Neue Light"/>
              <a:sym typeface="Helvetica Neue Light"/>
            </a:endParaRPr>
          </a:p>
          <a:p>
            <a:pPr indent="0" lvl="0" marL="0" rtl="0" algn="ctr">
              <a:spcBef>
                <a:spcPts val="0"/>
              </a:spcBef>
              <a:spcAft>
                <a:spcPts val="0"/>
              </a:spcAft>
              <a:buClr>
                <a:schemeClr val="dk1"/>
              </a:buClr>
              <a:buSzPts val="1100"/>
              <a:buFont typeface="Arial"/>
              <a:buNone/>
            </a:pPr>
            <a:r>
              <a:rPr lang="en" sz="900">
                <a:solidFill>
                  <a:schemeClr val="dk1"/>
                </a:solidFill>
                <a:latin typeface="Helvetica Neue Light"/>
                <a:ea typeface="Helvetica Neue Light"/>
                <a:cs typeface="Helvetica Neue Light"/>
                <a:sym typeface="Helvetica Neue Light"/>
              </a:rPr>
              <a:t>Ending: The Queen is burned alive, claiming control of her own story</a:t>
            </a:r>
            <a:endParaRPr sz="900">
              <a:solidFill>
                <a:schemeClr val="dk1"/>
              </a:solidFill>
              <a:latin typeface="Helvetica Neue Light"/>
              <a:ea typeface="Helvetica Neue Light"/>
              <a:cs typeface="Helvetica Neue Light"/>
              <a:sym typeface="Helvetica Neue Light"/>
            </a:endParaRPr>
          </a:p>
          <a:p>
            <a:pPr indent="0" lvl="0" marL="0" rtl="0" algn="ctr">
              <a:spcBef>
                <a:spcPts val="0"/>
              </a:spcBef>
              <a:spcAft>
                <a:spcPts val="0"/>
              </a:spcAft>
              <a:buNone/>
            </a:pPr>
            <a:r>
              <a:t/>
            </a:r>
            <a:endParaRPr sz="800">
              <a:solidFill>
                <a:schemeClr val="dk1"/>
              </a:solidFill>
              <a:latin typeface="Helvetica Neue Light"/>
              <a:ea typeface="Helvetica Neue Light"/>
              <a:cs typeface="Helvetica Neue Light"/>
              <a:sym typeface="Helvetica Neue Light"/>
            </a:endParaRPr>
          </a:p>
        </p:txBody>
      </p:sp>
      <p:sp>
        <p:nvSpPr>
          <p:cNvPr id="199" name="Google Shape;199;p32"/>
          <p:cNvSpPr txBox="1"/>
          <p:nvPr/>
        </p:nvSpPr>
        <p:spPr>
          <a:xfrm>
            <a:off x="3716209" y="1100400"/>
            <a:ext cx="1749000" cy="1034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lang="en" sz="1000">
                <a:solidFill>
                  <a:schemeClr val="dk1"/>
                </a:solidFill>
                <a:latin typeface="Helvetica Neue Light"/>
                <a:ea typeface="Helvetica Neue Light"/>
                <a:cs typeface="Helvetica Neue Light"/>
                <a:sym typeface="Helvetica Neue Light"/>
              </a:rPr>
              <a:t>Both use familiar fairy-tale motifs: mirrors, poisoned apples, huntsman, dwarfs/forest folk, apparent death and revival.</a:t>
            </a:r>
            <a:endParaRPr sz="1000">
              <a:solidFill>
                <a:schemeClr val="dk1"/>
              </a:solidFill>
              <a:latin typeface="Helvetica Neue Light"/>
              <a:ea typeface="Helvetica Neue Light"/>
              <a:cs typeface="Helvetica Neue Light"/>
              <a:sym typeface="Helvetica Neue Light"/>
            </a:endParaRPr>
          </a:p>
          <a:p>
            <a:pPr indent="0" lvl="0" marL="0" rtl="0" algn="ctr">
              <a:lnSpc>
                <a:spcPct val="115000"/>
              </a:lnSpc>
              <a:spcBef>
                <a:spcPts val="1200"/>
              </a:spcBef>
              <a:spcAft>
                <a:spcPts val="0"/>
              </a:spcAft>
              <a:buNone/>
            </a:pPr>
            <a:r>
              <a:rPr lang="en" sz="1000">
                <a:solidFill>
                  <a:schemeClr val="dk1"/>
                </a:solidFill>
                <a:latin typeface="Helvetica Neue Light"/>
                <a:ea typeface="Helvetica Neue Light"/>
                <a:cs typeface="Helvetica Neue Light"/>
                <a:sym typeface="Helvetica Neue Light"/>
              </a:rPr>
              <a:t>Themes of beauty, envy, power, and survival are central.</a:t>
            </a:r>
            <a:endParaRPr sz="1000">
              <a:solidFill>
                <a:schemeClr val="dk1"/>
              </a:solidFill>
              <a:latin typeface="Helvetica Neue Light"/>
              <a:ea typeface="Helvetica Neue Light"/>
              <a:cs typeface="Helvetica Neue Light"/>
              <a:sym typeface="Helvetica Neue Light"/>
            </a:endParaRPr>
          </a:p>
          <a:p>
            <a:pPr indent="0" lvl="0" marL="0" rtl="0" algn="ctr">
              <a:lnSpc>
                <a:spcPct val="115000"/>
              </a:lnSpc>
              <a:spcBef>
                <a:spcPts val="1200"/>
              </a:spcBef>
              <a:spcAft>
                <a:spcPts val="0"/>
              </a:spcAft>
              <a:buNone/>
            </a:pPr>
            <a:r>
              <a:rPr lang="en" sz="1000">
                <a:solidFill>
                  <a:schemeClr val="dk1"/>
                </a:solidFill>
                <a:latin typeface="Helvetica Neue Light"/>
                <a:ea typeface="Helvetica Neue Light"/>
                <a:cs typeface="Helvetica Neue Light"/>
                <a:sym typeface="Helvetica Neue Light"/>
              </a:rPr>
              <a:t>The Queen and Snow White remain locked in a battle for dominance and identity.</a:t>
            </a:r>
            <a:endParaRPr sz="1000">
              <a:solidFill>
                <a:schemeClr val="dk1"/>
              </a:solidFill>
              <a:latin typeface="Helvetica Neue Light"/>
              <a:ea typeface="Helvetica Neue Light"/>
              <a:cs typeface="Helvetica Neue Light"/>
              <a:sym typeface="Helvetica Neue Light"/>
            </a:endParaRPr>
          </a:p>
          <a:p>
            <a:pPr indent="0" lvl="0" marL="0" rtl="0" algn="ctr">
              <a:lnSpc>
                <a:spcPct val="115000"/>
              </a:lnSpc>
              <a:spcBef>
                <a:spcPts val="1200"/>
              </a:spcBef>
              <a:spcAft>
                <a:spcPts val="0"/>
              </a:spcAft>
              <a:buNone/>
            </a:pPr>
            <a:r>
              <a:rPr lang="en" sz="1000">
                <a:solidFill>
                  <a:schemeClr val="dk1"/>
                </a:solidFill>
                <a:latin typeface="Helvetica Neue Light"/>
                <a:ea typeface="Helvetica Neue Light"/>
                <a:cs typeface="Helvetica Neue Light"/>
                <a:sym typeface="Helvetica Neue Light"/>
              </a:rPr>
              <a:t>Both stories end with the Queen destroyed and Snow White alive.</a:t>
            </a:r>
            <a:br>
              <a:rPr lang="en">
                <a:solidFill>
                  <a:schemeClr val="dk1"/>
                </a:solidFill>
              </a:rPr>
            </a:br>
            <a:endParaRPr>
              <a:solidFill>
                <a:schemeClr val="dk1"/>
              </a:solidFill>
            </a:endParaRPr>
          </a:p>
          <a:p>
            <a:pPr indent="0" lvl="0" marL="0" rtl="0" algn="ctr">
              <a:spcBef>
                <a:spcPts val="1200"/>
              </a:spcBef>
              <a:spcAft>
                <a:spcPts val="0"/>
              </a:spcAft>
              <a:buNone/>
            </a:pPr>
            <a:r>
              <a:t/>
            </a:r>
            <a:endParaRPr sz="900">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203" name="Shape 203"/>
        <p:cNvGrpSpPr/>
        <p:nvPr/>
      </p:nvGrpSpPr>
      <p:grpSpPr>
        <a:xfrm>
          <a:off x="0" y="0"/>
          <a:ext cx="0" cy="0"/>
          <a:chOff x="0" y="0"/>
          <a:chExt cx="0" cy="0"/>
        </a:xfrm>
      </p:grpSpPr>
      <p:sp>
        <p:nvSpPr>
          <p:cNvPr id="204" name="Google Shape;204;p33"/>
          <p:cNvSpPr txBox="1"/>
          <p:nvPr>
            <p:ph type="title"/>
          </p:nvPr>
        </p:nvSpPr>
        <p:spPr>
          <a:xfrm>
            <a:off x="311700" y="9017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320">
                <a:solidFill>
                  <a:srgbClr val="741B47"/>
                </a:solidFill>
                <a:latin typeface="Helvetica Neue"/>
                <a:ea typeface="Helvetica Neue"/>
                <a:cs typeface="Helvetica Neue"/>
                <a:sym typeface="Helvetica Neue"/>
              </a:rPr>
              <a:t>Creative Writing Practice!</a:t>
            </a:r>
            <a:endParaRPr b="1" sz="3320">
              <a:solidFill>
                <a:srgbClr val="741B47"/>
              </a:solidFill>
              <a:latin typeface="Helvetica Neue"/>
              <a:ea typeface="Helvetica Neue"/>
              <a:cs typeface="Helvetica Neue"/>
              <a:sym typeface="Helvetica Neue"/>
            </a:endParaRPr>
          </a:p>
        </p:txBody>
      </p:sp>
      <p:sp>
        <p:nvSpPr>
          <p:cNvPr id="205" name="Google Shape;205;p33"/>
          <p:cNvSpPr txBox="1"/>
          <p:nvPr>
            <p:ph idx="1" type="body"/>
          </p:nvPr>
        </p:nvSpPr>
        <p:spPr>
          <a:xfrm>
            <a:off x="311700" y="847575"/>
            <a:ext cx="8520600" cy="3112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2100">
                <a:solidFill>
                  <a:srgbClr val="4C1130"/>
                </a:solidFill>
                <a:latin typeface="Helvetica Neue Light"/>
                <a:ea typeface="Helvetica Neue Light"/>
                <a:cs typeface="Helvetica Neue Light"/>
                <a:sym typeface="Helvetica Neue Light"/>
              </a:rPr>
              <a:t>Choose a well-known fairy tale (e.g. </a:t>
            </a:r>
            <a:r>
              <a:rPr i="1" lang="en" sz="2100">
                <a:solidFill>
                  <a:srgbClr val="4C1130"/>
                </a:solidFill>
                <a:latin typeface="Helvetica Neue Light"/>
                <a:ea typeface="Helvetica Neue Light"/>
                <a:cs typeface="Helvetica Neue Light"/>
                <a:sym typeface="Helvetica Neue Light"/>
              </a:rPr>
              <a:t>Cinderella, Little Red Riding Hood, Beauty and the Beast, Snow White,</a:t>
            </a:r>
            <a:r>
              <a:rPr lang="en" sz="2100">
                <a:solidFill>
                  <a:srgbClr val="4C1130"/>
                </a:solidFill>
                <a:latin typeface="Helvetica Neue Light"/>
                <a:ea typeface="Helvetica Neue Light"/>
                <a:cs typeface="Helvetica Neue Light"/>
                <a:sym typeface="Helvetica Neue Light"/>
              </a:rPr>
              <a:t> etc.). Retell the story from the first-person point of view of a character who is not usually the narrator. You may choose:</a:t>
            </a:r>
            <a:endParaRPr sz="2100">
              <a:solidFill>
                <a:srgbClr val="4C1130"/>
              </a:solidFill>
              <a:latin typeface="Helvetica Neue Light"/>
              <a:ea typeface="Helvetica Neue Light"/>
              <a:cs typeface="Helvetica Neue Light"/>
              <a:sym typeface="Helvetica Neue Light"/>
            </a:endParaRPr>
          </a:p>
          <a:p>
            <a:pPr indent="-361950" lvl="0" marL="457200" rtl="0" algn="l">
              <a:spcBef>
                <a:spcPts val="1200"/>
              </a:spcBef>
              <a:spcAft>
                <a:spcPts val="0"/>
              </a:spcAft>
              <a:buClr>
                <a:srgbClr val="4C1130"/>
              </a:buClr>
              <a:buSzPts val="2100"/>
              <a:buFont typeface="Helvetica Neue Light"/>
              <a:buChar char="●"/>
            </a:pPr>
            <a:r>
              <a:rPr lang="en" sz="2100">
                <a:solidFill>
                  <a:srgbClr val="4C1130"/>
                </a:solidFill>
                <a:latin typeface="Helvetica Neue Light"/>
                <a:ea typeface="Helvetica Neue Light"/>
                <a:cs typeface="Helvetica Neue Light"/>
                <a:sym typeface="Helvetica Neue Light"/>
              </a:rPr>
              <a:t>A villain (the wolf, the witch, the stepmother)</a:t>
            </a:r>
            <a:br>
              <a:rPr lang="en" sz="2100">
                <a:solidFill>
                  <a:srgbClr val="4C1130"/>
                </a:solidFill>
                <a:latin typeface="Helvetica Neue Light"/>
                <a:ea typeface="Helvetica Neue Light"/>
                <a:cs typeface="Helvetica Neue Light"/>
                <a:sym typeface="Helvetica Neue Light"/>
              </a:rPr>
            </a:br>
            <a:endParaRPr sz="2100">
              <a:solidFill>
                <a:srgbClr val="4C1130"/>
              </a:solidFill>
              <a:latin typeface="Helvetica Neue Light"/>
              <a:ea typeface="Helvetica Neue Light"/>
              <a:cs typeface="Helvetica Neue Light"/>
              <a:sym typeface="Helvetica Neue Light"/>
            </a:endParaRPr>
          </a:p>
          <a:p>
            <a:pPr indent="-361950" lvl="0" marL="457200" rtl="0" algn="l">
              <a:spcBef>
                <a:spcPts val="0"/>
              </a:spcBef>
              <a:spcAft>
                <a:spcPts val="0"/>
              </a:spcAft>
              <a:buClr>
                <a:srgbClr val="4C1130"/>
              </a:buClr>
              <a:buSzPts val="2100"/>
              <a:buFont typeface="Helvetica Neue Light"/>
              <a:buChar char="●"/>
            </a:pPr>
            <a:r>
              <a:rPr lang="en" sz="2100">
                <a:solidFill>
                  <a:srgbClr val="4C1130"/>
                </a:solidFill>
                <a:latin typeface="Helvetica Neue Light"/>
                <a:ea typeface="Helvetica Neue Light"/>
                <a:cs typeface="Helvetica Neue Light"/>
                <a:sym typeface="Helvetica Neue Light"/>
              </a:rPr>
              <a:t>A side character (a huntsman, a servant, the fairy godmother)</a:t>
            </a:r>
            <a:br>
              <a:rPr lang="en" sz="2100">
                <a:solidFill>
                  <a:srgbClr val="4C1130"/>
                </a:solidFill>
                <a:latin typeface="Helvetica Neue Light"/>
                <a:ea typeface="Helvetica Neue Light"/>
                <a:cs typeface="Helvetica Neue Light"/>
                <a:sym typeface="Helvetica Neue Light"/>
              </a:rPr>
            </a:br>
            <a:endParaRPr sz="2100">
              <a:solidFill>
                <a:srgbClr val="4C1130"/>
              </a:solidFill>
              <a:latin typeface="Helvetica Neue Light"/>
              <a:ea typeface="Helvetica Neue Light"/>
              <a:cs typeface="Helvetica Neue Light"/>
              <a:sym typeface="Helvetica Neue Light"/>
            </a:endParaRPr>
          </a:p>
          <a:p>
            <a:pPr indent="-361950" lvl="0" marL="457200" rtl="0" algn="l">
              <a:spcBef>
                <a:spcPts val="0"/>
              </a:spcBef>
              <a:spcAft>
                <a:spcPts val="0"/>
              </a:spcAft>
              <a:buClr>
                <a:srgbClr val="4C1130"/>
              </a:buClr>
              <a:buSzPts val="2100"/>
              <a:buFont typeface="Helvetica Neue Light"/>
              <a:buChar char="●"/>
            </a:pPr>
            <a:r>
              <a:rPr lang="en" sz="2100">
                <a:solidFill>
                  <a:srgbClr val="4C1130"/>
                </a:solidFill>
                <a:latin typeface="Helvetica Neue Light"/>
                <a:ea typeface="Helvetica Neue Light"/>
                <a:cs typeface="Helvetica Neue Light"/>
                <a:sym typeface="Helvetica Neue Light"/>
              </a:rPr>
              <a:t>Or even an inanimate object (the glass slipper, the mirror, the poisoned apple)</a:t>
            </a:r>
            <a:endParaRPr sz="2800">
              <a:solidFill>
                <a:srgbClr val="4C1130"/>
              </a:solidFill>
              <a:latin typeface="Helvetica Neue Light"/>
              <a:ea typeface="Helvetica Neue Light"/>
              <a:cs typeface="Helvetica Neue Light"/>
              <a:sym typeface="Helvetica Neue 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