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Great Vibes"/>
      <p:regular r:id="rId18"/>
    </p:embeddedFont>
    <p:embeddedFont>
      <p:font typeface="Oswald Light"/>
      <p:regular r:id="rId19"/>
      <p:bold r:id="rId20"/>
    </p:embeddedFont>
    <p:embeddedFont>
      <p:font typeface="Helvetica Neue Light"/>
      <p:regular r:id="rId21"/>
      <p:bold r:id="rId22"/>
      <p:italic r:id="rId23"/>
      <p:boldItalic r:id="rId24"/>
    </p:embeddedFont>
    <p:embeddedFont>
      <p:font typeface="Oswa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Light-bold.fntdata"/><Relationship Id="rId22" Type="http://schemas.openxmlformats.org/officeDocument/2006/relationships/font" Target="fonts/HelveticaNeueLight-bold.fntdata"/><Relationship Id="rId21" Type="http://schemas.openxmlformats.org/officeDocument/2006/relationships/font" Target="fonts/HelveticaNeueLight-regular.fntdata"/><Relationship Id="rId24" Type="http://schemas.openxmlformats.org/officeDocument/2006/relationships/font" Target="fonts/HelveticaNeueLight-boldItalic.fntdata"/><Relationship Id="rId23" Type="http://schemas.openxmlformats.org/officeDocument/2006/relationships/font" Target="fonts/HelveticaNeue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bold.fntdata"/><Relationship Id="rId25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OswaldLight-regular.fntdata"/><Relationship Id="rId18" Type="http://schemas.openxmlformats.org/officeDocument/2006/relationships/font" Target="fonts/GreatVibe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a1103ff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a1103ff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AP English Literature, we go beyond reading for enjoyment. We analyze how authors construct meaning through the </a:t>
            </a:r>
            <a:r>
              <a:rPr b="1" lang="en">
                <a:solidFill>
                  <a:schemeClr val="dk1"/>
                </a:solidFill>
              </a:rPr>
              <a:t>elements of fiction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Character</a:t>
            </a:r>
            <a:r>
              <a:rPr lang="en">
                <a:solidFill>
                  <a:schemeClr val="dk1"/>
                </a:solidFill>
              </a:rPr>
              <a:t> – Not just “who the story is about,” but </a:t>
            </a:r>
            <a:r>
              <a:rPr i="1" lang="en">
                <a:solidFill>
                  <a:schemeClr val="dk1"/>
                </a:solidFill>
              </a:rPr>
              <a:t>how</a:t>
            </a:r>
            <a:r>
              <a:rPr lang="en">
                <a:solidFill>
                  <a:schemeClr val="dk1"/>
                </a:solidFill>
              </a:rPr>
              <a:t> a writer reveals traits, desires, and conflicts. Direct characterization tells us outright; indirect characterization requires us to interpret actions, dialogue, and others’ responses.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Setting</a:t>
            </a:r>
            <a:r>
              <a:rPr lang="en">
                <a:solidFill>
                  <a:schemeClr val="dk1"/>
                </a:solidFill>
              </a:rPr>
              <a:t> – More than a backdrop. It can create mood, symbolize larger ideas, or influence a character’s choices. A crumbling house, a busy street, or a battlefield all change the way we understand a story.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Plot</a:t>
            </a:r>
            <a:r>
              <a:rPr lang="en">
                <a:solidFill>
                  <a:schemeClr val="dk1"/>
                </a:solidFill>
              </a:rPr>
              <a:t> – The arrangement of events, from conflict to resolution. But in AP Literature, we pay attention to how the </a:t>
            </a:r>
            <a:r>
              <a:rPr i="1" lang="en">
                <a:solidFill>
                  <a:schemeClr val="dk1"/>
                </a:solidFill>
              </a:rPr>
              <a:t>structure</a:t>
            </a:r>
            <a:r>
              <a:rPr lang="en">
                <a:solidFill>
                  <a:schemeClr val="dk1"/>
                </a:solidFill>
              </a:rPr>
              <a:t> of the plot (flashbacks, nonlinear timelines, withheld information) creates meaning.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Narrative Perspective (Point of View)</a:t>
            </a:r>
            <a:r>
              <a:rPr lang="en">
                <a:solidFill>
                  <a:schemeClr val="dk1"/>
                </a:solidFill>
              </a:rPr>
              <a:t> – The lens through which the story is told. Who speaks? Whose thoughts do we hear? What is left out? Choices in perspective shape tone, reliability, and reader interpretation.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elements are never accidental: authors use them deliberately to shape </a:t>
            </a:r>
            <a:r>
              <a:rPr b="1" lang="en">
                <a:solidFill>
                  <a:schemeClr val="dk1"/>
                </a:solidFill>
              </a:rPr>
              <a:t>theme, symbolism, and the reader’s emotional response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a1103ff0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a1103ff0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Quick Activity: The “What If” Test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To demonstrate that each element changes the </a:t>
            </a:r>
            <a:r>
              <a:rPr i="1" lang="en">
                <a:solidFill>
                  <a:schemeClr val="dk1"/>
                </a:solidFill>
              </a:rPr>
              <a:t>meaning</a:t>
            </a:r>
            <a:r>
              <a:rPr lang="en">
                <a:solidFill>
                  <a:schemeClr val="dk1"/>
                </a:solidFill>
              </a:rPr>
              <a:t> of a story.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Instructions: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Write this simple scenario on the board: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</a:t>
            </a:r>
            <a:r>
              <a:rPr i="1" lang="en">
                <a:solidFill>
                  <a:schemeClr val="dk1"/>
                </a:solidFill>
              </a:rPr>
              <a:t>“A woman sits alone in a room when someone knocks at the door.”</a:t>
            </a:r>
            <a:br>
              <a:rPr i="1" lang="en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Ask students, in groups of 2–3, to change </a:t>
            </a:r>
            <a:r>
              <a:rPr b="1" lang="en">
                <a:solidFill>
                  <a:schemeClr val="dk1"/>
                </a:solidFill>
              </a:rPr>
              <a:t>one element</a:t>
            </a:r>
            <a:r>
              <a:rPr lang="en">
                <a:solidFill>
                  <a:schemeClr val="dk1"/>
                </a:solidFill>
              </a:rPr>
              <a:t> of fiction and briefly explain how it alters the story’s meaning: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Character:</a:t>
            </a:r>
            <a:r>
              <a:rPr lang="en">
                <a:solidFill>
                  <a:schemeClr val="dk1"/>
                </a:solidFill>
              </a:rPr>
              <a:t> Who is the woman? A queen? A child? A widow? How does her identity change the stakes?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Setting:</a:t>
            </a:r>
            <a:r>
              <a:rPr lang="en">
                <a:solidFill>
                  <a:schemeClr val="dk1"/>
                </a:solidFill>
              </a:rPr>
              <a:t> Where is the room? A prison cell? A cottage in the woods? A hospital? How does the setting alter mood or tension?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Plot:</a:t>
            </a:r>
            <a:r>
              <a:rPr lang="en">
                <a:solidFill>
                  <a:schemeClr val="dk1"/>
                </a:solidFill>
              </a:rPr>
              <a:t> What happens after the knock? Does someone enter? Does no one appear? Is the knock repeated? Each option changes the story’s direction.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>
                <a:solidFill>
                  <a:schemeClr val="dk1"/>
                </a:solidFill>
              </a:rPr>
              <a:t>Narrative Perspective:</a:t>
            </a:r>
            <a:r>
              <a:rPr lang="en">
                <a:solidFill>
                  <a:schemeClr val="dk1"/>
                </a:solidFill>
              </a:rPr>
              <a:t> Who is telling this? The woman herself? An omniscient narrator? The person knocking? Each changes reliability and emphasis.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Groups share one change aloud. As a class, discuss how small shifts in elements change </a:t>
            </a:r>
            <a:r>
              <a:rPr i="1" lang="en">
                <a:solidFill>
                  <a:schemeClr val="dk1"/>
                </a:solidFill>
              </a:rPr>
              <a:t>not just the story</a:t>
            </a:r>
            <a:r>
              <a:rPr lang="en">
                <a:solidFill>
                  <a:schemeClr val="dk1"/>
                </a:solidFill>
              </a:rPr>
              <a:t>, but its possible </a:t>
            </a:r>
            <a:r>
              <a:rPr b="1" lang="en">
                <a:solidFill>
                  <a:schemeClr val="dk1"/>
                </a:solidFill>
              </a:rPr>
              <a:t>themes and interpretations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a1103ff0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a1103ff0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a1103ff0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a1103ff0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a1103ff0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a1103ff0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1103ff0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a1103ff0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Direct - The </a:t>
            </a:r>
            <a:r>
              <a:rPr lang="en"/>
              <a:t>light</a:t>
            </a:r>
            <a:r>
              <a:rPr lang="en"/>
              <a:t> seemed to shine down upon him as he walked in the room, asif they were blinded, the women began to swoon at the </a:t>
            </a:r>
            <a:r>
              <a:rPr lang="en"/>
              <a:t>sight</a:t>
            </a:r>
            <a:r>
              <a:rPr lang="en"/>
              <a:t> of him. He was an example of propriety, greeting each one asif it were a normal reactition, though for him perhaps, it was. </a:t>
            </a:r>
            <a:br>
              <a:rPr lang="en"/>
            </a:br>
            <a:br>
              <a:rPr lang="en"/>
            </a:br>
            <a:r>
              <a:rPr lang="en"/>
              <a:t>A quick little quiz activity to see if students understand the difference between direct and indirect characterization.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a1103ff0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a1103ff0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Indirect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a1103ff0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a1103ff0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Indirect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a1103ff0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a1103ff0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Direct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a99e6cf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a99e6cf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a99e6cf2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a99e6cf2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Historical Context for </a:t>
            </a:r>
            <a:r>
              <a:rPr b="1" i="1" lang="en" sz="1300">
                <a:solidFill>
                  <a:schemeClr val="dk1"/>
                </a:solidFill>
              </a:rPr>
              <a:t>The Story of an Hour</a:t>
            </a:r>
            <a:endParaRPr b="1" i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Time period:</a:t>
            </a:r>
            <a:r>
              <a:rPr lang="en">
                <a:solidFill>
                  <a:schemeClr val="dk1"/>
                </a:solidFill>
              </a:rPr>
              <a:t> 1890s America, late Victorian era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Social expectations: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Women defined by domesticity, marriage, motherhood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No right to vote yet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Limited legal rights over property and finances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Divorce was rare and heavily stigmatized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Chopin’s boldness: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Wrote about women’s private thoughts and inner conflicts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Characters longed for freedom and independence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Louise Mallard (</a:t>
            </a:r>
            <a:r>
              <a:rPr i="1" lang="en">
                <a:solidFill>
                  <a:schemeClr val="dk1"/>
                </a:solidFill>
              </a:rPr>
              <a:t>The Story of an Hour</a:t>
            </a:r>
            <a:r>
              <a:rPr lang="en">
                <a:solidFill>
                  <a:schemeClr val="dk1"/>
                </a:solidFill>
              </a:rPr>
              <a:t>) feels grief </a:t>
            </a:r>
            <a:r>
              <a:rPr b="1" lang="en">
                <a:solidFill>
                  <a:schemeClr val="dk1"/>
                </a:solidFill>
              </a:rPr>
              <a:t>and</a:t>
            </a:r>
            <a:r>
              <a:rPr lang="en">
                <a:solidFill>
                  <a:schemeClr val="dk1"/>
                </a:solidFill>
              </a:rPr>
              <a:t> liberation when told her husband has died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Why controversial: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Challenged the ideal of marriage as sacred and fulfilling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Suggested that domestic duty could feel like confinement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The Awakening</a:t>
            </a:r>
            <a:r>
              <a:rPr lang="en">
                <a:solidFill>
                  <a:schemeClr val="dk1"/>
                </a:solidFill>
              </a:rPr>
              <a:t> (1899) condemned as “immoral” and “dangerous”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Legacy today: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Seen as a pioneer of feminist literature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Gave honest voice to women’s experiences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Themes of identity, freedom, and independence remain relevant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48675" y="1672825"/>
            <a:ext cx="8302200" cy="237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040">
                <a:solidFill>
                  <a:schemeClr val="accent4"/>
                </a:solidFill>
                <a:latin typeface="Great Vibes"/>
                <a:ea typeface="Great Vibes"/>
                <a:cs typeface="Great Vibes"/>
                <a:sym typeface="Great Vibes"/>
              </a:rPr>
              <a:t>Elements of Fiction</a:t>
            </a:r>
            <a:endParaRPr sz="15040">
              <a:solidFill>
                <a:schemeClr val="accent4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210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CE5CD"/>
                </a:solidFill>
                <a:latin typeface="Oswald Light"/>
                <a:ea typeface="Oswald Light"/>
                <a:cs typeface="Oswald Light"/>
                <a:sym typeface="Oswald Light"/>
              </a:rPr>
              <a:t>Unit</a:t>
            </a:r>
            <a:r>
              <a:rPr lang="en" sz="3000">
                <a:solidFill>
                  <a:srgbClr val="FCE5CD"/>
                </a:solidFill>
                <a:latin typeface="Oswald Light"/>
                <a:ea typeface="Oswald Light"/>
                <a:cs typeface="Oswald Light"/>
                <a:sym typeface="Oswald Light"/>
              </a:rPr>
              <a:t> 1: Introduction to AP English Literature and Composition</a:t>
            </a:r>
            <a:endParaRPr sz="3000">
              <a:solidFill>
                <a:srgbClr val="FCE5CD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720">
                <a:solidFill>
                  <a:schemeClr val="accent5"/>
                </a:solidFill>
                <a:latin typeface="Great Vibes"/>
                <a:ea typeface="Great Vibes"/>
                <a:cs typeface="Great Vibes"/>
                <a:sym typeface="Great Vibes"/>
              </a:rPr>
              <a:t>Elements of Fiction</a:t>
            </a:r>
            <a:endParaRPr sz="7720">
              <a:solidFill>
                <a:schemeClr val="accent5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911075"/>
            <a:ext cx="8520600" cy="26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Font typeface="Oswald Light"/>
              <a:buChar char="●"/>
            </a:pPr>
            <a:r>
              <a:rPr lang="en" sz="3700">
                <a:solidFill>
                  <a:schemeClr val="accent5"/>
                </a:solidFill>
                <a:latin typeface="Oswald Light"/>
                <a:ea typeface="Oswald Light"/>
                <a:cs typeface="Oswald Light"/>
                <a:sym typeface="Oswald Light"/>
              </a:rPr>
              <a:t>Character</a:t>
            </a:r>
            <a:endParaRPr sz="3700">
              <a:solidFill>
                <a:schemeClr val="accent5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Font typeface="Oswald Light"/>
              <a:buChar char="●"/>
            </a:pPr>
            <a:r>
              <a:rPr lang="en" sz="3700">
                <a:solidFill>
                  <a:schemeClr val="accent5"/>
                </a:solidFill>
                <a:latin typeface="Oswald Light"/>
                <a:ea typeface="Oswald Light"/>
                <a:cs typeface="Oswald Light"/>
                <a:sym typeface="Oswald Light"/>
              </a:rPr>
              <a:t>Setting</a:t>
            </a:r>
            <a:endParaRPr sz="3700">
              <a:solidFill>
                <a:schemeClr val="accent5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Font typeface="Oswald Light"/>
              <a:buChar char="●"/>
            </a:pPr>
            <a:r>
              <a:rPr lang="en" sz="3700">
                <a:solidFill>
                  <a:schemeClr val="accent5"/>
                </a:solidFill>
                <a:latin typeface="Oswald Light"/>
                <a:ea typeface="Oswald Light"/>
                <a:cs typeface="Oswald Light"/>
                <a:sym typeface="Oswald Light"/>
              </a:rPr>
              <a:t>Plot</a:t>
            </a:r>
            <a:endParaRPr sz="3700">
              <a:solidFill>
                <a:schemeClr val="accent5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700"/>
              <a:buFont typeface="Oswald Light"/>
              <a:buChar char="●"/>
            </a:pPr>
            <a:r>
              <a:rPr lang="en" sz="3700">
                <a:solidFill>
                  <a:schemeClr val="accent5"/>
                </a:solidFill>
                <a:latin typeface="Oswald Light"/>
                <a:ea typeface="Oswald Light"/>
                <a:cs typeface="Oswald Light"/>
                <a:sym typeface="Oswald Light"/>
              </a:rPr>
              <a:t>Narrative Perspective (POV)</a:t>
            </a:r>
            <a:endParaRPr sz="3700">
              <a:solidFill>
                <a:schemeClr val="accent5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012415"/>
            <a:ext cx="8520600" cy="14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rgbClr val="00FFFF"/>
                </a:solidFill>
                <a:latin typeface="Oswald Light"/>
                <a:ea typeface="Oswald Light"/>
                <a:cs typeface="Oswald Light"/>
                <a:sym typeface="Oswald Light"/>
              </a:rPr>
              <a:t>“A woman sits alone in a room when someone knocks at the door.”</a:t>
            </a:r>
            <a:endParaRPr sz="4020">
              <a:solidFill>
                <a:srgbClr val="00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01400"/>
            <a:ext cx="8520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800">
                <a:solidFill>
                  <a:schemeClr val="accent1"/>
                </a:solidFill>
                <a:latin typeface="Great Vibes"/>
                <a:ea typeface="Great Vibes"/>
                <a:cs typeface="Great Vibes"/>
                <a:sym typeface="Great Vibes"/>
              </a:rPr>
              <a:t>Character</a:t>
            </a:r>
            <a:endParaRPr sz="7800">
              <a:solidFill>
                <a:schemeClr val="accen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688675"/>
            <a:ext cx="8520600" cy="32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swald Light"/>
              <a:buChar char="●"/>
            </a:pPr>
            <a:r>
              <a:rPr lang="en" sz="31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Character is key to shaping a narrative. </a:t>
            </a:r>
            <a:endParaRPr sz="31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swald Light"/>
              <a:buChar char="○"/>
            </a:pPr>
            <a:r>
              <a:rPr lang="en" sz="2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Internal and external conflict (i.e. protagonist vs. antagonist)</a:t>
            </a:r>
            <a:endParaRPr sz="27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swald Light"/>
              <a:buChar char="○"/>
            </a:pPr>
            <a:r>
              <a:rPr lang="en" sz="2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Growth and change over the course of a story (</a:t>
            </a:r>
            <a:r>
              <a:rPr lang="en" sz="2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bildungsroman</a:t>
            </a:r>
            <a:r>
              <a:rPr lang="en" sz="2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/coming-of-age)</a:t>
            </a:r>
            <a:endParaRPr sz="27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swald Light"/>
              <a:buChar char="○"/>
            </a:pPr>
            <a:r>
              <a:rPr lang="en" sz="2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Experience sudden realizations (epiphany) </a:t>
            </a:r>
            <a:endParaRPr sz="19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000">
                <a:solidFill>
                  <a:schemeClr val="accent1"/>
                </a:solidFill>
                <a:latin typeface="Great Vibes"/>
                <a:ea typeface="Great Vibes"/>
                <a:cs typeface="Great Vibes"/>
                <a:sym typeface="Great Vibes"/>
              </a:rPr>
              <a:t>Character</a:t>
            </a:r>
            <a:endParaRPr sz="7000">
              <a:solidFill>
                <a:schemeClr val="accen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746075"/>
            <a:ext cx="8520600" cy="32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swald Light"/>
              <a:buChar char="●"/>
            </a:pPr>
            <a:r>
              <a:rPr lang="en" sz="3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Characters are revealed through: </a:t>
            </a:r>
            <a:endParaRPr sz="37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38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 Light"/>
              <a:buChar char="○"/>
            </a:pPr>
            <a:r>
              <a:rPr lang="en" sz="33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Description</a:t>
            </a:r>
            <a:endParaRPr sz="33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38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 Light"/>
              <a:buChar char="○"/>
            </a:pPr>
            <a:r>
              <a:rPr lang="en" sz="33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Dialogue</a:t>
            </a:r>
            <a:endParaRPr sz="33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swald Light"/>
              <a:buChar char="○"/>
            </a:pPr>
            <a:r>
              <a:rPr lang="en" sz="33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Behavior</a:t>
            </a:r>
            <a:r>
              <a:rPr lang="en" sz="3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 </a:t>
            </a:r>
            <a:endParaRPr sz="19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000">
                <a:solidFill>
                  <a:srgbClr val="00FFFF"/>
                </a:solidFill>
                <a:latin typeface="Great Vibes"/>
                <a:ea typeface="Great Vibes"/>
                <a:cs typeface="Great Vibes"/>
                <a:sym typeface="Great Vibes"/>
              </a:rPr>
              <a:t>Character Development</a:t>
            </a:r>
            <a:endParaRPr sz="7000">
              <a:solidFill>
                <a:srgbClr val="00FFFF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843600"/>
            <a:ext cx="8520600" cy="30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3100"/>
              <a:buFont typeface="Oswald Light"/>
              <a:buChar char="●"/>
            </a:pPr>
            <a:r>
              <a:rPr lang="en" sz="3100">
                <a:solidFill>
                  <a:srgbClr val="00FFFF"/>
                </a:solidFill>
                <a:latin typeface="Oswald Light"/>
                <a:ea typeface="Oswald Light"/>
                <a:cs typeface="Oswald Light"/>
                <a:sym typeface="Oswald Light"/>
              </a:rPr>
              <a:t>Authors develop characterization either directly or indirectly:</a:t>
            </a:r>
            <a:endParaRPr sz="3100">
              <a:solidFill>
                <a:srgbClr val="00FFFF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25450" lvl="1" marL="9144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3100"/>
              <a:buFont typeface="Oswald Light"/>
              <a:buChar char="○"/>
            </a:pPr>
            <a:r>
              <a:rPr lang="en" sz="2400">
                <a:solidFill>
                  <a:srgbClr val="00FFFF"/>
                </a:solidFill>
                <a:latin typeface="Oswald Light"/>
                <a:ea typeface="Oswald Light"/>
                <a:cs typeface="Oswald Light"/>
                <a:sym typeface="Oswald Light"/>
              </a:rPr>
              <a:t>Direct Characterization = The narrator tells us directly.</a:t>
            </a:r>
            <a:endParaRPr sz="2400">
              <a:solidFill>
                <a:srgbClr val="00FFFF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800"/>
              <a:buFont typeface="Helvetica Neue Light"/>
              <a:buChar char="○"/>
            </a:pPr>
            <a:r>
              <a:rPr lang="en" sz="2400">
                <a:solidFill>
                  <a:srgbClr val="00FFFF"/>
                </a:solidFill>
                <a:latin typeface="Oswald Light"/>
                <a:ea typeface="Oswald Light"/>
                <a:cs typeface="Oswald Light"/>
                <a:sym typeface="Oswald Light"/>
              </a:rPr>
              <a:t>Indirect Characterization = We figure it out from actions, words, thoughts, or how others respond.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2633725"/>
            <a:ext cx="8520600" cy="19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500">
                <a:solidFill>
                  <a:srgbClr val="0C343D"/>
                </a:solidFill>
                <a:latin typeface="Oswald Light"/>
                <a:ea typeface="Oswald Light"/>
                <a:cs typeface="Oswald Light"/>
                <a:sym typeface="Oswald Light"/>
              </a:rPr>
              <a:t>“Mr. Bingley was good-looking and gentlemanlike; he had a pleasant countenance, and easy, unaffected manners.”</a:t>
            </a:r>
            <a:endParaRPr sz="3500">
              <a:solidFill>
                <a:srgbClr val="0C343D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0" y="0"/>
            <a:ext cx="4572000" cy="2071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4572000" y="0"/>
            <a:ext cx="4572000" cy="207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/>
        </p:nvSpPr>
        <p:spPr>
          <a:xfrm>
            <a:off x="685200" y="519825"/>
            <a:ext cx="3012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Direct</a:t>
            </a:r>
            <a:endParaRPr b="1" sz="4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5351700" y="539700"/>
            <a:ext cx="3012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Ind</a:t>
            </a:r>
            <a:r>
              <a:rPr b="1" lang="en" sz="4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irect</a:t>
            </a:r>
            <a:endParaRPr b="1" sz="4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2497075"/>
            <a:ext cx="8520600" cy="20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400">
                <a:solidFill>
                  <a:srgbClr val="0C343D"/>
                </a:solidFill>
                <a:latin typeface="Oswald Light"/>
                <a:ea typeface="Oswald Light"/>
                <a:cs typeface="Oswald Light"/>
                <a:sym typeface="Oswald Light"/>
              </a:rPr>
              <a:t>“He stretched out his arms toward the dark water in a curious way, and, far as I was from him, I could have sworn he was trembling.”</a:t>
            </a:r>
            <a:endParaRPr sz="3400">
              <a:solidFill>
                <a:srgbClr val="0C343D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0" y="0"/>
            <a:ext cx="4572000" cy="2071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/>
          <p:nvPr/>
        </p:nvSpPr>
        <p:spPr>
          <a:xfrm>
            <a:off x="4572000" y="0"/>
            <a:ext cx="4572000" cy="207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685200" y="519825"/>
            <a:ext cx="3012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Direct</a:t>
            </a:r>
            <a:endParaRPr b="1" sz="4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5351700" y="539700"/>
            <a:ext cx="3012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Indirect</a:t>
            </a:r>
            <a:endParaRPr b="1" sz="4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2497075"/>
            <a:ext cx="8520600" cy="20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100">
                <a:solidFill>
                  <a:srgbClr val="0C343D"/>
                </a:solidFill>
                <a:latin typeface="Oswald Light"/>
                <a:ea typeface="Oswald Light"/>
                <a:cs typeface="Oswald Light"/>
                <a:sym typeface="Oswald Light"/>
              </a:rPr>
              <a:t>“Talk not to me of blasphemy, man; I’d strike the sun if it insulted me.”</a:t>
            </a:r>
            <a:endParaRPr sz="4100">
              <a:solidFill>
                <a:srgbClr val="0C343D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0" y="0"/>
            <a:ext cx="4572000" cy="2071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/>
          <p:nvPr/>
        </p:nvSpPr>
        <p:spPr>
          <a:xfrm>
            <a:off x="4572000" y="0"/>
            <a:ext cx="4572000" cy="207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685200" y="519825"/>
            <a:ext cx="3012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Direct</a:t>
            </a:r>
            <a:endParaRPr b="1" sz="4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5351700" y="539700"/>
            <a:ext cx="3012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Indirect</a:t>
            </a:r>
            <a:endParaRPr b="1" sz="4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2497075"/>
            <a:ext cx="8520600" cy="20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500">
                <a:solidFill>
                  <a:srgbClr val="0C343D"/>
                </a:solidFill>
                <a:latin typeface="Oswald Light"/>
                <a:ea typeface="Oswald Light"/>
                <a:cs typeface="Oswald Light"/>
                <a:sym typeface="Oswald Light"/>
              </a:rPr>
              <a:t>“Snowball was a more vivacious pig than Napoleon, quicker in speech and more inventive, but was not considered to have the same depth of character.”</a:t>
            </a:r>
            <a:endParaRPr sz="5300">
              <a:solidFill>
                <a:srgbClr val="0C343D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0" y="0"/>
            <a:ext cx="4572000" cy="20718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4572000" y="0"/>
            <a:ext cx="4572000" cy="207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4A86E8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685200" y="519825"/>
            <a:ext cx="3012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Direct</a:t>
            </a:r>
            <a:endParaRPr b="1" sz="4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5351700" y="539700"/>
            <a:ext cx="30126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Indirect</a:t>
            </a:r>
            <a:endParaRPr b="1" sz="4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EEF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erated image" id="129" name="Google Shape;129;p23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>
            <p:ph type="title"/>
          </p:nvPr>
        </p:nvSpPr>
        <p:spPr>
          <a:xfrm>
            <a:off x="863275" y="485117"/>
            <a:ext cx="5847300" cy="10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3420">
                <a:latin typeface="Great Vibes"/>
                <a:ea typeface="Great Vibes"/>
                <a:cs typeface="Great Vibes"/>
                <a:sym typeface="Great Vibes"/>
              </a:rPr>
              <a:t>The Story of an Hour </a:t>
            </a:r>
            <a:endParaRPr b="1" i="1" sz="3420">
              <a:latin typeface="Great Vibes"/>
              <a:ea typeface="Great Vibes"/>
              <a:cs typeface="Great Vibes"/>
              <a:sym typeface="Great Vibe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20">
                <a:latin typeface="Oswald"/>
                <a:ea typeface="Oswald"/>
                <a:cs typeface="Oswald"/>
                <a:sym typeface="Oswald"/>
              </a:rPr>
              <a:t>by Kate Chopin</a:t>
            </a:r>
            <a:endParaRPr b="1" sz="29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759475" y="1502760"/>
            <a:ext cx="6054900" cy="36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swald Light"/>
              <a:buChar char="●"/>
            </a:pPr>
            <a:r>
              <a:rPr lang="en" sz="1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A short story by American writer Kate Chopin, first published in 1894.</a:t>
            </a:r>
            <a:br>
              <a:rPr lang="en" sz="1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endParaRPr sz="17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swald Light"/>
              <a:buChar char="●"/>
            </a:pPr>
            <a:r>
              <a:rPr lang="en" sz="1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Centers on Mrs. Louise Mallard, who is told that her husband has died in a train accident.</a:t>
            </a:r>
            <a:br>
              <a:rPr lang="en" sz="1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endParaRPr sz="17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swald Light"/>
              <a:buChar char="●"/>
            </a:pPr>
            <a:r>
              <a:rPr lang="en" sz="1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Explores themes of marriage, independence, identity, and the role of women in the late 19th century.</a:t>
            </a:r>
            <a:br>
              <a:rPr lang="en" sz="1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</a:br>
            <a:endParaRPr sz="17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swald Light"/>
              <a:buChar char="●"/>
            </a:pPr>
            <a:r>
              <a:rPr lang="en" sz="1700">
                <a:solidFill>
                  <a:schemeClr val="dk1"/>
                </a:solidFill>
                <a:latin typeface="Oswald Light"/>
                <a:ea typeface="Oswald Light"/>
                <a:cs typeface="Oswald Light"/>
                <a:sym typeface="Oswald Light"/>
              </a:rPr>
              <a:t>Famous for its ironic twist ending and powerful commentary on gender roles.</a:t>
            </a:r>
            <a:endParaRPr sz="2400">
              <a:solidFill>
                <a:schemeClr val="dk1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erated image" id="136" name="Google Shape;136;p24"/>
          <p:cNvPicPr preferRelativeResize="0"/>
          <p:nvPr/>
        </p:nvPicPr>
        <p:blipFill rotWithShape="1">
          <a:blip r:embed="rId3">
            <a:alphaModFix/>
          </a:blip>
          <a:srcRect b="5944" l="4453" r="0" t="0"/>
          <a:stretch/>
        </p:blipFill>
        <p:spPr>
          <a:xfrm>
            <a:off x="8" y="13475"/>
            <a:ext cx="36553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2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Kate Chopin (1850-1904) </a:t>
            </a:r>
            <a:endParaRPr b="1" sz="362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680175" y="1349025"/>
            <a:ext cx="533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swald"/>
              <a:buChar char="●"/>
            </a:pPr>
            <a:r>
              <a:rPr lang="en" sz="21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An American author born in St. Louis, Missouri</a:t>
            </a:r>
            <a:endParaRPr sz="21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swald"/>
              <a:buChar char="●"/>
            </a:pPr>
            <a:r>
              <a:rPr lang="en" sz="21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One of five children in a </a:t>
            </a:r>
            <a:r>
              <a:rPr lang="en" sz="21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wealthy</a:t>
            </a:r>
            <a:r>
              <a:rPr lang="en" sz="21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family</a:t>
            </a:r>
            <a:endParaRPr sz="21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swald"/>
              <a:buChar char="●"/>
            </a:pPr>
            <a:r>
              <a:rPr lang="en" sz="21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After the death of her husband in 1883, she began writing to support herself and her children</a:t>
            </a:r>
            <a:endParaRPr sz="21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swald"/>
              <a:buChar char="●"/>
            </a:pPr>
            <a:r>
              <a:rPr lang="en" sz="21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Writing dealt with themes of marriage, motherhood, and limitations placed on women in society</a:t>
            </a:r>
            <a:endParaRPr sz="21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swald"/>
              <a:buChar char="●"/>
            </a:pPr>
            <a:r>
              <a:rPr lang="en" sz="21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Her work was controversial</a:t>
            </a:r>
            <a:endParaRPr sz="21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