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Helvetica Neue"/>
      <p:regular r:id="rId24"/>
      <p:bold r:id="rId25"/>
      <p:italic r:id="rId26"/>
      <p:boldItalic r:id="rId27"/>
    </p:embeddedFont>
    <p:embeddedFont>
      <p:font typeface="Helvetica Neue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HelveticaNeue-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italic.fntdata"/><Relationship Id="rId25" Type="http://schemas.openxmlformats.org/officeDocument/2006/relationships/font" Target="fonts/HelveticaNeue-bold.fntdata"/><Relationship Id="rId28" Type="http://schemas.openxmlformats.org/officeDocument/2006/relationships/font" Target="fonts/HelveticaNeueLight-regular.fntdata"/><Relationship Id="rId27" Type="http://schemas.openxmlformats.org/officeDocument/2006/relationships/font" Target="fonts/HelveticaNeue-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Ligh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Light-boldItalic.fntdata"/><Relationship Id="rId30" Type="http://schemas.openxmlformats.org/officeDocument/2006/relationships/font" Target="fonts/HelveticaNeueLigh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636fa21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636fa21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636fa21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636fa21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Forming a claim begins with what you notice as you are reading. A recognition of patterns or collection of sentences that feel heavy with meaning. </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These pieces of evidence that you find then become connected to an idea. An important sentence can bring you an idea about a character. A key words can bring an idea of the tone of a paragraph. A paragraph could develop a conflict. Etc. </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These small, individual ideas then get </a:t>
            </a:r>
            <a:r>
              <a:rPr lang="en" sz="1500">
                <a:latin typeface="Helvetica Neue Light"/>
                <a:ea typeface="Helvetica Neue Light"/>
                <a:cs typeface="Helvetica Neue Light"/>
                <a:sym typeface="Helvetica Neue Light"/>
              </a:rPr>
              <a:t>pieced</a:t>
            </a:r>
            <a:r>
              <a:rPr lang="en" sz="1500">
                <a:latin typeface="Helvetica Neue Light"/>
                <a:ea typeface="Helvetica Neue Light"/>
                <a:cs typeface="Helvetica Neue Light"/>
                <a:sym typeface="Helvetica Neue Light"/>
              </a:rPr>
              <a:t> together into a bigger idea about the deeper meaning in the story, the claim.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6636fa218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6636fa218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The idea here is going from small details to big ideas. Synthesizing information; piecing together details like a puzzle in order to form a insightful conclusion. </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This form of piecing together seemingly mundane details into an original </a:t>
            </a:r>
            <a:r>
              <a:rPr lang="en" sz="1500">
                <a:latin typeface="Helvetica Neue Light"/>
                <a:ea typeface="Helvetica Neue Light"/>
                <a:cs typeface="Helvetica Neue Light"/>
                <a:sym typeface="Helvetica Neue Light"/>
              </a:rPr>
              <a:t>perspective and being able to draw conclusions</a:t>
            </a:r>
            <a:r>
              <a:rPr lang="en" sz="1500">
                <a:latin typeface="Helvetica Neue Light"/>
                <a:ea typeface="Helvetica Neue Light"/>
                <a:cs typeface="Helvetica Neue Light"/>
                <a:sym typeface="Helvetica Neue Light"/>
              </a:rPr>
              <a:t> from minute details is a skill that goes beyond English Literature. Business analysts that can look at a bunch of data/information and draft a logical course of action for a company; or doctors that picks up on heart </a:t>
            </a:r>
            <a:r>
              <a:rPr lang="en" sz="1500">
                <a:latin typeface="Helvetica Neue Light"/>
                <a:ea typeface="Helvetica Neue Light"/>
                <a:cs typeface="Helvetica Neue Light"/>
                <a:sym typeface="Helvetica Neue Light"/>
              </a:rPr>
              <a:t>murmurs or an imbalance in nutrient intake and form a diagnosis of their patients condition. In these situations we are noticing patterns, puzzle pieces that we must connect in order to create meaning.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6636fa218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6636fa218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6636fa218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6636fa218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6636fa218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6636fa218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This is a claim for ‘The Story of an Hour’ by Kate Chopin.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rPr lang="en" sz="1500">
                <a:latin typeface="Helvetica Neue Light"/>
                <a:ea typeface="Helvetica Neue Light"/>
                <a:cs typeface="Helvetica Neue Light"/>
                <a:sym typeface="Helvetica Neue Light"/>
              </a:rPr>
              <a:t>This story can be used as an example for building a strong claim and argument as students are already familiar with it. </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What makes this claim weak?</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636fa218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636fa218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For a stronger claim, start by looking at the evidence and forming a collection of ideas about the text.</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50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Evidence:</a:t>
            </a:r>
            <a:br>
              <a:rPr lang="en" sz="1500">
                <a:solidFill>
                  <a:schemeClr val="dk1"/>
                </a:solidFill>
                <a:latin typeface="Helvetica Neue Light"/>
                <a:ea typeface="Helvetica Neue Light"/>
                <a:cs typeface="Helvetica Neue Light"/>
                <a:sym typeface="Helvetica Neue Light"/>
              </a:rPr>
            </a:br>
            <a:br>
              <a:rPr lang="en" sz="1500">
                <a:solidFill>
                  <a:schemeClr val="dk1"/>
                </a:solidFill>
                <a:latin typeface="Helvetica Neue Light"/>
                <a:ea typeface="Helvetica Neue Light"/>
                <a:cs typeface="Helvetica Neue Light"/>
                <a:sym typeface="Helvetica Neue Light"/>
              </a:rPr>
            </a:br>
            <a:r>
              <a:rPr lang="en" sz="1500">
                <a:solidFill>
                  <a:schemeClr val="dk1"/>
                </a:solidFill>
                <a:latin typeface="Helvetica Neue Light"/>
                <a:ea typeface="Helvetica Neue Light"/>
                <a:cs typeface="Helvetica Neue Light"/>
                <a:sym typeface="Helvetica Neue Light"/>
              </a:rPr>
              <a:t>Louise whispers: </a:t>
            </a:r>
            <a:r>
              <a:rPr i="1" lang="en" sz="1500">
                <a:solidFill>
                  <a:schemeClr val="dk1"/>
                </a:solidFill>
                <a:latin typeface="Helvetica Neue Light"/>
                <a:ea typeface="Helvetica Neue Light"/>
                <a:cs typeface="Helvetica Neue Light"/>
                <a:sym typeface="Helvetica Neue Light"/>
              </a:rPr>
              <a:t>“free, free, free!”</a:t>
            </a:r>
            <a:r>
              <a:rPr lang="en" sz="1500">
                <a:solidFill>
                  <a:schemeClr val="dk1"/>
                </a:solidFill>
                <a:latin typeface="Helvetica Neue Light"/>
                <a:ea typeface="Helvetica Neue Light"/>
                <a:cs typeface="Helvetica Neue Light"/>
                <a:sym typeface="Helvetica Neue Light"/>
              </a:rPr>
              <a:t> – shows her sudden realization of independence.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Narrator’s description: </a:t>
            </a:r>
            <a:r>
              <a:rPr i="1" lang="en" sz="1500">
                <a:solidFill>
                  <a:schemeClr val="dk1"/>
                </a:solidFill>
                <a:latin typeface="Helvetica Neue Light"/>
                <a:ea typeface="Helvetica Neue Light"/>
                <a:cs typeface="Helvetica Neue Light"/>
                <a:sym typeface="Helvetica Neue Light"/>
              </a:rPr>
              <a:t>“Her pulses beat fast, and the coursing blood warmed and relaxed every inch of her body.”</a:t>
            </a:r>
            <a:r>
              <a:rPr lang="en" sz="1500">
                <a:solidFill>
                  <a:schemeClr val="dk1"/>
                </a:solidFill>
                <a:latin typeface="Helvetica Neue Light"/>
                <a:ea typeface="Helvetica Neue Light"/>
                <a:cs typeface="Helvetica Neue Light"/>
                <a:sym typeface="Helvetica Neue Light"/>
              </a:rPr>
              <a:t> – physical transformation accompanying emotional liberation.</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Louise envisions: </a:t>
            </a:r>
            <a:r>
              <a:rPr i="1" lang="en" sz="1500">
                <a:solidFill>
                  <a:schemeClr val="dk1"/>
                </a:solidFill>
                <a:latin typeface="Helvetica Neue Light"/>
                <a:ea typeface="Helvetica Neue Light"/>
                <a:cs typeface="Helvetica Neue Light"/>
                <a:sym typeface="Helvetica Neue Light"/>
              </a:rPr>
              <a:t>“There would be no one to live for during those coming years; she would live for herself.”</a:t>
            </a:r>
            <a:r>
              <a:rPr lang="en" sz="1500">
                <a:solidFill>
                  <a:schemeClr val="dk1"/>
                </a:solidFill>
                <a:latin typeface="Helvetica Neue Light"/>
                <a:ea typeface="Helvetica Neue Light"/>
                <a:cs typeface="Helvetica Neue Light"/>
                <a:sym typeface="Helvetica Neue Light"/>
              </a:rPr>
              <a:t> – direct assertion of autonomy.</a:t>
            </a: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Clr>
                <a:schemeClr val="dk1"/>
              </a:buClr>
              <a:buSzPts val="1100"/>
              <a:buFont typeface="Arial"/>
              <a:buNone/>
            </a:pPr>
            <a:r>
              <a:rPr i="1" lang="en" sz="1500">
                <a:solidFill>
                  <a:schemeClr val="dk1"/>
                </a:solidFill>
                <a:latin typeface="Helvetica Neue Light"/>
                <a:ea typeface="Helvetica Neue Light"/>
                <a:cs typeface="Helvetica Neue Light"/>
                <a:sym typeface="Helvetica Neue Light"/>
              </a:rPr>
              <a:t>“There would be no powerful will bending hers in that blind persistence with which men and women believe they have a right to impose a private will upon a fellow-creature.”</a:t>
            </a:r>
            <a:r>
              <a:rPr lang="en" sz="1500">
                <a:solidFill>
                  <a:schemeClr val="dk1"/>
                </a:solidFill>
                <a:latin typeface="Helvetica Neue Light"/>
                <a:ea typeface="Helvetica Neue Light"/>
                <a:cs typeface="Helvetica Neue Light"/>
                <a:sym typeface="Helvetica Neue Light"/>
              </a:rPr>
              <a:t> – critique of domination in marriage.</a:t>
            </a: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120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The doctors’ interpretation: </a:t>
            </a:r>
            <a:r>
              <a:rPr i="1" lang="en" sz="1500">
                <a:solidFill>
                  <a:schemeClr val="dk1"/>
                </a:solidFill>
                <a:latin typeface="Helvetica Neue Light"/>
                <a:ea typeface="Helvetica Neue Light"/>
                <a:cs typeface="Helvetica Neue Light"/>
                <a:sym typeface="Helvetica Neue Light"/>
              </a:rPr>
              <a:t>“When the doctors came they said she had died of heart disease—of the joy that kills.”</a:t>
            </a:r>
            <a:r>
              <a:rPr lang="en" sz="1500">
                <a:solidFill>
                  <a:schemeClr val="dk1"/>
                </a:solidFill>
                <a:latin typeface="Helvetica Neue Light"/>
                <a:ea typeface="Helvetica Neue Light"/>
                <a:cs typeface="Helvetica Neue Light"/>
                <a:sym typeface="Helvetica Neue Light"/>
              </a:rPr>
              <a:t> – dramatic irony: the reader knows she died not from joy, but from the devastating loss of her newfound autonomy.</a:t>
            </a:r>
            <a:endParaRPr sz="1500">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636fa218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6636fa218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Ask students what makes this stronger?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rPr lang="en" sz="1500">
                <a:latin typeface="Helvetica Neue Light"/>
                <a:ea typeface="Helvetica Neue Light"/>
                <a:cs typeface="Helvetica Neue Light"/>
                <a:sym typeface="Helvetica Neue Light"/>
              </a:rPr>
              <a:t>It is arguable as it interprets the twist ending as more than a plot mechanism</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It identifies literary technique like irony</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It connects technique to meaning and larger context (i.e. Patriarchal Marriage)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636fa218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6636fa218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Note that there are several parts to the claim that will need to be addressed in the paragraph: Her awakening to her new found autonomy and how fragile this autonomy is. </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All parts of the claim should be addressed in the paragraph.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636fa218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6636fa218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636fa218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6636fa218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FF0000"/>
                </a:solidFill>
                <a:latin typeface="Helvetica Neue Light"/>
                <a:ea typeface="Helvetica Neue Light"/>
                <a:cs typeface="Helvetica Neue Light"/>
                <a:sym typeface="Helvetica Neue Light"/>
              </a:rPr>
              <a:t>Claim</a:t>
            </a:r>
            <a:br>
              <a:rPr lang="en" sz="1500">
                <a:solidFill>
                  <a:srgbClr val="FF0000"/>
                </a:solidFill>
                <a:latin typeface="Helvetica Neue Light"/>
                <a:ea typeface="Helvetica Neue Light"/>
                <a:cs typeface="Helvetica Neue Light"/>
                <a:sym typeface="Helvetica Neue Light"/>
              </a:rPr>
            </a:br>
            <a:r>
              <a:rPr lang="en" sz="1500">
                <a:solidFill>
                  <a:srgbClr val="0000FF"/>
                </a:solidFill>
                <a:latin typeface="Helvetica Neue Light"/>
                <a:ea typeface="Helvetica Neue Light"/>
                <a:cs typeface="Helvetica Neue Light"/>
                <a:sym typeface="Helvetica Neue Light"/>
              </a:rPr>
              <a:t>Evidence</a:t>
            </a:r>
            <a:endParaRPr sz="1500">
              <a:solidFill>
                <a:srgbClr val="0000FF"/>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 sz="1500">
                <a:solidFill>
                  <a:schemeClr val="dk2"/>
                </a:solidFill>
                <a:latin typeface="Helvetica Neue Light"/>
                <a:ea typeface="Helvetica Neue Light"/>
                <a:cs typeface="Helvetica Neue Light"/>
                <a:sym typeface="Helvetica Neue Light"/>
              </a:rPr>
              <a:t>Insight/Commentary</a:t>
            </a:r>
            <a:br>
              <a:rPr lang="en" sz="1500">
                <a:solidFill>
                  <a:schemeClr val="dk2"/>
                </a:solidFill>
                <a:latin typeface="Helvetica Neue Light"/>
                <a:ea typeface="Helvetica Neue Light"/>
                <a:cs typeface="Helvetica Neue Light"/>
                <a:sym typeface="Helvetica Neue Light"/>
              </a:rPr>
            </a:br>
            <a:r>
              <a:rPr lang="en" sz="1500">
                <a:solidFill>
                  <a:srgbClr val="9900FF"/>
                </a:solidFill>
                <a:latin typeface="Helvetica Neue Light"/>
                <a:ea typeface="Helvetica Neue Light"/>
                <a:cs typeface="Helvetica Neue Light"/>
                <a:sym typeface="Helvetica Neue Light"/>
              </a:rPr>
              <a:t>Closing sentence</a:t>
            </a:r>
            <a:br>
              <a:rPr lang="en" sz="1500">
                <a:solidFill>
                  <a:schemeClr val="dk2"/>
                </a:solidFill>
                <a:latin typeface="Helvetica Neue Light"/>
                <a:ea typeface="Helvetica Neue Light"/>
                <a:cs typeface="Helvetica Neue Light"/>
                <a:sym typeface="Helvetica Neue Light"/>
              </a:rPr>
            </a:br>
            <a:br>
              <a:rPr lang="en" sz="1500">
                <a:solidFill>
                  <a:schemeClr val="dk2"/>
                </a:solidFill>
                <a:latin typeface="Helvetica Neue Light"/>
                <a:ea typeface="Helvetica Neue Light"/>
                <a:cs typeface="Helvetica Neue Light"/>
                <a:sym typeface="Helvetica Neue Light"/>
              </a:rPr>
            </a:br>
            <a:r>
              <a:rPr lang="en" sz="1500">
                <a:solidFill>
                  <a:schemeClr val="dk1"/>
                </a:solidFill>
                <a:latin typeface="Helvetica Neue Light"/>
                <a:ea typeface="Helvetica Neue Light"/>
                <a:cs typeface="Helvetica Neue Light"/>
                <a:sym typeface="Helvetica Neue Light"/>
              </a:rPr>
              <a:t>Note that it doesn’t have to be broken up like this. Students could provide some insight/commentary write after each piece of evidence or even within the same sentence that they provide evidence for. There are no strict rules for this. As long as the elements can be discerned in some way. </a:t>
            </a:r>
            <a:endParaRPr sz="1500">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636fa218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636fa218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So, essentially the process of writing the actual analytical paragraph is the reverse of planning:</a:t>
            </a:r>
            <a:endParaRPr sz="1500">
              <a:latin typeface="Helvetica Neue Light"/>
              <a:ea typeface="Helvetica Neue Light"/>
              <a:cs typeface="Helvetica Neue Light"/>
              <a:sym typeface="Helvetica Neue Light"/>
            </a:endParaRPr>
          </a:p>
          <a:p>
            <a:pPr indent="-323850" lvl="0" marL="457200" rtl="0" algn="l">
              <a:spcBef>
                <a:spcPts val="0"/>
              </a:spcBef>
              <a:spcAft>
                <a:spcPts val="0"/>
              </a:spcAft>
              <a:buSzPts val="1500"/>
              <a:buFont typeface="Helvetica Neue Light"/>
              <a:buAutoNum type="arabicParenR"/>
            </a:pPr>
            <a:r>
              <a:rPr lang="en" sz="1500">
                <a:latin typeface="Helvetica Neue Light"/>
                <a:ea typeface="Helvetica Neue Light"/>
                <a:cs typeface="Helvetica Neue Light"/>
                <a:sym typeface="Helvetica Neue Light"/>
              </a:rPr>
              <a:t>You present your claim</a:t>
            </a:r>
            <a:endParaRPr sz="1500">
              <a:latin typeface="Helvetica Neue Light"/>
              <a:ea typeface="Helvetica Neue Light"/>
              <a:cs typeface="Helvetica Neue Light"/>
              <a:sym typeface="Helvetica Neue Light"/>
            </a:endParaRPr>
          </a:p>
          <a:p>
            <a:pPr indent="-323850" lvl="0" marL="457200" rtl="0" algn="l">
              <a:spcBef>
                <a:spcPts val="0"/>
              </a:spcBef>
              <a:spcAft>
                <a:spcPts val="0"/>
              </a:spcAft>
              <a:buSzPts val="1500"/>
              <a:buFont typeface="Helvetica Neue Light"/>
              <a:buAutoNum type="arabicParenR"/>
            </a:pPr>
            <a:r>
              <a:rPr lang="en" sz="1500">
                <a:latin typeface="Helvetica Neue Light"/>
                <a:ea typeface="Helvetica Neue Light"/>
                <a:cs typeface="Helvetica Neue Light"/>
                <a:sym typeface="Helvetica Neue Light"/>
              </a:rPr>
              <a:t>Break down the ideas presented in the claim (remember a claim is a synthesis of more than one idea) </a:t>
            </a:r>
            <a:endParaRPr sz="1500">
              <a:latin typeface="Helvetica Neue Light"/>
              <a:ea typeface="Helvetica Neue Light"/>
              <a:cs typeface="Helvetica Neue Light"/>
              <a:sym typeface="Helvetica Neue Light"/>
            </a:endParaRPr>
          </a:p>
          <a:p>
            <a:pPr indent="-323850" lvl="0" marL="457200" rtl="0" algn="l">
              <a:spcBef>
                <a:spcPts val="0"/>
              </a:spcBef>
              <a:spcAft>
                <a:spcPts val="0"/>
              </a:spcAft>
              <a:buSzPts val="1500"/>
              <a:buFont typeface="Helvetica Neue Light"/>
              <a:buAutoNum type="arabicParenR"/>
            </a:pPr>
            <a:r>
              <a:rPr lang="en" sz="1500">
                <a:latin typeface="Helvetica Neue Light"/>
                <a:ea typeface="Helvetica Neue Light"/>
                <a:cs typeface="Helvetica Neue Light"/>
                <a:sym typeface="Helvetica Neue Light"/>
              </a:rPr>
              <a:t>Then you provide you evidence and insight to support and explain these ideas. </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636fa218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636fa218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highlight>
                  <a:schemeClr val="accent4"/>
                </a:highlight>
                <a:latin typeface="Helvetica Neue Light"/>
                <a:ea typeface="Helvetica Neue Light"/>
                <a:cs typeface="Helvetica Neue Light"/>
                <a:sym typeface="Helvetica Neue Light"/>
              </a:rPr>
              <a:t>Review the Venn Diagram of </a:t>
            </a:r>
            <a:r>
              <a:rPr i="1" lang="en" sz="1500">
                <a:highlight>
                  <a:schemeClr val="accent4"/>
                </a:highlight>
                <a:latin typeface="Helvetica Neue Light"/>
                <a:ea typeface="Helvetica Neue Light"/>
                <a:cs typeface="Helvetica Neue Light"/>
                <a:sym typeface="Helvetica Neue Light"/>
              </a:rPr>
              <a:t>Snow, Glass, and Apples</a:t>
            </a:r>
            <a:r>
              <a:rPr lang="en" sz="1500">
                <a:highlight>
                  <a:schemeClr val="accent4"/>
                </a:highlight>
                <a:latin typeface="Helvetica Neue Light"/>
                <a:ea typeface="Helvetica Neue Light"/>
                <a:cs typeface="Helvetica Neue Light"/>
                <a:sym typeface="Helvetica Neue Light"/>
              </a:rPr>
              <a:t>, then have them create an analytical paragraph about the use of narrative perspective in the story.</a:t>
            </a:r>
            <a:br>
              <a:rPr lang="en" sz="1500">
                <a:latin typeface="Helvetica Neue Light"/>
                <a:ea typeface="Helvetica Neue Light"/>
                <a:cs typeface="Helvetica Neue Light"/>
                <a:sym typeface="Helvetica Neue Light"/>
              </a:rPr>
            </a:br>
            <a:br>
              <a:rPr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Show this after they have worked on it on their own first. </a:t>
            </a:r>
            <a:endParaRPr sz="1500">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500">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Grimm’s </a:t>
            </a:r>
            <a:r>
              <a:rPr b="1" i="1" lang="en" sz="1500">
                <a:solidFill>
                  <a:schemeClr val="dk1"/>
                </a:solidFill>
                <a:latin typeface="Helvetica Neue"/>
                <a:ea typeface="Helvetica Neue"/>
                <a:cs typeface="Helvetica Neue"/>
                <a:sym typeface="Helvetica Neue"/>
              </a:rPr>
              <a:t>Snow White</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Perspective: Third-person omniscient, traditional fairy-tale narrator.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Plot: Classic structure — good vs. evil, innocence rewarded, villain punished.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Snow White is innocent, passive, and victimized.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is unequivocally evil, driven by jealousy.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Moral simplicity: virtue triumphs over wickedness.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Ending: Snow White lives “happily ever after” with the prince; Queen dies gruesomely.</a:t>
            </a: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None/>
            </a:pPr>
            <a:r>
              <a:rPr lang="en" sz="1500">
                <a:solidFill>
                  <a:schemeClr val="dk1"/>
                </a:solidFill>
                <a:latin typeface="Helvetica Neue Light"/>
                <a:ea typeface="Helvetica Neue Light"/>
                <a:cs typeface="Helvetica Neue Light"/>
                <a:sym typeface="Helvetica Neue Light"/>
              </a:rPr>
              <a:t>Purpose of structure: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120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Reinforces </a:t>
            </a:r>
            <a:r>
              <a:rPr i="1" lang="en" sz="1500">
                <a:solidFill>
                  <a:schemeClr val="dk1"/>
                </a:solidFill>
                <a:latin typeface="Helvetica Neue Light"/>
                <a:ea typeface="Helvetica Neue Light"/>
                <a:cs typeface="Helvetica Neue Light"/>
                <a:sym typeface="Helvetica Neue Light"/>
              </a:rPr>
              <a:t>moral binaries</a:t>
            </a:r>
            <a:r>
              <a:rPr lang="en" sz="1500">
                <a:solidFill>
                  <a:schemeClr val="dk1"/>
                </a:solidFill>
                <a:latin typeface="Helvetica Neue Light"/>
                <a:ea typeface="Helvetica Neue Light"/>
                <a:cs typeface="Helvetica Neue Light"/>
                <a:sym typeface="Helvetica Neue Light"/>
              </a:rPr>
              <a:t> (innocence vs. wickedness).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Builds suspense with repetition (three attempts by the Queen) before justice prevails.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Ends with </a:t>
            </a:r>
            <a:r>
              <a:rPr i="1" lang="en" sz="1500">
                <a:solidFill>
                  <a:schemeClr val="dk1"/>
                </a:solidFill>
                <a:latin typeface="Helvetica Neue Light"/>
                <a:ea typeface="Helvetica Neue Light"/>
                <a:cs typeface="Helvetica Neue Light"/>
                <a:sym typeface="Helvetica Neue Light"/>
              </a:rPr>
              <a:t>closure</a:t>
            </a:r>
            <a:r>
              <a:rPr lang="en" sz="1500">
                <a:solidFill>
                  <a:schemeClr val="dk1"/>
                </a:solidFill>
                <a:latin typeface="Helvetica Neue Light"/>
                <a:ea typeface="Helvetica Neue Light"/>
                <a:cs typeface="Helvetica Neue Light"/>
                <a:sym typeface="Helvetica Neue Light"/>
              </a:rPr>
              <a:t> — Snow White is rewarded, the Queen punished.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9144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plot affirms cultural values of virtue, beauty, and obedience.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Evil is externalized and defeated; goodness is preserved and celebrated.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Shared Elements</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Both use familiar fairy-tale motifs: mirrors, poisoned apples, huntsman, dwarfs/forest folk, apparent death and revival.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Themes of beauty, envy, power, and survival are central.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and Snow White remain locked in a battle for dominance and identity.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Both stories end with the Queen destroyed and Snow White alive.</a:t>
            </a: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None/>
            </a:pPr>
            <a:r>
              <a:rPr lang="en" sz="1500">
                <a:solidFill>
                  <a:schemeClr val="dk1"/>
                </a:solidFill>
                <a:latin typeface="Helvetica Neue Light"/>
                <a:ea typeface="Helvetica Neue Light"/>
                <a:cs typeface="Helvetica Neue Light"/>
                <a:sym typeface="Helvetica Neue Light"/>
              </a:rPr>
              <a:t>Linear, classic fairy-tale arc: exposition → conflict → climax → resolution. For the most part. </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28600" lvl="0" marL="457200" rtl="0" algn="l">
              <a:lnSpc>
                <a:spcPct val="115000"/>
              </a:lnSpc>
              <a:spcBef>
                <a:spcPts val="1200"/>
              </a:spcBef>
              <a:spcAft>
                <a:spcPts val="0"/>
              </a:spcAft>
              <a:buNone/>
            </a:pPr>
            <a:r>
              <a:rPr lang="en" sz="1500">
                <a:solidFill>
                  <a:schemeClr val="dk1"/>
                </a:solidFill>
                <a:latin typeface="Helvetica Neue Light"/>
                <a:ea typeface="Helvetica Neue Light"/>
                <a:cs typeface="Helvetica Neue Light"/>
                <a:sym typeface="Helvetica Neue Light"/>
              </a:rPr>
              <a:t>Snow White’s apparent death(s) and final revival lead to a clear moral outcome.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latin typeface="Helvetica Neue"/>
                <a:ea typeface="Helvetica Neue"/>
                <a:cs typeface="Helvetica Neue"/>
                <a:sym typeface="Helvetica Neue"/>
              </a:rPr>
              <a:t>Gaiman’s </a:t>
            </a:r>
            <a:r>
              <a:rPr b="1" i="1" lang="en" sz="1500">
                <a:solidFill>
                  <a:schemeClr val="dk1"/>
                </a:solidFill>
                <a:latin typeface="Helvetica Neue"/>
                <a:ea typeface="Helvetica Neue"/>
                <a:cs typeface="Helvetica Neue"/>
                <a:sym typeface="Helvetica Neue"/>
              </a:rPr>
              <a:t>Snow, Glass, Apples</a:t>
            </a:r>
            <a:endParaRPr b="1" sz="1500">
              <a:solidFill>
                <a:schemeClr val="dk1"/>
              </a:solidFill>
              <a:latin typeface="Helvetica Neue"/>
              <a:ea typeface="Helvetica Neue"/>
              <a:cs typeface="Helvetica Neue"/>
              <a:sym typeface="Helvetica Neue"/>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Perspective: First-person narration by the Queen, an unreliable narrator.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Plot: Retelling inverts roles — the Queen is sympathetic, Snow White monstrous.</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Snow White is depicted as vampiric, predatory, feeding on others’ blood and life.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The Queen frames her actions as necessary to protect her people.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Themes of truth vs. lies, unreliable memory, sexuality, and monstrosity.</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Ending: The Queen is burned alive, claiming control of her own story.</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Fragmented, confessional structure: told retrospectively in the Queen’s first-person voice.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Events unfold as memories, shifting between what the Queen saw, feared, or imagined</a:t>
            </a:r>
            <a:br>
              <a:rPr lang="en" sz="1500">
                <a:solidFill>
                  <a:schemeClr val="dk1"/>
                </a:solidFill>
                <a:latin typeface="Helvetica Neue Light"/>
                <a:ea typeface="Helvetica Neue Light"/>
                <a:cs typeface="Helvetica Neue Light"/>
                <a:sym typeface="Helvetica Neue Light"/>
              </a:rPr>
            </a:br>
            <a:r>
              <a:rPr lang="en" sz="1500">
                <a:solidFill>
                  <a:schemeClr val="dk1"/>
                </a:solidFill>
                <a:latin typeface="Helvetica Neue Light"/>
                <a:ea typeface="Helvetica Neue Light"/>
                <a:cs typeface="Helvetica Neue Light"/>
                <a:sym typeface="Helvetica Neue Light"/>
              </a:rPr>
              <a:t>.</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Purpose of structure:</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Undermines the reliability of “truth” — we never know for sure what happened.</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Shifts the moral center: the Queen frames herself as protector, Snow White as predator.</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The climax (Snow White’s return and the Queen’s execution) reverses expectations — the “villain” is destroyed but the ending feels unjust.</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0"/>
              </a:spcBef>
              <a:spcAft>
                <a:spcPts val="0"/>
              </a:spcAft>
              <a:buClr>
                <a:schemeClr val="dk1"/>
              </a:buClr>
              <a:buSzPts val="1500"/>
              <a:buFont typeface="Helvetica Neue Light"/>
              <a:buChar char="●"/>
            </a:pPr>
            <a:r>
              <a:rPr lang="en" sz="1500">
                <a:solidFill>
                  <a:schemeClr val="dk1"/>
                </a:solidFill>
                <a:latin typeface="Helvetica Neue Light"/>
                <a:ea typeface="Helvetica Neue Light"/>
                <a:cs typeface="Helvetica Neue Light"/>
                <a:sym typeface="Helvetica Neue Light"/>
              </a:rPr>
              <a:t>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Raises questions about </a:t>
            </a:r>
            <a:r>
              <a:rPr i="1" lang="en" sz="1500">
                <a:solidFill>
                  <a:schemeClr val="dk1"/>
                </a:solidFill>
                <a:latin typeface="Helvetica Neue Light"/>
                <a:ea typeface="Helvetica Neue Light"/>
                <a:cs typeface="Helvetica Neue Light"/>
                <a:sym typeface="Helvetica Neue Light"/>
              </a:rPr>
              <a:t>who controls the story</a:t>
            </a:r>
            <a:r>
              <a:rPr lang="en" sz="1500">
                <a:solidFill>
                  <a:schemeClr val="dk1"/>
                </a:solidFill>
                <a:latin typeface="Helvetica Neue Light"/>
                <a:ea typeface="Helvetica Neue Light"/>
                <a:cs typeface="Helvetica Neue Light"/>
                <a:sym typeface="Helvetica Neue Light"/>
              </a:rPr>
              <a:t> and how perspective shapes truth.</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323850" lvl="1" marL="914400" rtl="0" algn="l">
              <a:lnSpc>
                <a:spcPct val="115000"/>
              </a:lnSpc>
              <a:spcBef>
                <a:spcPts val="0"/>
              </a:spcBef>
              <a:spcAft>
                <a:spcPts val="0"/>
              </a:spcAft>
              <a:buClr>
                <a:schemeClr val="dk1"/>
              </a:buClr>
              <a:buSzPts val="1500"/>
              <a:buFont typeface="Helvetica Neue Light"/>
              <a:buAutoNum type="alphaLcPeriod"/>
            </a:pPr>
            <a:r>
              <a:rPr lang="en" sz="1500">
                <a:solidFill>
                  <a:schemeClr val="dk1"/>
                </a:solidFill>
                <a:latin typeface="Helvetica Neue Light"/>
                <a:ea typeface="Helvetica Neue Light"/>
                <a:cs typeface="Helvetica Neue Light"/>
                <a:sym typeface="Helvetica Neue Light"/>
              </a:rPr>
              <a:t>Highlights themes of sexuality, monstrosity, and survival.</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98450" lvl="1" marL="914400" rtl="0" algn="l">
              <a:lnSpc>
                <a:spcPct val="115000"/>
              </a:lnSpc>
              <a:spcBef>
                <a:spcPts val="0"/>
              </a:spcBef>
              <a:spcAft>
                <a:spcPts val="0"/>
              </a:spcAft>
              <a:buClr>
                <a:schemeClr val="dk1"/>
              </a:buClr>
              <a:buSzPts val="1100"/>
              <a:buAutoNum type="alphaLcPeriod"/>
            </a:pPr>
            <a:r>
              <a:rPr lang="en" sz="1500">
                <a:solidFill>
                  <a:schemeClr val="dk1"/>
                </a:solidFill>
                <a:latin typeface="Helvetica Neue Light"/>
                <a:ea typeface="Helvetica Neue Light"/>
                <a:cs typeface="Helvetica Neue Light"/>
                <a:sym typeface="Helvetica Neue Light"/>
              </a:rPr>
              <a:t>Creates </a:t>
            </a:r>
            <a:r>
              <a:rPr i="1" lang="en" sz="1500">
                <a:solidFill>
                  <a:schemeClr val="dk1"/>
                </a:solidFill>
                <a:latin typeface="Helvetica Neue Light"/>
                <a:ea typeface="Helvetica Neue Light"/>
                <a:cs typeface="Helvetica Neue Light"/>
                <a:sym typeface="Helvetica Neue Light"/>
              </a:rPr>
              <a:t>moral ambiguity</a:t>
            </a:r>
            <a:r>
              <a:rPr lang="en" sz="1500">
                <a:solidFill>
                  <a:schemeClr val="dk1"/>
                </a:solidFill>
                <a:latin typeface="Helvetica Neue Light"/>
                <a:ea typeface="Helvetica Neue Light"/>
                <a:cs typeface="Helvetica Neue Light"/>
                <a:sym typeface="Helvetica Neue Light"/>
              </a:rPr>
              <a:t> — readers must decide whom to believe.</a:t>
            </a:r>
            <a:br>
              <a:rPr lang="en">
                <a:solidFill>
                  <a:schemeClr val="dk1"/>
                </a:solidFill>
              </a:rPr>
            </a:br>
            <a:endParaRPr>
              <a:solidFill>
                <a:schemeClr val="dk1"/>
              </a:solidFill>
            </a:endParaRPr>
          </a:p>
          <a:p>
            <a:pPr indent="0" lvl="0" marL="457200" rtl="0" algn="l">
              <a:lnSpc>
                <a:spcPct val="115000"/>
              </a:lnSpc>
              <a:spcBef>
                <a:spcPts val="1200"/>
              </a:spcBef>
              <a:spcAft>
                <a:spcPts val="0"/>
              </a:spcAft>
              <a:buNone/>
            </a:pPr>
            <a:r>
              <a:t/>
            </a: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4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Interpretive Notes</a:t>
            </a:r>
            <a:endParaRPr sz="1500">
              <a:solidFill>
                <a:schemeClr val="dk1"/>
              </a:solidFill>
              <a:latin typeface="Helvetica Neue Light"/>
              <a:ea typeface="Helvetica Neue Light"/>
              <a:cs typeface="Helvetica Neue Light"/>
              <a:sym typeface="Helvetica Neue Light"/>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latin typeface="Helvetica Neue Light"/>
                <a:ea typeface="Helvetica Neue Light"/>
                <a:cs typeface="Helvetica Neue Light"/>
                <a:sym typeface="Helvetica Neue Light"/>
              </a:rPr>
              <a:t>Plot: Grimm’s tale reinforces moral binaries, while Gaiman destabilizes them, showing how narrative framing changes meaning.</a:t>
            </a:r>
            <a:br>
              <a:rPr lang="en" sz="1500">
                <a:solidFill>
                  <a:schemeClr val="dk1"/>
                </a:solidFill>
                <a:latin typeface="Helvetica Neue Light"/>
                <a:ea typeface="Helvetica Neue Light"/>
                <a:cs typeface="Helvetica Neue Light"/>
                <a:sym typeface="Helvetica Neue Light"/>
              </a:rPr>
            </a:br>
            <a:endParaRPr sz="1500">
              <a:solidFill>
                <a:schemeClr val="dk1"/>
              </a:solidFill>
              <a:latin typeface="Helvetica Neue Light"/>
              <a:ea typeface="Helvetica Neue Light"/>
              <a:cs typeface="Helvetica Neue Light"/>
              <a:sym typeface="Helvetica Neue Light"/>
            </a:endParaRPr>
          </a:p>
          <a:p>
            <a:pPr indent="-298450" lvl="0" marL="457200" rtl="0" algn="l">
              <a:lnSpc>
                <a:spcPct val="115000"/>
              </a:lnSpc>
              <a:spcBef>
                <a:spcPts val="0"/>
              </a:spcBef>
              <a:spcAft>
                <a:spcPts val="0"/>
              </a:spcAft>
              <a:buClr>
                <a:schemeClr val="dk1"/>
              </a:buClr>
              <a:buSzPts val="1100"/>
              <a:buChar char="●"/>
            </a:pPr>
            <a:r>
              <a:rPr lang="en" sz="1500">
                <a:solidFill>
                  <a:schemeClr val="dk1"/>
                </a:solidFill>
                <a:latin typeface="Helvetica Neue Light"/>
                <a:ea typeface="Helvetica Neue Light"/>
                <a:cs typeface="Helvetica Neue Light"/>
                <a:sym typeface="Helvetica Neue Light"/>
              </a:rPr>
              <a:t>Perspective: Grimm’s neutral, “all-seeing” narrator vs. Gaiman’s personal, confessional, unreliable narrator — demonstrating how shifting POV can completely reframe who is hero and who is monster.</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636fa218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636fa218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Helvetica Neue Light"/>
                <a:ea typeface="Helvetica Neue Light"/>
                <a:cs typeface="Helvetica Neue Light"/>
                <a:sym typeface="Helvetica Neue Light"/>
              </a:rPr>
              <a:t>Practice Prompt: </a:t>
            </a:r>
            <a:r>
              <a:rPr lang="en" sz="1500">
                <a:solidFill>
                  <a:schemeClr val="dk1"/>
                </a:solidFill>
                <a:latin typeface="Helvetica Neue Light"/>
                <a:ea typeface="Helvetica Neue Light"/>
                <a:cs typeface="Helvetica Neue Light"/>
                <a:sym typeface="Helvetica Neue Light"/>
              </a:rPr>
              <a:t>Write an analytical paragraph in which you examine how Gaiman’s use of narrative perspective and point of view shapes the reader’s interpretation of the story.</a:t>
            </a:r>
            <a:endParaRPr sz="15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Clr>
                <a:schemeClr val="dk1"/>
              </a:buClr>
              <a:buSzPts val="1100"/>
              <a:buFont typeface="Arial"/>
              <a:buNone/>
            </a:pPr>
            <a:r>
              <a:t/>
            </a:r>
            <a:endParaRPr sz="1500">
              <a:solidFill>
                <a:schemeClr val="dk1"/>
              </a:solidFill>
            </a:endParaRPr>
          </a:p>
          <a:p>
            <a:pPr indent="0" lvl="0" marL="0" rtl="0" algn="l">
              <a:spcBef>
                <a:spcPts val="1200"/>
              </a:spcBef>
              <a:spcAft>
                <a:spcPts val="0"/>
              </a:spcAft>
              <a:buNone/>
            </a:pPr>
            <a:r>
              <a:t/>
            </a:r>
            <a:endParaRPr sz="15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636fa2184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636fa218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Helvetica Neue Light"/>
                <a:ea typeface="Helvetica Neue Light"/>
                <a:cs typeface="Helvetica Neue Light"/>
                <a:sym typeface="Helvetica Neue Light"/>
              </a:rPr>
              <a:t>Rubric for if you want students to Peer Review the paragraph they write for </a:t>
            </a:r>
            <a:r>
              <a:rPr i="1" lang="en" sz="1500">
                <a:latin typeface="Helvetica Neue Light"/>
                <a:ea typeface="Helvetica Neue Light"/>
                <a:cs typeface="Helvetica Neue Light"/>
                <a:sym typeface="Helvetica Neue Light"/>
              </a:rPr>
              <a:t>Snow, Glass, Apples.</a:t>
            </a:r>
            <a:br>
              <a:rPr i="1" lang="en" sz="1500">
                <a:latin typeface="Helvetica Neue Light"/>
                <a:ea typeface="Helvetica Neue Light"/>
                <a:cs typeface="Helvetica Neue Light"/>
                <a:sym typeface="Helvetica Neue Light"/>
              </a:rPr>
            </a:br>
            <a:br>
              <a:rPr i="1" lang="en" sz="1500">
                <a:latin typeface="Helvetica Neue Light"/>
                <a:ea typeface="Helvetica Neue Light"/>
                <a:cs typeface="Helvetica Neue Light"/>
                <a:sym typeface="Helvetica Neue Light"/>
              </a:rPr>
            </a:br>
            <a:r>
              <a:rPr lang="en" sz="1500">
                <a:latin typeface="Helvetica Neue Light"/>
                <a:ea typeface="Helvetica Neue Light"/>
                <a:cs typeface="Helvetica Neue Light"/>
                <a:sym typeface="Helvetica Neue Light"/>
              </a:rPr>
              <a:t>Also located in the drive.</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664fb5b0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664fb5b0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74747"/>
                </a:solidFill>
                <a:latin typeface="Helvetica Neue"/>
                <a:ea typeface="Helvetica Neue"/>
                <a:cs typeface="Helvetica Neue"/>
                <a:sym typeface="Helvetica Neue"/>
              </a:rPr>
              <a:t>Stream of consciousness</a:t>
            </a:r>
            <a:r>
              <a:rPr lang="en" sz="1500">
                <a:solidFill>
                  <a:srgbClr val="474747"/>
                </a:solidFill>
                <a:latin typeface="Helvetica Neue Light"/>
                <a:ea typeface="Helvetica Neue Light"/>
                <a:cs typeface="Helvetica Neue Light"/>
                <a:sym typeface="Helvetica Neue Light"/>
              </a:rPr>
              <a:t> is a style or technique of writing that tries to capture the natural flow of a character's extended thought process, often by incorporating sensory impressions, incomplete ideas, unusual syntax, and rough grammar.</a:t>
            </a:r>
            <a:br>
              <a:rPr lang="en" sz="1500">
                <a:solidFill>
                  <a:srgbClr val="474747"/>
                </a:solidFill>
                <a:latin typeface="Helvetica Neue Light"/>
                <a:ea typeface="Helvetica Neue Light"/>
                <a:cs typeface="Helvetica Neue Light"/>
                <a:sym typeface="Helvetica Neue Light"/>
              </a:rPr>
            </a:br>
            <a:br>
              <a:rPr lang="en" sz="1500">
                <a:solidFill>
                  <a:srgbClr val="474747"/>
                </a:solidFill>
                <a:latin typeface="Helvetica Neue Light"/>
                <a:ea typeface="Helvetica Neue Light"/>
                <a:cs typeface="Helvetica Neue Light"/>
                <a:sym typeface="Helvetica Neue Light"/>
              </a:rPr>
            </a:br>
            <a:r>
              <a:rPr b="1" lang="en" sz="1500">
                <a:solidFill>
                  <a:srgbClr val="474747"/>
                </a:solidFill>
                <a:latin typeface="Helvetica Neue"/>
                <a:ea typeface="Helvetica Neue"/>
                <a:cs typeface="Helvetica Neue"/>
                <a:sym typeface="Helvetica Neue"/>
              </a:rPr>
              <a:t>The Twilight Zone</a:t>
            </a:r>
            <a:r>
              <a:rPr lang="en" sz="1500">
                <a:solidFill>
                  <a:srgbClr val="474747"/>
                </a:solidFill>
                <a:latin typeface="Helvetica Neue Light"/>
                <a:ea typeface="Helvetica Neue Light"/>
                <a:cs typeface="Helvetica Neue Light"/>
                <a:sym typeface="Helvetica Neue Light"/>
              </a:rPr>
              <a:t> is a fantasy, sci-fi, horror anthology series about ordinary people in extraordinary situations involving futuristic societies, space travel, aliens invasions, telepathy, dreams, death and the afterlife, time travel, and cautionary tales of dystopian societies and conformity.</a:t>
            </a:r>
            <a:endParaRPr sz="1500">
              <a:latin typeface="Helvetica Neue Light"/>
              <a:ea typeface="Helvetica Neue Light"/>
              <a:cs typeface="Helvetica Neue Light"/>
              <a:sym typeface="Helvetica Neue 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664fb5b01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664fb5b01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1200"/>
              </a:spcAft>
              <a:buClr>
                <a:schemeClr val="dk1"/>
              </a:buClr>
              <a:buSzPts val="853"/>
              <a:buFont typeface="Arial"/>
              <a:buNone/>
            </a:pPr>
            <a:r>
              <a:rPr lang="en" sz="1500">
                <a:solidFill>
                  <a:schemeClr val="dk1"/>
                </a:solidFill>
                <a:latin typeface="Helvetica Neue"/>
                <a:ea typeface="Helvetica Neue"/>
                <a:cs typeface="Helvetica Neue"/>
                <a:sym typeface="Helvetica Neue"/>
              </a:rPr>
              <a:t>Prompt: </a:t>
            </a:r>
            <a:r>
              <a:rPr lang="en" sz="1500">
                <a:solidFill>
                  <a:schemeClr val="dk1"/>
                </a:solidFill>
                <a:latin typeface="Helvetica Neue"/>
                <a:ea typeface="Helvetica Neue"/>
                <a:cs typeface="Helvetica Neue"/>
                <a:sym typeface="Helvetica Neue"/>
              </a:rPr>
              <a:t>Write an analytical paragraph in which you explain how the episode’s use of narrative perspective shapes the audience’s interpretation of the story.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hyperlink" Target="https://en.wikipedia.org/wiki/Stream_of_consciousnes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29333" y="2936000"/>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8000">
                <a:solidFill>
                  <a:srgbClr val="FFFFFF"/>
                </a:solidFill>
                <a:latin typeface="Helvetica Neue"/>
                <a:ea typeface="Helvetica Neue"/>
                <a:cs typeface="Helvetica Neue"/>
                <a:sym typeface="Helvetica Neue"/>
              </a:rPr>
              <a:t>Developing </a:t>
            </a:r>
            <a:endParaRPr b="1" sz="8000">
              <a:solidFill>
                <a:srgbClr val="FFFFFF"/>
              </a:solidFill>
              <a:latin typeface="Helvetica Neue"/>
              <a:ea typeface="Helvetica Neue"/>
              <a:cs typeface="Helvetica Neue"/>
              <a:sym typeface="Helvetica Neue"/>
            </a:endParaRPr>
          </a:p>
          <a:p>
            <a:pPr indent="0" lvl="0" marL="0" rtl="0" algn="l">
              <a:spcBef>
                <a:spcPts val="0"/>
              </a:spcBef>
              <a:spcAft>
                <a:spcPts val="0"/>
              </a:spcAft>
              <a:buNone/>
            </a:pPr>
            <a:r>
              <a:rPr b="1" lang="en" sz="8000">
                <a:solidFill>
                  <a:srgbClr val="FFFFFF"/>
                </a:solidFill>
                <a:latin typeface="Helvetica Neue"/>
                <a:ea typeface="Helvetica Neue"/>
                <a:cs typeface="Helvetica Neue"/>
                <a:sym typeface="Helvetica Neue"/>
              </a:rPr>
              <a:t>a </a:t>
            </a:r>
            <a:endParaRPr b="1" sz="8000">
              <a:solidFill>
                <a:srgbClr val="FFFFFF"/>
              </a:solidFill>
              <a:latin typeface="Helvetica Neue"/>
              <a:ea typeface="Helvetica Neue"/>
              <a:cs typeface="Helvetica Neue"/>
              <a:sym typeface="Helvetica Neue"/>
            </a:endParaRPr>
          </a:p>
          <a:p>
            <a:pPr indent="0" lvl="0" marL="0" rtl="0" algn="l">
              <a:spcBef>
                <a:spcPts val="0"/>
              </a:spcBef>
              <a:spcAft>
                <a:spcPts val="0"/>
              </a:spcAft>
              <a:buNone/>
            </a:pPr>
            <a:r>
              <a:rPr b="1" lang="en" sz="8000">
                <a:solidFill>
                  <a:srgbClr val="FFFFFF"/>
                </a:solidFill>
                <a:latin typeface="Helvetica Neue"/>
                <a:ea typeface="Helvetica Neue"/>
                <a:cs typeface="Helvetica Neue"/>
                <a:sym typeface="Helvetica Neue"/>
              </a:rPr>
              <a:t>Defensible </a:t>
            </a:r>
            <a:endParaRPr b="1" sz="8000">
              <a:solidFill>
                <a:srgbClr val="FFFFFF"/>
              </a:solidFill>
              <a:latin typeface="Helvetica Neue"/>
              <a:ea typeface="Helvetica Neue"/>
              <a:cs typeface="Helvetica Neue"/>
              <a:sym typeface="Helvetica Neue"/>
            </a:endParaRPr>
          </a:p>
          <a:p>
            <a:pPr indent="0" lvl="0" marL="0" rtl="0" algn="l">
              <a:spcBef>
                <a:spcPts val="0"/>
              </a:spcBef>
              <a:spcAft>
                <a:spcPts val="0"/>
              </a:spcAft>
              <a:buNone/>
            </a:pPr>
            <a:r>
              <a:rPr b="1" lang="en" sz="8000">
                <a:solidFill>
                  <a:srgbClr val="FFFFFF"/>
                </a:solidFill>
                <a:latin typeface="Helvetica Neue"/>
                <a:ea typeface="Helvetica Neue"/>
                <a:cs typeface="Helvetica Neue"/>
                <a:sym typeface="Helvetica Neue"/>
              </a:rPr>
              <a:t>Claim</a:t>
            </a:r>
            <a:endParaRPr b="1" sz="8000">
              <a:solidFill>
                <a:srgbClr val="FFFFFF"/>
              </a:solidFill>
              <a:latin typeface="Helvetica Neue"/>
              <a:ea typeface="Helvetica Neue"/>
              <a:cs typeface="Helvetica Neue"/>
              <a:sym typeface="Helvetica Neue"/>
            </a:endParaRPr>
          </a:p>
        </p:txBody>
      </p:sp>
      <p:sp>
        <p:nvSpPr>
          <p:cNvPr id="55" name="Google Shape;55;p13"/>
          <p:cNvSpPr txBox="1"/>
          <p:nvPr>
            <p:ph idx="1" type="subTitle"/>
          </p:nvPr>
        </p:nvSpPr>
        <p:spPr>
          <a:xfrm>
            <a:off x="486375" y="4196000"/>
            <a:ext cx="8520600" cy="792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n">
                <a:solidFill>
                  <a:srgbClr val="FFFFFF"/>
                </a:solidFill>
                <a:latin typeface="Helvetica Neue Light"/>
                <a:ea typeface="Helvetica Neue Light"/>
                <a:cs typeface="Helvetica Neue Light"/>
                <a:sym typeface="Helvetica Neue Light"/>
              </a:rPr>
              <a:t>Literary Arguments</a:t>
            </a:r>
            <a:endParaRPr>
              <a:solidFill>
                <a:srgbClr val="FFFFFF"/>
              </a:solidFill>
              <a:latin typeface="Helvetica Neue Light"/>
              <a:ea typeface="Helvetica Neue Light"/>
              <a:cs typeface="Helvetica Neue Light"/>
              <a:sym typeface="Helvetica Neue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b="1" lang="en" sz="5920">
                <a:solidFill>
                  <a:schemeClr val="lt1"/>
                </a:solidFill>
                <a:latin typeface="Helvetica Neue"/>
                <a:ea typeface="Helvetica Neue"/>
                <a:cs typeface="Helvetica Neue"/>
                <a:sym typeface="Helvetica Neue"/>
              </a:rPr>
              <a:t>Claim</a:t>
            </a:r>
            <a:endParaRPr b="1" sz="5920">
              <a:solidFill>
                <a:schemeClr val="lt1"/>
              </a:solidFill>
              <a:latin typeface="Helvetica Neue"/>
              <a:ea typeface="Helvetica Neue"/>
              <a:cs typeface="Helvetica Neue"/>
              <a:sym typeface="Helvetica Neue"/>
            </a:endParaRPr>
          </a:p>
        </p:txBody>
      </p:sp>
      <p:sp>
        <p:nvSpPr>
          <p:cNvPr id="61" name="Google Shape;61;p14"/>
          <p:cNvSpPr txBox="1"/>
          <p:nvPr>
            <p:ph idx="1" type="body"/>
          </p:nvPr>
        </p:nvSpPr>
        <p:spPr>
          <a:xfrm>
            <a:off x="311700" y="1629375"/>
            <a:ext cx="8520600" cy="293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solidFill>
                  <a:schemeClr val="lt1"/>
                </a:solidFill>
                <a:latin typeface="Helvetica Neue Light"/>
                <a:ea typeface="Helvetica Neue Light"/>
                <a:cs typeface="Helvetica Neue Light"/>
                <a:sym typeface="Helvetica Neue Light"/>
              </a:rPr>
              <a:t>A statement that requires a defense with evidence from the text. </a:t>
            </a:r>
            <a:endParaRPr sz="27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lang="en" sz="2700">
                <a:solidFill>
                  <a:schemeClr val="lt1"/>
                </a:solidFill>
                <a:latin typeface="Helvetica Neue Light"/>
                <a:ea typeface="Helvetica Neue Light"/>
                <a:cs typeface="Helvetica Neue Light"/>
                <a:sym typeface="Helvetica Neue Light"/>
              </a:rPr>
              <a:t>A synthesis (or combination) of smaller ideas into a larger, insightful idea that puts forth an original understanding of the deeper meaning of  text.</a:t>
            </a:r>
            <a:r>
              <a:rPr lang="en" sz="2500">
                <a:solidFill>
                  <a:schemeClr val="lt1"/>
                </a:solidFill>
                <a:latin typeface="Helvetica Neue Light"/>
                <a:ea typeface="Helvetica Neue Light"/>
                <a:cs typeface="Helvetica Neue Light"/>
                <a:sym typeface="Helvetica Neue Light"/>
              </a:rPr>
              <a:t> </a:t>
            </a:r>
            <a:endParaRPr sz="25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5"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b="20161" l="4332" r="5982" t="16500"/>
          <a:stretch/>
        </p:blipFill>
        <p:spPr>
          <a:xfrm>
            <a:off x="0" y="0"/>
            <a:ext cx="9144000" cy="5143500"/>
          </a:xfrm>
          <a:prstGeom prst="rect">
            <a:avLst/>
          </a:prstGeom>
          <a:noFill/>
          <a:ln>
            <a:noFill/>
          </a:ln>
        </p:spPr>
      </p:pic>
      <p:sp>
        <p:nvSpPr>
          <p:cNvPr id="67" name="Google Shape;67;p15"/>
          <p:cNvSpPr txBox="1"/>
          <p:nvPr>
            <p:ph type="title"/>
          </p:nvPr>
        </p:nvSpPr>
        <p:spPr>
          <a:xfrm>
            <a:off x="311700" y="233375"/>
            <a:ext cx="85206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b="1" lang="en" sz="5920">
                <a:solidFill>
                  <a:schemeClr val="lt1"/>
                </a:solidFill>
                <a:latin typeface="Helvetica Neue"/>
                <a:ea typeface="Helvetica Neue"/>
                <a:cs typeface="Helvetica Neue"/>
                <a:sym typeface="Helvetica Neue"/>
              </a:rPr>
              <a:t>This begins with…</a:t>
            </a:r>
            <a:endParaRPr b="1" sz="5920">
              <a:solidFill>
                <a:schemeClr val="lt1"/>
              </a:solidFill>
              <a:latin typeface="Helvetica Neue"/>
              <a:ea typeface="Helvetica Neue"/>
              <a:cs typeface="Helvetica Neue"/>
              <a:sym typeface="Helvetica Neue"/>
            </a:endParaRPr>
          </a:p>
        </p:txBody>
      </p:sp>
      <p:sp>
        <p:nvSpPr>
          <p:cNvPr id="68" name="Google Shape;68;p15"/>
          <p:cNvSpPr txBox="1"/>
          <p:nvPr>
            <p:ph idx="1" type="body"/>
          </p:nvPr>
        </p:nvSpPr>
        <p:spPr>
          <a:xfrm>
            <a:off x="311700" y="1452975"/>
            <a:ext cx="8520600" cy="29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solidFill>
                  <a:schemeClr val="lt1"/>
                </a:solidFill>
                <a:latin typeface="Helvetica Neue Light"/>
                <a:ea typeface="Helvetica Neue Light"/>
                <a:cs typeface="Helvetica Neue Light"/>
                <a:sym typeface="Helvetica Neue Light"/>
              </a:rPr>
              <a:t>Important sentences</a:t>
            </a:r>
            <a:endParaRPr sz="39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lang="en" sz="3900">
                <a:solidFill>
                  <a:schemeClr val="lt1"/>
                </a:solidFill>
                <a:latin typeface="Helvetica Neue Light"/>
                <a:ea typeface="Helvetica Neue Light"/>
                <a:cs typeface="Helvetica Neue Light"/>
                <a:sym typeface="Helvetica Neue Light"/>
              </a:rPr>
              <a:t>Key words</a:t>
            </a:r>
            <a:endParaRPr sz="39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lang="en" sz="3900">
                <a:solidFill>
                  <a:schemeClr val="lt1"/>
                </a:solidFill>
                <a:latin typeface="Helvetica Neue Light"/>
                <a:ea typeface="Helvetica Neue Light"/>
                <a:cs typeface="Helvetica Neue Light"/>
                <a:sym typeface="Helvetica Neue Light"/>
              </a:rPr>
              <a:t>A whole paragraph that seems crucial</a:t>
            </a:r>
            <a:endParaRPr sz="39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lang="en" sz="3900">
                <a:solidFill>
                  <a:schemeClr val="lt1"/>
                </a:solidFill>
                <a:latin typeface="Helvetica Neue Light"/>
                <a:ea typeface="Helvetica Neue Light"/>
                <a:cs typeface="Helvetica Neue Light"/>
                <a:sym typeface="Helvetica Neue Light"/>
              </a:rPr>
              <a:t>A symbol or object that repeats</a:t>
            </a:r>
            <a:endParaRPr sz="39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546800" y="-564450"/>
            <a:ext cx="10336500" cy="6279300"/>
          </a:xfrm>
          <a:prstGeom prst="rect">
            <a:avLst/>
          </a:prstGeom>
        </p:spPr>
        <p:txBody>
          <a:bodyPr anchorCtr="0" anchor="t" bIns="91425" lIns="91425" spcFirstLastPara="1" rIns="91425" wrap="square" tIns="91425">
            <a:normAutofit fontScale="40000" lnSpcReduction="20000"/>
          </a:bodyPr>
          <a:lstStyle/>
          <a:p>
            <a:pPr indent="0" lvl="0" marL="0" rtl="0" algn="ctr">
              <a:lnSpc>
                <a:spcPct val="150000"/>
              </a:lnSpc>
              <a:spcBef>
                <a:spcPts val="0"/>
              </a:spcBef>
              <a:spcAft>
                <a:spcPts val="0"/>
              </a:spcAft>
              <a:buNone/>
            </a:pPr>
            <a:r>
              <a:t/>
            </a:r>
            <a:endParaRPr b="1" sz="9495">
              <a:solidFill>
                <a:schemeClr val="dk1"/>
              </a:solidFill>
              <a:latin typeface="Helvetica Neue"/>
              <a:ea typeface="Helvetica Neue"/>
              <a:cs typeface="Helvetica Neue"/>
              <a:sym typeface="Helvetica Neue"/>
            </a:endParaRPr>
          </a:p>
          <a:p>
            <a:pPr indent="0" lvl="0" marL="0" rtl="0" algn="ctr">
              <a:lnSpc>
                <a:spcPct val="150000"/>
              </a:lnSpc>
              <a:spcBef>
                <a:spcPts val="1200"/>
              </a:spcBef>
              <a:spcAft>
                <a:spcPts val="0"/>
              </a:spcAft>
              <a:buNone/>
            </a:pPr>
            <a:r>
              <a:rPr lang="en" sz="9495">
                <a:solidFill>
                  <a:schemeClr val="dk1"/>
                </a:solidFill>
                <a:latin typeface="Helvetica Neue Light"/>
                <a:ea typeface="Helvetica Neue Light"/>
                <a:cs typeface="Helvetica Neue Light"/>
                <a:sym typeface="Helvetica Neue Light"/>
              </a:rPr>
              <a:t>Evidence</a:t>
            </a:r>
            <a:endParaRPr sz="9495">
              <a:solidFill>
                <a:schemeClr val="dk1"/>
              </a:solidFill>
              <a:latin typeface="Helvetica Neue Light"/>
              <a:ea typeface="Helvetica Neue Light"/>
              <a:cs typeface="Helvetica Neue Light"/>
              <a:sym typeface="Helvetica Neue Light"/>
            </a:endParaRPr>
          </a:p>
          <a:p>
            <a:pPr indent="0" lvl="0" marL="0" rtl="0" algn="ctr">
              <a:lnSpc>
                <a:spcPct val="150000"/>
              </a:lnSpc>
              <a:spcBef>
                <a:spcPts val="1200"/>
              </a:spcBef>
              <a:spcAft>
                <a:spcPts val="0"/>
              </a:spcAft>
              <a:buNone/>
            </a:pPr>
            <a:r>
              <a:rPr lang="en" sz="17895">
                <a:solidFill>
                  <a:schemeClr val="dk1"/>
                </a:solidFill>
                <a:latin typeface="Helvetica Neue"/>
                <a:ea typeface="Helvetica Neue"/>
                <a:cs typeface="Helvetica Neue"/>
                <a:sym typeface="Helvetica Neue"/>
              </a:rPr>
              <a:t>Ideas</a:t>
            </a:r>
            <a:endParaRPr sz="19034">
              <a:solidFill>
                <a:schemeClr val="dk1"/>
              </a:solidFill>
              <a:latin typeface="Helvetica Neue"/>
              <a:ea typeface="Helvetica Neue"/>
              <a:cs typeface="Helvetica Neue"/>
              <a:sym typeface="Helvetica Neue"/>
            </a:endParaRPr>
          </a:p>
          <a:p>
            <a:pPr indent="0" lvl="0" marL="0" rtl="0" algn="ctr">
              <a:lnSpc>
                <a:spcPct val="150000"/>
              </a:lnSpc>
              <a:spcBef>
                <a:spcPts val="1200"/>
              </a:spcBef>
              <a:spcAft>
                <a:spcPts val="0"/>
              </a:spcAft>
              <a:buNone/>
            </a:pPr>
            <a:r>
              <a:rPr b="1" lang="en" sz="28000">
                <a:solidFill>
                  <a:schemeClr val="dk1"/>
                </a:solidFill>
                <a:latin typeface="Helvetica Neue"/>
                <a:ea typeface="Helvetica Neue"/>
                <a:cs typeface="Helvetica Neue"/>
                <a:sym typeface="Helvetica Neue"/>
              </a:rPr>
              <a:t>Claim</a:t>
            </a:r>
            <a:endParaRPr b="1" sz="28000">
              <a:solidFill>
                <a:schemeClr val="dk1"/>
              </a:solidFill>
              <a:latin typeface="Helvetica Neue"/>
              <a:ea typeface="Helvetica Neue"/>
              <a:cs typeface="Helvetica Neue"/>
              <a:sym typeface="Helvetica Neue"/>
            </a:endParaRPr>
          </a:p>
          <a:p>
            <a:pPr indent="0" lvl="0" marL="0" rtl="0" algn="l">
              <a:spcBef>
                <a:spcPts val="1200"/>
              </a:spcBef>
              <a:spcAft>
                <a:spcPts val="1200"/>
              </a:spcAft>
              <a:buClr>
                <a:schemeClr val="dk1"/>
              </a:buClr>
              <a:buSzPct val="28205"/>
              <a:buFont typeface="Arial"/>
              <a:buNone/>
            </a:pPr>
            <a:r>
              <a:rPr lang="en" sz="3900">
                <a:solidFill>
                  <a:schemeClr val="lt1"/>
                </a:solidFill>
                <a:latin typeface="Helvetica Neue Light"/>
                <a:ea typeface="Helvetica Neue Light"/>
                <a:cs typeface="Helvetica Neue Light"/>
                <a:sym typeface="Helvetica Neue Light"/>
              </a:rPr>
              <a:t>object that repeats</a:t>
            </a:r>
            <a:endParaRPr/>
          </a:p>
        </p:txBody>
      </p:sp>
      <p:sp>
        <p:nvSpPr>
          <p:cNvPr id="74" name="Google Shape;74;p16"/>
          <p:cNvSpPr/>
          <p:nvPr/>
        </p:nvSpPr>
        <p:spPr>
          <a:xfrm>
            <a:off x="4347600" y="1025568"/>
            <a:ext cx="448800" cy="5715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6"/>
          <p:cNvSpPr/>
          <p:nvPr/>
        </p:nvSpPr>
        <p:spPr>
          <a:xfrm>
            <a:off x="4289550" y="2432275"/>
            <a:ext cx="564900" cy="7140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6"/>
          <p:cNvSpPr txBox="1"/>
          <p:nvPr/>
        </p:nvSpPr>
        <p:spPr>
          <a:xfrm>
            <a:off x="103900" y="103900"/>
            <a:ext cx="24072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dk2"/>
                </a:solidFill>
                <a:latin typeface="Helvetica Neue Light"/>
                <a:ea typeface="Helvetica Neue Light"/>
                <a:cs typeface="Helvetica Neue Light"/>
                <a:sym typeface="Helvetica Neue Light"/>
              </a:rPr>
              <a:t>Planning:</a:t>
            </a:r>
            <a:endParaRPr sz="29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4820">
                <a:solidFill>
                  <a:schemeClr val="lt1"/>
                </a:solidFill>
                <a:latin typeface="Helvetica Neue"/>
                <a:ea typeface="Helvetica Neue"/>
                <a:cs typeface="Helvetica Neue"/>
                <a:sym typeface="Helvetica Neue"/>
              </a:rPr>
              <a:t>Strong Claims</a:t>
            </a:r>
            <a:endParaRPr b="1" sz="4820">
              <a:solidFill>
                <a:schemeClr val="lt1"/>
              </a:solidFill>
              <a:latin typeface="Helvetica Neue"/>
              <a:ea typeface="Helvetica Neue"/>
              <a:cs typeface="Helvetica Neue"/>
              <a:sym typeface="Helvetica Neue"/>
            </a:endParaRPr>
          </a:p>
        </p:txBody>
      </p:sp>
      <p:sp>
        <p:nvSpPr>
          <p:cNvPr id="82" name="Google Shape;82;p17"/>
          <p:cNvSpPr txBox="1"/>
          <p:nvPr>
            <p:ph idx="1" type="body"/>
          </p:nvPr>
        </p:nvSpPr>
        <p:spPr>
          <a:xfrm>
            <a:off x="311700" y="1722600"/>
            <a:ext cx="8520600" cy="2542500"/>
          </a:xfrm>
          <a:prstGeom prst="rect">
            <a:avLst/>
          </a:prstGeom>
        </p:spPr>
        <p:txBody>
          <a:bodyPr anchorCtr="0" anchor="t" bIns="91425" lIns="91425" spcFirstLastPara="1" rIns="91425" wrap="square" tIns="91425">
            <a:normAutofit/>
          </a:bodyPr>
          <a:lstStyle/>
          <a:p>
            <a:pPr indent="-419100" lvl="0" marL="457200" rtl="0" algn="l">
              <a:spcBef>
                <a:spcPts val="0"/>
              </a:spcBef>
              <a:spcAft>
                <a:spcPts val="0"/>
              </a:spcAft>
              <a:buClr>
                <a:schemeClr val="lt1"/>
              </a:buClr>
              <a:buSzPts val="3000"/>
              <a:buFont typeface="Helvetica Neue Light"/>
              <a:buChar char="●"/>
            </a:pPr>
            <a:r>
              <a:rPr lang="en" sz="3000">
                <a:solidFill>
                  <a:schemeClr val="lt1"/>
                </a:solidFill>
                <a:latin typeface="Helvetica Neue Light"/>
                <a:ea typeface="Helvetica Neue Light"/>
                <a:cs typeface="Helvetica Neue Light"/>
                <a:sym typeface="Helvetica Neue Light"/>
              </a:rPr>
              <a:t>Strong claims are insightful; weak claims are vague</a:t>
            </a:r>
            <a:endParaRPr sz="3000">
              <a:solidFill>
                <a:schemeClr val="lt1"/>
              </a:solidFill>
              <a:latin typeface="Helvetica Neue Light"/>
              <a:ea typeface="Helvetica Neue Light"/>
              <a:cs typeface="Helvetica Neue Light"/>
              <a:sym typeface="Helvetica Neue Light"/>
            </a:endParaRPr>
          </a:p>
          <a:p>
            <a:pPr indent="-419100" lvl="0" marL="457200" rtl="0" algn="l">
              <a:spcBef>
                <a:spcPts val="0"/>
              </a:spcBef>
              <a:spcAft>
                <a:spcPts val="0"/>
              </a:spcAft>
              <a:buClr>
                <a:schemeClr val="lt1"/>
              </a:buClr>
              <a:buSzPts val="3000"/>
              <a:buFont typeface="Helvetica Neue Light"/>
              <a:buChar char="●"/>
            </a:pPr>
            <a:r>
              <a:rPr lang="en" sz="3000">
                <a:solidFill>
                  <a:schemeClr val="lt1"/>
                </a:solidFill>
                <a:latin typeface="Helvetica Neue Light"/>
                <a:ea typeface="Helvetica Neue Light"/>
                <a:cs typeface="Helvetica Neue Light"/>
                <a:sym typeface="Helvetica Neue Light"/>
              </a:rPr>
              <a:t>Put forth an original idea based on evidence</a:t>
            </a:r>
            <a:endParaRPr sz="3000">
              <a:solidFill>
                <a:schemeClr val="lt1"/>
              </a:solidFill>
              <a:latin typeface="Helvetica Neue Light"/>
              <a:ea typeface="Helvetica Neue Light"/>
              <a:cs typeface="Helvetica Neue Light"/>
              <a:sym typeface="Helvetica Neue Light"/>
            </a:endParaRPr>
          </a:p>
          <a:p>
            <a:pPr indent="-419100" lvl="0" marL="457200" rtl="0" algn="l">
              <a:spcBef>
                <a:spcPts val="0"/>
              </a:spcBef>
              <a:spcAft>
                <a:spcPts val="0"/>
              </a:spcAft>
              <a:buClr>
                <a:schemeClr val="lt1"/>
              </a:buClr>
              <a:buSzPts val="3000"/>
              <a:buFont typeface="Helvetica Neue Light"/>
              <a:buChar char="●"/>
            </a:pPr>
            <a:r>
              <a:rPr lang="en" sz="3000">
                <a:solidFill>
                  <a:schemeClr val="lt1"/>
                </a:solidFill>
                <a:latin typeface="Helvetica Neue Light"/>
                <a:ea typeface="Helvetica Neue Light"/>
                <a:cs typeface="Helvetica Neue Light"/>
                <a:sym typeface="Helvetica Neue Light"/>
              </a:rPr>
              <a:t>Respond to the prompt in an insightful way</a:t>
            </a:r>
            <a:endParaRPr sz="30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4820">
                <a:solidFill>
                  <a:schemeClr val="lt1"/>
                </a:solidFill>
                <a:latin typeface="Helvetica Neue"/>
                <a:ea typeface="Helvetica Neue"/>
                <a:cs typeface="Helvetica Neue"/>
                <a:sym typeface="Helvetica Neue"/>
              </a:rPr>
              <a:t>Weak</a:t>
            </a:r>
            <a:r>
              <a:rPr b="1" lang="en" sz="4820">
                <a:solidFill>
                  <a:schemeClr val="lt1"/>
                </a:solidFill>
                <a:latin typeface="Helvetica Neue"/>
                <a:ea typeface="Helvetica Neue"/>
                <a:cs typeface="Helvetica Neue"/>
                <a:sym typeface="Helvetica Neue"/>
              </a:rPr>
              <a:t> Claims</a:t>
            </a:r>
            <a:endParaRPr b="1" sz="4820">
              <a:solidFill>
                <a:schemeClr val="lt1"/>
              </a:solidFill>
              <a:latin typeface="Helvetica Neue"/>
              <a:ea typeface="Helvetica Neue"/>
              <a:cs typeface="Helvetica Neue"/>
              <a:sym typeface="Helvetica Neue"/>
            </a:endParaRPr>
          </a:p>
        </p:txBody>
      </p:sp>
      <p:sp>
        <p:nvSpPr>
          <p:cNvPr id="88" name="Google Shape;88;p18"/>
          <p:cNvSpPr txBox="1"/>
          <p:nvPr>
            <p:ph idx="1" type="body"/>
          </p:nvPr>
        </p:nvSpPr>
        <p:spPr>
          <a:xfrm>
            <a:off x="311700" y="1722600"/>
            <a:ext cx="8520600" cy="2542500"/>
          </a:xfrm>
          <a:prstGeom prst="rect">
            <a:avLst/>
          </a:prstGeom>
        </p:spPr>
        <p:txBody>
          <a:bodyPr anchorCtr="0" anchor="t" bIns="91425" lIns="91425" spcFirstLastPara="1" rIns="91425" wrap="square" tIns="91425">
            <a:normAutofit fontScale="85000" lnSpcReduction="20000"/>
          </a:bodyPr>
          <a:lstStyle/>
          <a:p>
            <a:pPr indent="-390525" lvl="0" marL="457200" rtl="0" algn="l">
              <a:spcBef>
                <a:spcPts val="0"/>
              </a:spcBef>
              <a:spcAft>
                <a:spcPts val="0"/>
              </a:spcAft>
              <a:buClr>
                <a:schemeClr val="lt1"/>
              </a:buClr>
              <a:buSzPct val="100000"/>
              <a:buFont typeface="Helvetica Neue Light"/>
              <a:buChar char="●"/>
            </a:pPr>
            <a:r>
              <a:rPr lang="en" sz="3000">
                <a:solidFill>
                  <a:schemeClr val="lt1"/>
                </a:solidFill>
                <a:latin typeface="Helvetica Neue Light"/>
                <a:ea typeface="Helvetica Neue Light"/>
                <a:cs typeface="Helvetica Neue Light"/>
                <a:sym typeface="Helvetica Neue Light"/>
              </a:rPr>
              <a:t>Just restate the prompt or rephrase it; lack an original idea</a:t>
            </a:r>
            <a:endParaRPr sz="3000">
              <a:solidFill>
                <a:schemeClr val="lt1"/>
              </a:solidFill>
              <a:latin typeface="Helvetica Neue Light"/>
              <a:ea typeface="Helvetica Neue Light"/>
              <a:cs typeface="Helvetica Neue Light"/>
              <a:sym typeface="Helvetica Neue Light"/>
            </a:endParaRPr>
          </a:p>
          <a:p>
            <a:pPr indent="-390525" lvl="0" marL="457200" rtl="0" algn="l">
              <a:spcBef>
                <a:spcPts val="0"/>
              </a:spcBef>
              <a:spcAft>
                <a:spcPts val="0"/>
              </a:spcAft>
              <a:buClr>
                <a:schemeClr val="lt1"/>
              </a:buClr>
              <a:buSzPct val="100000"/>
              <a:buFont typeface="Helvetica Neue Light"/>
              <a:buChar char="●"/>
            </a:pPr>
            <a:r>
              <a:rPr lang="en" sz="3000">
                <a:solidFill>
                  <a:schemeClr val="lt1"/>
                </a:solidFill>
                <a:latin typeface="Helvetica Neue Light"/>
                <a:ea typeface="Helvetica Neue Light"/>
                <a:cs typeface="Helvetica Neue Light"/>
                <a:sym typeface="Helvetica Neue Light"/>
              </a:rPr>
              <a:t>Are generic and superficial; they say </a:t>
            </a:r>
            <a:r>
              <a:rPr lang="en" sz="3000">
                <a:solidFill>
                  <a:schemeClr val="lt1"/>
                </a:solidFill>
                <a:latin typeface="Helvetica Neue Light"/>
                <a:ea typeface="Helvetica Neue Light"/>
                <a:cs typeface="Helvetica Neue Light"/>
                <a:sym typeface="Helvetica Neue Light"/>
              </a:rPr>
              <a:t>nothing</a:t>
            </a:r>
            <a:r>
              <a:rPr lang="en" sz="3000">
                <a:solidFill>
                  <a:schemeClr val="lt1"/>
                </a:solidFill>
                <a:latin typeface="Helvetica Neue Light"/>
                <a:ea typeface="Helvetica Neue Light"/>
                <a:cs typeface="Helvetica Neue Light"/>
                <a:sym typeface="Helvetica Neue Light"/>
              </a:rPr>
              <a:t> </a:t>
            </a:r>
            <a:r>
              <a:rPr lang="en" sz="3000">
                <a:solidFill>
                  <a:schemeClr val="lt1"/>
                </a:solidFill>
                <a:latin typeface="Helvetica Neue Light"/>
                <a:ea typeface="Helvetica Neue Light"/>
                <a:cs typeface="Helvetica Neue Light"/>
                <a:sym typeface="Helvetica Neue Light"/>
              </a:rPr>
              <a:t>specific</a:t>
            </a:r>
            <a:r>
              <a:rPr lang="en" sz="3000">
                <a:solidFill>
                  <a:schemeClr val="lt1"/>
                </a:solidFill>
                <a:latin typeface="Helvetica Neue Light"/>
                <a:ea typeface="Helvetica Neue Light"/>
                <a:cs typeface="Helvetica Neue Light"/>
                <a:sym typeface="Helvetica Neue Light"/>
              </a:rPr>
              <a:t> about the story. </a:t>
            </a:r>
            <a:endParaRPr sz="3000">
              <a:solidFill>
                <a:schemeClr val="lt1"/>
              </a:solidFill>
              <a:latin typeface="Helvetica Neue Light"/>
              <a:ea typeface="Helvetica Neue Light"/>
              <a:cs typeface="Helvetica Neue Light"/>
              <a:sym typeface="Helvetica Neue Light"/>
            </a:endParaRPr>
          </a:p>
          <a:p>
            <a:pPr indent="-390525" lvl="0" marL="457200" rtl="0" algn="l">
              <a:spcBef>
                <a:spcPts val="0"/>
              </a:spcBef>
              <a:spcAft>
                <a:spcPts val="0"/>
              </a:spcAft>
              <a:buClr>
                <a:schemeClr val="lt1"/>
              </a:buClr>
              <a:buSzPct val="100000"/>
              <a:buFont typeface="Helvetica Neue Light"/>
              <a:buChar char="●"/>
            </a:pPr>
            <a:r>
              <a:rPr lang="en" sz="3000">
                <a:solidFill>
                  <a:schemeClr val="lt1"/>
                </a:solidFill>
                <a:latin typeface="Helvetica Neue Light"/>
                <a:ea typeface="Helvetica Neue Light"/>
                <a:cs typeface="Helvetica Neue Light"/>
                <a:sym typeface="Helvetica Neue Light"/>
              </a:rPr>
              <a:t>The paragraph needs to be convincing</a:t>
            </a:r>
            <a:endParaRPr sz="3000">
              <a:solidFill>
                <a:schemeClr val="lt1"/>
              </a:solidFill>
              <a:latin typeface="Helvetica Neue Light"/>
              <a:ea typeface="Helvetica Neue Light"/>
              <a:cs typeface="Helvetica Neue Light"/>
              <a:sym typeface="Helvetica Neue Light"/>
            </a:endParaRPr>
          </a:p>
          <a:p>
            <a:pPr indent="-390525" lvl="0" marL="457200" rtl="0" algn="l">
              <a:spcBef>
                <a:spcPts val="0"/>
              </a:spcBef>
              <a:spcAft>
                <a:spcPts val="0"/>
              </a:spcAft>
              <a:buClr>
                <a:schemeClr val="lt1"/>
              </a:buClr>
              <a:buSzPct val="100000"/>
              <a:buFont typeface="Helvetica Neue Light"/>
              <a:buChar char="●"/>
            </a:pPr>
            <a:r>
              <a:rPr lang="en" sz="3000">
                <a:solidFill>
                  <a:schemeClr val="lt1"/>
                </a:solidFill>
                <a:latin typeface="Helvetica Neue Light"/>
                <a:ea typeface="Helvetica Neue Light"/>
                <a:cs typeface="Helvetica Neue Light"/>
                <a:sym typeface="Helvetica Neue Light"/>
              </a:rPr>
              <a:t>Provide a claim, but doesn’t respond to the prompt</a:t>
            </a:r>
            <a:endParaRPr sz="30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4820">
                <a:solidFill>
                  <a:schemeClr val="lt1"/>
                </a:solidFill>
                <a:latin typeface="Helvetica Neue"/>
                <a:ea typeface="Helvetica Neue"/>
                <a:cs typeface="Helvetica Neue"/>
                <a:sym typeface="Helvetica Neue"/>
              </a:rPr>
              <a:t>Weak Claims</a:t>
            </a:r>
            <a:endParaRPr b="1" sz="4820">
              <a:solidFill>
                <a:schemeClr val="lt1"/>
              </a:solidFill>
              <a:latin typeface="Helvetica Neue"/>
              <a:ea typeface="Helvetica Neue"/>
              <a:cs typeface="Helvetica Neue"/>
              <a:sym typeface="Helvetica Neue"/>
            </a:endParaRPr>
          </a:p>
        </p:txBody>
      </p:sp>
      <p:sp>
        <p:nvSpPr>
          <p:cNvPr id="94" name="Google Shape;94;p19"/>
          <p:cNvSpPr txBox="1"/>
          <p:nvPr>
            <p:ph idx="1" type="body"/>
          </p:nvPr>
        </p:nvSpPr>
        <p:spPr>
          <a:xfrm>
            <a:off x="311700" y="1986075"/>
            <a:ext cx="8520600" cy="2542500"/>
          </a:xfrm>
          <a:prstGeom prst="rect">
            <a:avLst/>
          </a:prstGeom>
        </p:spPr>
        <p:txBody>
          <a:bodyPr anchorCtr="0" anchor="t" bIns="91425" lIns="91425" spcFirstLastPara="1" rIns="91425" wrap="square" tIns="91425">
            <a:normAutofit/>
          </a:bodyPr>
          <a:lstStyle/>
          <a:p>
            <a:pPr indent="0" lvl="0" marL="457200" rtl="0" algn="ctr">
              <a:spcBef>
                <a:spcPts val="0"/>
              </a:spcBef>
              <a:spcAft>
                <a:spcPts val="1200"/>
              </a:spcAft>
              <a:buNone/>
            </a:pPr>
            <a:r>
              <a:rPr lang="en" sz="3800">
                <a:solidFill>
                  <a:schemeClr val="lt1"/>
                </a:solidFill>
                <a:latin typeface="Helvetica Neue Light"/>
                <a:ea typeface="Helvetica Neue Light"/>
                <a:cs typeface="Helvetica Neue Light"/>
                <a:sym typeface="Helvetica Neue Light"/>
              </a:rPr>
              <a:t>“The story has a twist ending because the husband comes back alive.”</a:t>
            </a:r>
            <a:endParaRPr sz="38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8" name="Shape 98"/>
        <p:cNvGrpSpPr/>
        <p:nvPr/>
      </p:nvGrpSpPr>
      <p:grpSpPr>
        <a:xfrm>
          <a:off x="0" y="0"/>
          <a:ext cx="0" cy="0"/>
          <a:chOff x="0" y="0"/>
          <a:chExt cx="0" cy="0"/>
        </a:xfrm>
      </p:grpSpPr>
      <p:sp>
        <p:nvSpPr>
          <p:cNvPr id="99" name="Google Shape;99;p20"/>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820">
                <a:solidFill>
                  <a:schemeClr val="lt1"/>
                </a:solidFill>
                <a:latin typeface="Helvetica Neue"/>
                <a:ea typeface="Helvetica Neue"/>
                <a:cs typeface="Helvetica Neue"/>
                <a:sym typeface="Helvetica Neue"/>
              </a:rPr>
              <a:t>Evidence</a:t>
            </a:r>
            <a:endParaRPr b="1" sz="3820">
              <a:solidFill>
                <a:schemeClr val="lt1"/>
              </a:solidFill>
              <a:latin typeface="Helvetica Neue"/>
              <a:ea typeface="Helvetica Neue"/>
              <a:cs typeface="Helvetica Neue"/>
              <a:sym typeface="Helvetica Neue"/>
            </a:endParaRPr>
          </a:p>
        </p:txBody>
      </p:sp>
      <p:sp>
        <p:nvSpPr>
          <p:cNvPr id="100" name="Google Shape;100;p20"/>
          <p:cNvSpPr txBox="1"/>
          <p:nvPr>
            <p:ph idx="1" type="body"/>
          </p:nvPr>
        </p:nvSpPr>
        <p:spPr>
          <a:xfrm>
            <a:off x="311700" y="848486"/>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lt1"/>
                </a:solidFill>
                <a:latin typeface="Helvetica Neue Light"/>
                <a:ea typeface="Helvetica Neue Light"/>
                <a:cs typeface="Helvetica Neue Light"/>
                <a:sym typeface="Helvetica Neue Light"/>
              </a:rPr>
              <a:t>Louise whispers: </a:t>
            </a:r>
            <a:r>
              <a:rPr i="1" lang="en" sz="1500">
                <a:solidFill>
                  <a:schemeClr val="lt1"/>
                </a:solidFill>
                <a:latin typeface="Helvetica Neue Light"/>
                <a:ea typeface="Helvetica Neue Light"/>
                <a:cs typeface="Helvetica Neue Light"/>
                <a:sym typeface="Helvetica Neue Light"/>
              </a:rPr>
              <a:t>“free, free, free!”</a:t>
            </a:r>
            <a:r>
              <a:rPr lang="en" sz="1500">
                <a:solidFill>
                  <a:schemeClr val="lt1"/>
                </a:solidFill>
                <a:latin typeface="Helvetica Neue Light"/>
                <a:ea typeface="Helvetica Neue Light"/>
                <a:cs typeface="Helvetica Neue Light"/>
                <a:sym typeface="Helvetica Neue Light"/>
              </a:rPr>
              <a:t> – shows her sudden realization of independence.</a:t>
            </a:r>
            <a:br>
              <a:rPr lang="en" sz="1500">
                <a:solidFill>
                  <a:schemeClr val="lt1"/>
                </a:solidFill>
                <a:latin typeface="Helvetica Neue Light"/>
                <a:ea typeface="Helvetica Neue Light"/>
                <a:cs typeface="Helvetica Neue Light"/>
                <a:sym typeface="Helvetica Neue Light"/>
              </a:rPr>
            </a:br>
            <a:endParaRPr sz="15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lang="en" sz="1500">
                <a:solidFill>
                  <a:schemeClr val="lt1"/>
                </a:solidFill>
                <a:latin typeface="Helvetica Neue Light"/>
                <a:ea typeface="Helvetica Neue Light"/>
                <a:cs typeface="Helvetica Neue Light"/>
                <a:sym typeface="Helvetica Neue Light"/>
              </a:rPr>
              <a:t>Narrator’s description: </a:t>
            </a:r>
            <a:r>
              <a:rPr i="1" lang="en" sz="1500">
                <a:solidFill>
                  <a:schemeClr val="lt1"/>
                </a:solidFill>
                <a:latin typeface="Helvetica Neue Light"/>
                <a:ea typeface="Helvetica Neue Light"/>
                <a:cs typeface="Helvetica Neue Light"/>
                <a:sym typeface="Helvetica Neue Light"/>
              </a:rPr>
              <a:t>“Her pulses beat fast, and the coursing blood warmed and relaxed every inch of her body.”</a:t>
            </a:r>
            <a:r>
              <a:rPr lang="en" sz="1500">
                <a:solidFill>
                  <a:schemeClr val="lt1"/>
                </a:solidFill>
                <a:latin typeface="Helvetica Neue Light"/>
                <a:ea typeface="Helvetica Neue Light"/>
                <a:cs typeface="Helvetica Neue Light"/>
                <a:sym typeface="Helvetica Neue Light"/>
              </a:rPr>
              <a:t> – physical transformation accompanying emotional liberation.</a:t>
            </a:r>
            <a:br>
              <a:rPr lang="en" sz="1500">
                <a:solidFill>
                  <a:schemeClr val="lt1"/>
                </a:solidFill>
                <a:latin typeface="Helvetica Neue Light"/>
                <a:ea typeface="Helvetica Neue Light"/>
                <a:cs typeface="Helvetica Neue Light"/>
                <a:sym typeface="Helvetica Neue Light"/>
              </a:rPr>
            </a:br>
            <a:endParaRPr sz="15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lang="en" sz="1500">
                <a:solidFill>
                  <a:schemeClr val="lt1"/>
                </a:solidFill>
                <a:latin typeface="Helvetica Neue Light"/>
                <a:ea typeface="Helvetica Neue Light"/>
                <a:cs typeface="Helvetica Neue Light"/>
                <a:sym typeface="Helvetica Neue Light"/>
              </a:rPr>
              <a:t>Louise envisions: </a:t>
            </a:r>
            <a:r>
              <a:rPr i="1" lang="en" sz="1500">
                <a:solidFill>
                  <a:schemeClr val="lt1"/>
                </a:solidFill>
                <a:latin typeface="Helvetica Neue Light"/>
                <a:ea typeface="Helvetica Neue Light"/>
                <a:cs typeface="Helvetica Neue Light"/>
                <a:sym typeface="Helvetica Neue Light"/>
              </a:rPr>
              <a:t>“There would be no one to live for during those coming years; she would live for herself.”</a:t>
            </a:r>
            <a:r>
              <a:rPr lang="en" sz="1500">
                <a:solidFill>
                  <a:schemeClr val="lt1"/>
                </a:solidFill>
                <a:latin typeface="Helvetica Neue Light"/>
                <a:ea typeface="Helvetica Neue Light"/>
                <a:cs typeface="Helvetica Neue Light"/>
                <a:sym typeface="Helvetica Neue Light"/>
              </a:rPr>
              <a:t> – direct assertion of autonomy.</a:t>
            </a:r>
            <a:endParaRPr sz="15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i="1" lang="en" sz="1500">
                <a:solidFill>
                  <a:schemeClr val="lt1"/>
                </a:solidFill>
                <a:latin typeface="Helvetica Neue Light"/>
                <a:ea typeface="Helvetica Neue Light"/>
                <a:cs typeface="Helvetica Neue Light"/>
                <a:sym typeface="Helvetica Neue Light"/>
              </a:rPr>
              <a:t>“There would be no powerful will bending hers in that blind persistence with which men and women believe they have a right to impose a private will upon a fellow-creature.”</a:t>
            </a:r>
            <a:r>
              <a:rPr lang="en" sz="1500">
                <a:solidFill>
                  <a:schemeClr val="lt1"/>
                </a:solidFill>
                <a:latin typeface="Helvetica Neue Light"/>
                <a:ea typeface="Helvetica Neue Light"/>
                <a:cs typeface="Helvetica Neue Light"/>
                <a:sym typeface="Helvetica Neue Light"/>
              </a:rPr>
              <a:t> – critique of domination in marriage.</a:t>
            </a:r>
            <a:endParaRPr sz="1500">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lang="en" sz="1500">
                <a:solidFill>
                  <a:schemeClr val="lt1"/>
                </a:solidFill>
                <a:latin typeface="Helvetica Neue Light"/>
                <a:ea typeface="Helvetica Neue Light"/>
                <a:cs typeface="Helvetica Neue Light"/>
                <a:sym typeface="Helvetica Neue Light"/>
              </a:rPr>
              <a:t>The doctors’ interpretation: </a:t>
            </a:r>
            <a:r>
              <a:rPr i="1" lang="en" sz="1500">
                <a:solidFill>
                  <a:schemeClr val="lt1"/>
                </a:solidFill>
                <a:latin typeface="Helvetica Neue Light"/>
                <a:ea typeface="Helvetica Neue Light"/>
                <a:cs typeface="Helvetica Neue Light"/>
                <a:sym typeface="Helvetica Neue Light"/>
              </a:rPr>
              <a:t>“When the doctors came they said she had died of heart disease—of the joy that kills.”</a:t>
            </a:r>
            <a:r>
              <a:rPr lang="en" sz="1500">
                <a:solidFill>
                  <a:schemeClr val="lt1"/>
                </a:solidFill>
                <a:latin typeface="Helvetica Neue Light"/>
                <a:ea typeface="Helvetica Neue Light"/>
                <a:cs typeface="Helvetica Neue Light"/>
                <a:sym typeface="Helvetica Neue Light"/>
              </a:rPr>
              <a:t> – dramatic irony: the reader knows she died not from joy, but from the devastating loss of her newfound autonomy.</a:t>
            </a:r>
            <a:endParaRPr sz="15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34369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4820">
                <a:solidFill>
                  <a:schemeClr val="lt1"/>
                </a:solidFill>
                <a:latin typeface="Helvetica Neue"/>
                <a:ea typeface="Helvetica Neue"/>
                <a:cs typeface="Helvetica Neue"/>
                <a:sym typeface="Helvetica Neue"/>
              </a:rPr>
              <a:t>Strong</a:t>
            </a:r>
            <a:r>
              <a:rPr b="1" lang="en" sz="4820">
                <a:solidFill>
                  <a:schemeClr val="lt1"/>
                </a:solidFill>
                <a:latin typeface="Helvetica Neue"/>
                <a:ea typeface="Helvetica Neue"/>
                <a:cs typeface="Helvetica Neue"/>
                <a:sym typeface="Helvetica Neue"/>
              </a:rPr>
              <a:t> Claims</a:t>
            </a:r>
            <a:endParaRPr b="1" sz="4820">
              <a:solidFill>
                <a:schemeClr val="lt1"/>
              </a:solidFill>
              <a:latin typeface="Helvetica Neue"/>
              <a:ea typeface="Helvetica Neue"/>
              <a:cs typeface="Helvetica Neue"/>
              <a:sym typeface="Helvetica Neue"/>
            </a:endParaRPr>
          </a:p>
        </p:txBody>
      </p:sp>
      <p:sp>
        <p:nvSpPr>
          <p:cNvPr id="106" name="Google Shape;106;p21"/>
          <p:cNvSpPr txBox="1"/>
          <p:nvPr>
            <p:ph idx="1" type="body"/>
          </p:nvPr>
        </p:nvSpPr>
        <p:spPr>
          <a:xfrm>
            <a:off x="190100" y="1337561"/>
            <a:ext cx="8520600" cy="2542500"/>
          </a:xfrm>
          <a:prstGeom prst="rect">
            <a:avLst/>
          </a:prstGeom>
        </p:spPr>
        <p:txBody>
          <a:bodyPr anchorCtr="0" anchor="t" bIns="91425" lIns="91425" spcFirstLastPara="1" rIns="91425" wrap="square" tIns="91425">
            <a:noAutofit/>
          </a:bodyPr>
          <a:lstStyle/>
          <a:p>
            <a:pPr indent="0" lvl="0" marL="457200" rtl="0" algn="ctr">
              <a:lnSpc>
                <a:spcPct val="95000"/>
              </a:lnSpc>
              <a:spcBef>
                <a:spcPts val="0"/>
              </a:spcBef>
              <a:spcAft>
                <a:spcPts val="1200"/>
              </a:spcAft>
              <a:buSzPts val="770"/>
              <a:buNone/>
            </a:pPr>
            <a:r>
              <a:rPr lang="en" sz="2960">
                <a:solidFill>
                  <a:schemeClr val="lt1"/>
                </a:solidFill>
                <a:latin typeface="Helvetica Neue Light"/>
                <a:ea typeface="Helvetica Neue Light"/>
                <a:cs typeface="Helvetica Neue Light"/>
                <a:sym typeface="Helvetica Neue Light"/>
              </a:rPr>
              <a:t>“</a:t>
            </a:r>
            <a:r>
              <a:rPr lang="en" sz="2960">
                <a:solidFill>
                  <a:schemeClr val="lt1"/>
                </a:solidFill>
                <a:latin typeface="Helvetica Neue Light"/>
                <a:ea typeface="Helvetica Neue Light"/>
                <a:cs typeface="Helvetica Neue Light"/>
                <a:sym typeface="Helvetica Neue Light"/>
              </a:rPr>
              <a:t>Chopin structures the plot around an ironic reversal: the supposed tragedy of Brently’s death becomes Louise’s moment of awakening and freedom, only to be undercut by his unexpected return. This sudden collapse of her imagined future highlights the fragility of autonomy for women within patriarchal marriage.</a:t>
            </a:r>
            <a:r>
              <a:rPr lang="en" sz="2960">
                <a:solidFill>
                  <a:schemeClr val="lt1"/>
                </a:solidFill>
                <a:latin typeface="Helvetica Neue Light"/>
                <a:ea typeface="Helvetica Neue Light"/>
                <a:cs typeface="Helvetica Neue Light"/>
                <a:sym typeface="Helvetica Neue Light"/>
              </a:rPr>
              <a:t>”</a:t>
            </a:r>
            <a:endParaRPr sz="296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34369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4820">
                <a:solidFill>
                  <a:schemeClr val="lt1"/>
                </a:solidFill>
                <a:latin typeface="Helvetica Neue"/>
                <a:ea typeface="Helvetica Neue"/>
                <a:cs typeface="Helvetica Neue"/>
                <a:sym typeface="Helvetica Neue"/>
              </a:rPr>
              <a:t>Strong Claims</a:t>
            </a:r>
            <a:endParaRPr b="1" sz="4820">
              <a:solidFill>
                <a:schemeClr val="lt1"/>
              </a:solidFill>
              <a:latin typeface="Helvetica Neue"/>
              <a:ea typeface="Helvetica Neue"/>
              <a:cs typeface="Helvetica Neue"/>
              <a:sym typeface="Helvetica Neue"/>
            </a:endParaRPr>
          </a:p>
        </p:txBody>
      </p:sp>
      <p:sp>
        <p:nvSpPr>
          <p:cNvPr id="112" name="Google Shape;112;p22"/>
          <p:cNvSpPr txBox="1"/>
          <p:nvPr>
            <p:ph idx="1" type="body"/>
          </p:nvPr>
        </p:nvSpPr>
        <p:spPr>
          <a:xfrm>
            <a:off x="190100" y="1337561"/>
            <a:ext cx="8520600" cy="2542500"/>
          </a:xfrm>
          <a:prstGeom prst="rect">
            <a:avLst/>
          </a:prstGeom>
        </p:spPr>
        <p:txBody>
          <a:bodyPr anchorCtr="0" anchor="t" bIns="91425" lIns="91425" spcFirstLastPara="1" rIns="91425" wrap="square" tIns="91425">
            <a:noAutofit/>
          </a:bodyPr>
          <a:lstStyle/>
          <a:p>
            <a:pPr indent="0" lvl="0" marL="457200" rtl="0" algn="ctr">
              <a:lnSpc>
                <a:spcPct val="95000"/>
              </a:lnSpc>
              <a:spcBef>
                <a:spcPts val="0"/>
              </a:spcBef>
              <a:spcAft>
                <a:spcPts val="1200"/>
              </a:spcAft>
              <a:buSzPts val="770"/>
              <a:buNone/>
            </a:pPr>
            <a:r>
              <a:rPr lang="en" sz="2960">
                <a:solidFill>
                  <a:schemeClr val="lt1"/>
                </a:solidFill>
                <a:latin typeface="Helvetica Neue Light"/>
                <a:ea typeface="Helvetica Neue Light"/>
                <a:cs typeface="Helvetica Neue Light"/>
                <a:sym typeface="Helvetica Neue Light"/>
              </a:rPr>
              <a:t>“Chopin structures the plot around an ironic reversal: the supposed tragedy of </a:t>
            </a:r>
            <a:r>
              <a:rPr lang="en" sz="2960" u="sng">
                <a:solidFill>
                  <a:schemeClr val="lt1"/>
                </a:solidFill>
                <a:latin typeface="Helvetica Neue Light"/>
                <a:ea typeface="Helvetica Neue Light"/>
                <a:cs typeface="Helvetica Neue Light"/>
                <a:sym typeface="Helvetica Neue Light"/>
              </a:rPr>
              <a:t>Brently’s death becomes Louise’s moment of awakening and freedom</a:t>
            </a:r>
            <a:r>
              <a:rPr lang="en" sz="2960">
                <a:solidFill>
                  <a:schemeClr val="lt1"/>
                </a:solidFill>
                <a:latin typeface="Helvetica Neue Light"/>
                <a:ea typeface="Helvetica Neue Light"/>
                <a:cs typeface="Helvetica Neue Light"/>
                <a:sym typeface="Helvetica Neue Light"/>
              </a:rPr>
              <a:t>, only to be undercut by his unexpected return. This sudden </a:t>
            </a:r>
            <a:r>
              <a:rPr lang="en" sz="2960" u="sng">
                <a:solidFill>
                  <a:schemeClr val="lt1"/>
                </a:solidFill>
                <a:latin typeface="Helvetica Neue Light"/>
                <a:ea typeface="Helvetica Neue Light"/>
                <a:cs typeface="Helvetica Neue Light"/>
                <a:sym typeface="Helvetica Neue Light"/>
              </a:rPr>
              <a:t>collapse of her imagined future highlights the fragility of autonomy for women within patriarchal marriage.</a:t>
            </a:r>
            <a:r>
              <a:rPr lang="en" sz="2960">
                <a:solidFill>
                  <a:schemeClr val="lt1"/>
                </a:solidFill>
                <a:latin typeface="Helvetica Neue Light"/>
                <a:ea typeface="Helvetica Neue Light"/>
                <a:cs typeface="Helvetica Neue Light"/>
                <a:sym typeface="Helvetica Neue Light"/>
              </a:rPr>
              <a:t>”</a:t>
            </a:r>
            <a:endParaRPr sz="296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88775" y="141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Helvetica Neue"/>
                <a:ea typeface="Helvetica Neue"/>
                <a:cs typeface="Helvetica Neue"/>
                <a:sym typeface="Helvetica Neue"/>
              </a:rPr>
              <a:t>Forming a Paragraph</a:t>
            </a:r>
            <a:endParaRPr b="1">
              <a:latin typeface="Helvetica Neue"/>
              <a:ea typeface="Helvetica Neue"/>
              <a:cs typeface="Helvetica Neue"/>
              <a:sym typeface="Helvetica Neue"/>
            </a:endParaRPr>
          </a:p>
        </p:txBody>
      </p:sp>
      <p:sp>
        <p:nvSpPr>
          <p:cNvPr id="118" name="Google Shape;118;p23"/>
          <p:cNvSpPr txBox="1"/>
          <p:nvPr>
            <p:ph idx="1" type="body"/>
          </p:nvPr>
        </p:nvSpPr>
        <p:spPr>
          <a:xfrm>
            <a:off x="190100" y="713750"/>
            <a:ext cx="8666100" cy="4129800"/>
          </a:xfrm>
          <a:prstGeom prst="rect">
            <a:avLst/>
          </a:prstGeom>
        </p:spPr>
        <p:txBody>
          <a:bodyPr anchorCtr="0" anchor="t" bIns="91425" lIns="91425" spcFirstLastPara="1" rIns="91425" wrap="square" tIns="91425">
            <a:noAutofit/>
          </a:bodyPr>
          <a:lstStyle/>
          <a:p>
            <a:pPr indent="457200" lvl="0" marL="0" rtl="0" algn="l">
              <a:spcBef>
                <a:spcPts val="0"/>
              </a:spcBef>
              <a:spcAft>
                <a:spcPts val="1200"/>
              </a:spcAft>
              <a:buNone/>
            </a:pPr>
            <a:r>
              <a:rPr lang="en">
                <a:solidFill>
                  <a:schemeClr val="dk1"/>
                </a:solidFill>
                <a:latin typeface="Helvetica Neue Light"/>
                <a:ea typeface="Helvetica Neue Light"/>
                <a:cs typeface="Helvetica Neue Light"/>
                <a:sym typeface="Helvetica Neue Light"/>
              </a:rPr>
              <a:t>In </a:t>
            </a:r>
            <a:r>
              <a:rPr i="1" lang="en">
                <a:solidFill>
                  <a:schemeClr val="dk1"/>
                </a:solidFill>
                <a:latin typeface="Helvetica Neue Light"/>
                <a:ea typeface="Helvetica Neue Light"/>
                <a:cs typeface="Helvetica Neue Light"/>
                <a:sym typeface="Helvetica Neue Light"/>
              </a:rPr>
              <a:t>The Story of an Hour</a:t>
            </a:r>
            <a:r>
              <a:rPr lang="en">
                <a:solidFill>
                  <a:schemeClr val="dk1"/>
                </a:solidFill>
                <a:latin typeface="Helvetica Neue Light"/>
                <a:ea typeface="Helvetica Neue Light"/>
                <a:cs typeface="Helvetica Neue Light"/>
                <a:sym typeface="Helvetica Neue Light"/>
              </a:rPr>
              <a:t>, Kate Chopin structures the plot around an ironic reversal to expose the fragility of women’s autonomy within marriage. At first, the report of Brently Mallard’s death appears to be a tragedy, yet it quickly transforms into a moment of awakening for Louise as she whispers “free, free, free!” and imagines “a long procession of years to come that would belong to her absolutely.” Chopin builds this sense of liberation through Louise’s vision of spring and “patches of blue sky,” symbolic of renewal and possibility. However, the sudden reappearance of Brently shatters this imagined freedom, cutting short the life she had just begun to claim. This collapse is not simply a plot twist for shock value; rather, it demonstrates how easily patriarchal structures can revoke a woman’s independence, even when she believes she has secured it. By arranging the story around this ironic rise and fall, Chopin emphasizes that female autonomy in her society is not only fragile but often impossible to sustain within the confines of traditional marriage.</a:t>
            </a:r>
            <a:endParaRPr sz="2500">
              <a:latin typeface="Helvetica Neue Light"/>
              <a:ea typeface="Helvetica Neue Light"/>
              <a:cs typeface="Helvetica Neue Light"/>
              <a:sym typeface="Helvetica Neue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88775" y="141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Helvetica Neue"/>
                <a:ea typeface="Helvetica Neue"/>
                <a:cs typeface="Helvetica Neue"/>
                <a:sym typeface="Helvetica Neue"/>
              </a:rPr>
              <a:t>Forming a Paragraph</a:t>
            </a:r>
            <a:endParaRPr b="1">
              <a:latin typeface="Helvetica Neue"/>
              <a:ea typeface="Helvetica Neue"/>
              <a:cs typeface="Helvetica Neue"/>
              <a:sym typeface="Helvetica Neue"/>
            </a:endParaRPr>
          </a:p>
        </p:txBody>
      </p:sp>
      <p:sp>
        <p:nvSpPr>
          <p:cNvPr id="124" name="Google Shape;124;p24"/>
          <p:cNvSpPr txBox="1"/>
          <p:nvPr>
            <p:ph idx="1" type="body"/>
          </p:nvPr>
        </p:nvSpPr>
        <p:spPr>
          <a:xfrm>
            <a:off x="190100" y="713750"/>
            <a:ext cx="8666100" cy="4129800"/>
          </a:xfrm>
          <a:prstGeom prst="rect">
            <a:avLst/>
          </a:prstGeom>
        </p:spPr>
        <p:txBody>
          <a:bodyPr anchorCtr="0" anchor="t" bIns="91425" lIns="91425" spcFirstLastPara="1" rIns="91425" wrap="square" tIns="91425">
            <a:noAutofit/>
          </a:bodyPr>
          <a:lstStyle/>
          <a:p>
            <a:pPr indent="457200" lvl="0" marL="0" rtl="0" algn="l">
              <a:spcBef>
                <a:spcPts val="0"/>
              </a:spcBef>
              <a:spcAft>
                <a:spcPts val="1200"/>
              </a:spcAft>
              <a:buNone/>
            </a:pPr>
            <a:r>
              <a:rPr lang="en">
                <a:solidFill>
                  <a:srgbClr val="FF0000"/>
                </a:solidFill>
                <a:latin typeface="Helvetica Neue Light"/>
                <a:ea typeface="Helvetica Neue Light"/>
                <a:cs typeface="Helvetica Neue Light"/>
                <a:sym typeface="Helvetica Neue Light"/>
              </a:rPr>
              <a:t>In </a:t>
            </a:r>
            <a:r>
              <a:rPr i="1" lang="en">
                <a:solidFill>
                  <a:srgbClr val="FF0000"/>
                </a:solidFill>
                <a:latin typeface="Helvetica Neue Light"/>
                <a:ea typeface="Helvetica Neue Light"/>
                <a:cs typeface="Helvetica Neue Light"/>
                <a:sym typeface="Helvetica Neue Light"/>
              </a:rPr>
              <a:t>The Story of an Hour</a:t>
            </a:r>
            <a:r>
              <a:rPr lang="en">
                <a:solidFill>
                  <a:srgbClr val="FF0000"/>
                </a:solidFill>
                <a:latin typeface="Helvetica Neue Light"/>
                <a:ea typeface="Helvetica Neue Light"/>
                <a:cs typeface="Helvetica Neue Light"/>
                <a:sym typeface="Helvetica Neue Light"/>
              </a:rPr>
              <a:t>, Kate Chopin structures the plot around an ironic reversal to expose the fragility of women’s autonomy within marriage.</a:t>
            </a:r>
            <a:r>
              <a:rPr lang="en">
                <a:solidFill>
                  <a:schemeClr val="dk1"/>
                </a:solidFill>
                <a:latin typeface="Helvetica Neue Light"/>
                <a:ea typeface="Helvetica Neue Light"/>
                <a:cs typeface="Helvetica Neue Light"/>
                <a:sym typeface="Helvetica Neue Light"/>
              </a:rPr>
              <a:t> </a:t>
            </a:r>
            <a:r>
              <a:rPr lang="en">
                <a:solidFill>
                  <a:srgbClr val="0000FF"/>
                </a:solidFill>
                <a:latin typeface="Helvetica Neue Light"/>
                <a:ea typeface="Helvetica Neue Light"/>
                <a:cs typeface="Helvetica Neue Light"/>
                <a:sym typeface="Helvetica Neue Light"/>
              </a:rPr>
              <a:t>At first, the report of Brently Mallard’s death appears to be a tragedy, yet it quickly transforms into a moment of awakening for Louise as she whispers “free, free, free!” and imagines “a long procession of years to come that would belong to her absolutely.” Chopin builds this sense of liberation through Louise’s vision of spring and “patches of blue sky,” symbolic of renewal and possibility. However, the sudden reappearance of Brently shatters this imagined freedom, cutting short the life she had just begun to claim.</a:t>
            </a:r>
            <a:r>
              <a:rPr lang="en">
                <a:solidFill>
                  <a:schemeClr val="dk1"/>
                </a:solidFill>
                <a:latin typeface="Helvetica Neue Light"/>
                <a:ea typeface="Helvetica Neue Light"/>
                <a:cs typeface="Helvetica Neue Light"/>
                <a:sym typeface="Helvetica Neue Light"/>
              </a:rPr>
              <a:t> </a:t>
            </a:r>
            <a:r>
              <a:rPr lang="en">
                <a:solidFill>
                  <a:srgbClr val="38761D"/>
                </a:solidFill>
                <a:latin typeface="Helvetica Neue Light"/>
                <a:ea typeface="Helvetica Neue Light"/>
                <a:cs typeface="Helvetica Neue Light"/>
                <a:sym typeface="Helvetica Neue Light"/>
              </a:rPr>
              <a:t>This collapse is not simply a plot twist for shock value; rather, it demonstrates how easily patriarchal structures can revoke a woman’s independence, even when she believes she has secured it. </a:t>
            </a:r>
            <a:r>
              <a:rPr lang="en">
                <a:solidFill>
                  <a:srgbClr val="9900FF"/>
                </a:solidFill>
                <a:latin typeface="Helvetica Neue Light"/>
                <a:ea typeface="Helvetica Neue Light"/>
                <a:cs typeface="Helvetica Neue Light"/>
                <a:sym typeface="Helvetica Neue Light"/>
              </a:rPr>
              <a:t>By arranging the story around this ironic rise and fall, Chopin emphasizes that female autonomy in her society is not only fragile but often impossible to sustain within the confines of traditional marriage.</a:t>
            </a:r>
            <a:endParaRPr sz="2500">
              <a:solidFill>
                <a:srgbClr val="9900FF"/>
              </a:solidFill>
              <a:latin typeface="Helvetica Neue Light"/>
              <a:ea typeface="Helvetica Neue Light"/>
              <a:cs typeface="Helvetica Neue Light"/>
              <a:sym typeface="Helvetica Neue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idx="1" type="body"/>
          </p:nvPr>
        </p:nvSpPr>
        <p:spPr>
          <a:xfrm>
            <a:off x="-546800" y="-564450"/>
            <a:ext cx="10336500" cy="6279300"/>
          </a:xfrm>
          <a:prstGeom prst="rect">
            <a:avLst/>
          </a:prstGeom>
        </p:spPr>
        <p:txBody>
          <a:bodyPr anchorCtr="0" anchor="t" bIns="91425" lIns="91425" spcFirstLastPara="1" rIns="91425" wrap="square" tIns="91425">
            <a:normAutofit fontScale="25000" lnSpcReduction="20000"/>
          </a:bodyPr>
          <a:lstStyle/>
          <a:p>
            <a:pPr indent="0" lvl="0" marL="0" rtl="0" algn="ctr">
              <a:lnSpc>
                <a:spcPct val="150000"/>
              </a:lnSpc>
              <a:spcBef>
                <a:spcPts val="0"/>
              </a:spcBef>
              <a:spcAft>
                <a:spcPts val="0"/>
              </a:spcAft>
              <a:buNone/>
            </a:pPr>
            <a:r>
              <a:t/>
            </a:r>
            <a:endParaRPr b="1" sz="13095">
              <a:solidFill>
                <a:schemeClr val="dk1"/>
              </a:solidFill>
              <a:latin typeface="Helvetica Neue"/>
              <a:ea typeface="Helvetica Neue"/>
              <a:cs typeface="Helvetica Neue"/>
              <a:sym typeface="Helvetica Neue"/>
            </a:endParaRPr>
          </a:p>
          <a:p>
            <a:pPr indent="0" lvl="0" marL="0" rtl="0" algn="ctr">
              <a:lnSpc>
                <a:spcPct val="150000"/>
              </a:lnSpc>
              <a:spcBef>
                <a:spcPts val="1200"/>
              </a:spcBef>
              <a:spcAft>
                <a:spcPts val="0"/>
              </a:spcAft>
              <a:buNone/>
            </a:pPr>
            <a:r>
              <a:rPr b="1" lang="en" sz="44800">
                <a:solidFill>
                  <a:schemeClr val="dk1"/>
                </a:solidFill>
                <a:latin typeface="Helvetica Neue"/>
                <a:ea typeface="Helvetica Neue"/>
                <a:cs typeface="Helvetica Neue"/>
                <a:sym typeface="Helvetica Neue"/>
              </a:rPr>
              <a:t>Claim</a:t>
            </a:r>
            <a:endParaRPr b="1" sz="44800">
              <a:solidFill>
                <a:schemeClr val="dk1"/>
              </a:solidFill>
              <a:latin typeface="Helvetica Neue"/>
              <a:ea typeface="Helvetica Neue"/>
              <a:cs typeface="Helvetica Neue"/>
              <a:sym typeface="Helvetica Neue"/>
            </a:endParaRPr>
          </a:p>
          <a:p>
            <a:pPr indent="0" lvl="0" marL="0" rtl="0" algn="ctr">
              <a:lnSpc>
                <a:spcPct val="150000"/>
              </a:lnSpc>
              <a:spcBef>
                <a:spcPts val="1200"/>
              </a:spcBef>
              <a:spcAft>
                <a:spcPts val="0"/>
              </a:spcAft>
              <a:buNone/>
            </a:pPr>
            <a:r>
              <a:rPr lang="en" sz="28600">
                <a:solidFill>
                  <a:schemeClr val="dk1"/>
                </a:solidFill>
                <a:latin typeface="Helvetica Neue"/>
                <a:ea typeface="Helvetica Neue"/>
                <a:cs typeface="Helvetica Neue"/>
                <a:sym typeface="Helvetica Neue"/>
              </a:rPr>
              <a:t>Ideas</a:t>
            </a:r>
            <a:endParaRPr sz="28600">
              <a:solidFill>
                <a:schemeClr val="dk1"/>
              </a:solidFill>
              <a:latin typeface="Helvetica Neue"/>
              <a:ea typeface="Helvetica Neue"/>
              <a:cs typeface="Helvetica Neue"/>
              <a:sym typeface="Helvetica Neue"/>
            </a:endParaRPr>
          </a:p>
          <a:p>
            <a:pPr indent="0" lvl="0" marL="0" rtl="0" algn="ctr">
              <a:lnSpc>
                <a:spcPct val="150000"/>
              </a:lnSpc>
              <a:spcBef>
                <a:spcPts val="1200"/>
              </a:spcBef>
              <a:spcAft>
                <a:spcPts val="0"/>
              </a:spcAft>
              <a:buNone/>
            </a:pPr>
            <a:r>
              <a:rPr lang="en" sz="15000">
                <a:solidFill>
                  <a:schemeClr val="dk1"/>
                </a:solidFill>
                <a:latin typeface="Helvetica Neue Light"/>
                <a:ea typeface="Helvetica Neue Light"/>
                <a:cs typeface="Helvetica Neue Light"/>
                <a:sym typeface="Helvetica Neue Light"/>
              </a:rPr>
              <a:t>Evidence</a:t>
            </a:r>
            <a:endParaRPr sz="15000">
              <a:solidFill>
                <a:schemeClr val="dk1"/>
              </a:solidFill>
              <a:latin typeface="Helvetica Neue Light"/>
              <a:ea typeface="Helvetica Neue Light"/>
              <a:cs typeface="Helvetica Neue Light"/>
              <a:sym typeface="Helvetica Neue Light"/>
            </a:endParaRPr>
          </a:p>
          <a:p>
            <a:pPr indent="0" lvl="0" marL="0" rtl="0" algn="ctr">
              <a:lnSpc>
                <a:spcPct val="150000"/>
              </a:lnSpc>
              <a:spcBef>
                <a:spcPts val="1200"/>
              </a:spcBef>
              <a:spcAft>
                <a:spcPts val="0"/>
              </a:spcAft>
              <a:buNone/>
            </a:pPr>
            <a:r>
              <a:t/>
            </a:r>
            <a:endParaRPr b="1" sz="28000">
              <a:solidFill>
                <a:schemeClr val="dk1"/>
              </a:solidFill>
              <a:latin typeface="Helvetica Neue"/>
              <a:ea typeface="Helvetica Neue"/>
              <a:cs typeface="Helvetica Neue"/>
              <a:sym typeface="Helvetica Neue"/>
            </a:endParaRPr>
          </a:p>
          <a:p>
            <a:pPr indent="0" lvl="0" marL="0" rtl="0" algn="l">
              <a:spcBef>
                <a:spcPts val="1200"/>
              </a:spcBef>
              <a:spcAft>
                <a:spcPts val="1200"/>
              </a:spcAft>
              <a:buNone/>
            </a:pPr>
            <a:r>
              <a:rPr lang="en" sz="3900">
                <a:solidFill>
                  <a:schemeClr val="lt1"/>
                </a:solidFill>
                <a:latin typeface="Helvetica Neue Light"/>
                <a:ea typeface="Helvetica Neue Light"/>
                <a:cs typeface="Helvetica Neue Light"/>
                <a:sym typeface="Helvetica Neue Light"/>
              </a:rPr>
              <a:t>object that repeats</a:t>
            </a:r>
            <a:endParaRPr/>
          </a:p>
        </p:txBody>
      </p:sp>
      <p:sp>
        <p:nvSpPr>
          <p:cNvPr id="130" name="Google Shape;130;p25"/>
          <p:cNvSpPr/>
          <p:nvPr/>
        </p:nvSpPr>
        <p:spPr>
          <a:xfrm>
            <a:off x="4379850" y="3678050"/>
            <a:ext cx="384300" cy="5715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25"/>
          <p:cNvSpPr/>
          <p:nvPr/>
        </p:nvSpPr>
        <p:spPr>
          <a:xfrm>
            <a:off x="4269150" y="1905000"/>
            <a:ext cx="605700" cy="8607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5"/>
          <p:cNvSpPr txBox="1"/>
          <p:nvPr/>
        </p:nvSpPr>
        <p:spPr>
          <a:xfrm>
            <a:off x="103900" y="103900"/>
            <a:ext cx="24072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dk2"/>
                </a:solidFill>
                <a:latin typeface="Helvetica Neue Light"/>
                <a:ea typeface="Helvetica Neue Light"/>
                <a:cs typeface="Helvetica Neue Light"/>
                <a:sym typeface="Helvetica Neue Light"/>
              </a:rPr>
              <a:t>Writing: </a:t>
            </a:r>
            <a:endParaRPr sz="29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Venn Diagrams: Humor, Advice, and Math – Occupy Math" id="137" name="Google Shape;137;p26"/>
          <p:cNvPicPr preferRelativeResize="0"/>
          <p:nvPr/>
        </p:nvPicPr>
        <p:blipFill>
          <a:blip r:embed="rId3">
            <a:alphaModFix/>
          </a:blip>
          <a:stretch>
            <a:fillRect/>
          </a:stretch>
        </p:blipFill>
        <p:spPr>
          <a:xfrm>
            <a:off x="0" y="0"/>
            <a:ext cx="9144001" cy="5143500"/>
          </a:xfrm>
          <a:prstGeom prst="rect">
            <a:avLst/>
          </a:prstGeom>
          <a:noFill/>
          <a:ln>
            <a:noFill/>
          </a:ln>
        </p:spPr>
      </p:pic>
      <p:sp>
        <p:nvSpPr>
          <p:cNvPr id="138" name="Google Shape;138;p26"/>
          <p:cNvSpPr txBox="1"/>
          <p:nvPr/>
        </p:nvSpPr>
        <p:spPr>
          <a:xfrm>
            <a:off x="1560125" y="65700"/>
            <a:ext cx="27591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elvetica Neue"/>
                <a:ea typeface="Helvetica Neue"/>
                <a:cs typeface="Helvetica Neue"/>
                <a:sym typeface="Helvetica Neue"/>
              </a:rPr>
              <a:t>Grimm’s </a:t>
            </a:r>
            <a:r>
              <a:rPr b="1" i="1" lang="en" sz="1800">
                <a:solidFill>
                  <a:schemeClr val="dk1"/>
                </a:solidFill>
                <a:latin typeface="Helvetica Neue"/>
                <a:ea typeface="Helvetica Neue"/>
                <a:cs typeface="Helvetica Neue"/>
                <a:sym typeface="Helvetica Neue"/>
              </a:rPr>
              <a:t>Snow White</a:t>
            </a:r>
            <a:endParaRPr b="1" sz="1800">
              <a:solidFill>
                <a:schemeClr val="dk2"/>
              </a:solidFill>
              <a:latin typeface="Helvetica Neue"/>
              <a:ea typeface="Helvetica Neue"/>
              <a:cs typeface="Helvetica Neue"/>
              <a:sym typeface="Helvetica Neue"/>
            </a:endParaRPr>
          </a:p>
        </p:txBody>
      </p:sp>
      <p:sp>
        <p:nvSpPr>
          <p:cNvPr id="139" name="Google Shape;139;p26"/>
          <p:cNvSpPr txBox="1"/>
          <p:nvPr/>
        </p:nvSpPr>
        <p:spPr>
          <a:xfrm>
            <a:off x="4795350" y="65700"/>
            <a:ext cx="35145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elvetica Neue"/>
                <a:ea typeface="Helvetica Neue"/>
                <a:cs typeface="Helvetica Neue"/>
                <a:sym typeface="Helvetica Neue"/>
              </a:rPr>
              <a:t>Gaiman’s </a:t>
            </a:r>
            <a:r>
              <a:rPr b="1" i="1" lang="en" sz="1800">
                <a:solidFill>
                  <a:schemeClr val="dk1"/>
                </a:solidFill>
                <a:latin typeface="Helvetica Neue"/>
                <a:ea typeface="Helvetica Neue"/>
                <a:cs typeface="Helvetica Neue"/>
                <a:sym typeface="Helvetica Neue"/>
              </a:rPr>
              <a:t>Snow, Glass, Apples</a:t>
            </a:r>
            <a:endParaRPr b="1" sz="1800">
              <a:solidFill>
                <a:schemeClr val="dk2"/>
              </a:solidFill>
              <a:latin typeface="Helvetica Neue"/>
              <a:ea typeface="Helvetica Neue"/>
              <a:cs typeface="Helvetica Neue"/>
              <a:sym typeface="Helvetica Neue"/>
            </a:endParaRPr>
          </a:p>
        </p:txBody>
      </p:sp>
      <p:sp>
        <p:nvSpPr>
          <p:cNvPr id="140" name="Google Shape;140;p26"/>
          <p:cNvSpPr txBox="1"/>
          <p:nvPr/>
        </p:nvSpPr>
        <p:spPr>
          <a:xfrm>
            <a:off x="760000" y="1100400"/>
            <a:ext cx="24639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Helvetica Neue Light"/>
                <a:ea typeface="Helvetica Neue Light"/>
                <a:cs typeface="Helvetica Neue Light"/>
                <a:sym typeface="Helvetica Neue Light"/>
              </a:rPr>
              <a:t>Perspective: Third-person omniscient, traditional fairy-tale narrator.</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Plot: Classic structure — good vs. evil, innocence rewarded, villain punished.</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Snow White is innocent, passive, and victimized.</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The Queen is unequivocally evil, driven by jealousy.</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Moral simplicity: virtue triumphs over wickedness.</a:t>
            </a:r>
            <a:endParaRPr sz="9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900">
                <a:solidFill>
                  <a:schemeClr val="dk1"/>
                </a:solidFill>
                <a:latin typeface="Helvetica Neue Light"/>
                <a:ea typeface="Helvetica Neue Light"/>
                <a:cs typeface="Helvetica Neue Light"/>
                <a:sym typeface="Helvetica Neue Light"/>
              </a:rPr>
              <a:t>Ending: Snow White lives “happily ever after” with the prince; Queen dies gruesomely.</a:t>
            </a:r>
            <a:br>
              <a:rPr lang="en" sz="1000">
                <a:solidFill>
                  <a:schemeClr val="dk1"/>
                </a:solidFill>
                <a:latin typeface="Helvetica Neue Light"/>
                <a:ea typeface="Helvetica Neue Light"/>
                <a:cs typeface="Helvetica Neue Light"/>
                <a:sym typeface="Helvetica Neue Light"/>
              </a:rPr>
            </a:br>
            <a:endParaRPr sz="10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ctr">
              <a:spcBef>
                <a:spcPts val="0"/>
              </a:spcBef>
              <a:spcAft>
                <a:spcPts val="0"/>
              </a:spcAft>
              <a:buNone/>
            </a:pPr>
            <a:r>
              <a:t/>
            </a:r>
            <a:endParaRPr sz="1100">
              <a:solidFill>
                <a:schemeClr val="dk1"/>
              </a:solidFill>
            </a:endParaRPr>
          </a:p>
        </p:txBody>
      </p:sp>
      <p:sp>
        <p:nvSpPr>
          <p:cNvPr id="141" name="Google Shape;141;p26"/>
          <p:cNvSpPr txBox="1"/>
          <p:nvPr/>
        </p:nvSpPr>
        <p:spPr>
          <a:xfrm>
            <a:off x="5957525" y="1190000"/>
            <a:ext cx="2463900" cy="10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Perspective: First-person narration by the Queen, an unreliable narrator.</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Plot: Retelling inverts roles — the Queen is sympathetic, Snow White monstrous.</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Snow White is depicted as vampiric, predatory, feeding on others’ blood and life.</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The Queen frames her actions as necessary to protect her people.</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Themes of truth vs. lies, unreliable memory, sexuality, and monstrosity.</a:t>
            </a:r>
            <a:br>
              <a:rPr lang="en" sz="900">
                <a:solidFill>
                  <a:schemeClr val="dk1"/>
                </a:solidFill>
                <a:latin typeface="Helvetica Neue Light"/>
                <a:ea typeface="Helvetica Neue Light"/>
                <a:cs typeface="Helvetica Neue Light"/>
                <a:sym typeface="Helvetica Neue Light"/>
              </a:rPr>
            </a:b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100"/>
              <a:buFont typeface="Arial"/>
              <a:buNone/>
            </a:pPr>
            <a:r>
              <a:rPr lang="en" sz="900">
                <a:solidFill>
                  <a:schemeClr val="dk1"/>
                </a:solidFill>
                <a:latin typeface="Helvetica Neue Light"/>
                <a:ea typeface="Helvetica Neue Light"/>
                <a:cs typeface="Helvetica Neue Light"/>
                <a:sym typeface="Helvetica Neue Light"/>
              </a:rPr>
              <a:t>Ending: The Queen is burned alive, claiming control of her own story</a:t>
            </a:r>
            <a:endParaRPr sz="9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None/>
            </a:pPr>
            <a:r>
              <a:t/>
            </a:r>
            <a:endParaRPr sz="800">
              <a:solidFill>
                <a:schemeClr val="dk1"/>
              </a:solidFill>
              <a:latin typeface="Helvetica Neue Light"/>
              <a:ea typeface="Helvetica Neue Light"/>
              <a:cs typeface="Helvetica Neue Light"/>
              <a:sym typeface="Helvetica Neue Light"/>
            </a:endParaRPr>
          </a:p>
        </p:txBody>
      </p:sp>
      <p:sp>
        <p:nvSpPr>
          <p:cNvPr id="142" name="Google Shape;142;p26"/>
          <p:cNvSpPr txBox="1"/>
          <p:nvPr/>
        </p:nvSpPr>
        <p:spPr>
          <a:xfrm>
            <a:off x="3716209" y="1100400"/>
            <a:ext cx="1749000" cy="103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Both use familiar fairy-tale motifs: mirrors, poisoned apples, huntsman, dwarfs/forest folk, apparent death and revival.</a:t>
            </a:r>
            <a:endParaRPr sz="10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Themes of beauty, envy, power, and survival are central.</a:t>
            </a:r>
            <a:endParaRPr sz="10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The Queen and Snow White remain locked in a battle for dominance and identity.</a:t>
            </a:r>
            <a:endParaRPr sz="1000">
              <a:solidFill>
                <a:schemeClr val="dk1"/>
              </a:solidFill>
              <a:latin typeface="Helvetica Neue Light"/>
              <a:ea typeface="Helvetica Neue Light"/>
              <a:cs typeface="Helvetica Neue Light"/>
              <a:sym typeface="Helvetica Neue Light"/>
            </a:endParaRPr>
          </a:p>
          <a:p>
            <a:pPr indent="0" lvl="0" marL="0" rtl="0" algn="ctr">
              <a:lnSpc>
                <a:spcPct val="115000"/>
              </a:lnSpc>
              <a:spcBef>
                <a:spcPts val="1200"/>
              </a:spcBef>
              <a:spcAft>
                <a:spcPts val="0"/>
              </a:spcAft>
              <a:buNone/>
            </a:pPr>
            <a:r>
              <a:rPr lang="en" sz="1000">
                <a:solidFill>
                  <a:schemeClr val="dk1"/>
                </a:solidFill>
                <a:latin typeface="Helvetica Neue Light"/>
                <a:ea typeface="Helvetica Neue Light"/>
                <a:cs typeface="Helvetica Neue Light"/>
                <a:sym typeface="Helvetica Neue Light"/>
              </a:rPr>
              <a:t>Both stories end with the Queen destroyed and Snow White alive.</a:t>
            </a:r>
            <a:br>
              <a:rPr lang="en">
                <a:solidFill>
                  <a:schemeClr val="dk1"/>
                </a:solidFill>
              </a:rPr>
            </a:br>
            <a:endParaRPr>
              <a:solidFill>
                <a:schemeClr val="dk1"/>
              </a:solidFill>
            </a:endParaRPr>
          </a:p>
          <a:p>
            <a:pPr indent="0" lvl="0" marL="0" rtl="0" algn="ctr">
              <a:spcBef>
                <a:spcPts val="1200"/>
              </a:spcBef>
              <a:spcAft>
                <a:spcPts val="0"/>
              </a:spcAft>
              <a:buNone/>
            </a:pPr>
            <a:r>
              <a:t/>
            </a:r>
            <a:endParaRPr sz="9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A7D6"/>
        </a:solidFill>
      </p:bgPr>
    </p:bg>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220">
                <a:solidFill>
                  <a:schemeClr val="lt1"/>
                </a:solidFill>
                <a:latin typeface="Helvetica Neue"/>
                <a:ea typeface="Helvetica Neue"/>
                <a:cs typeface="Helvetica Neue"/>
                <a:sym typeface="Helvetica Neue"/>
              </a:rPr>
              <a:t>Let’s Practice!</a:t>
            </a:r>
            <a:endParaRPr b="1" sz="3220">
              <a:solidFill>
                <a:schemeClr val="lt1"/>
              </a:solidFill>
              <a:latin typeface="Helvetica Neue"/>
              <a:ea typeface="Helvetica Neue"/>
              <a:cs typeface="Helvetica Neue"/>
              <a:sym typeface="Helvetica Neue"/>
            </a:endParaRPr>
          </a:p>
        </p:txBody>
      </p:sp>
      <p:sp>
        <p:nvSpPr>
          <p:cNvPr id="148" name="Google Shape;148;p27"/>
          <p:cNvSpPr txBox="1"/>
          <p:nvPr>
            <p:ph idx="1" type="body"/>
          </p:nvPr>
        </p:nvSpPr>
        <p:spPr>
          <a:xfrm>
            <a:off x="311700" y="1288675"/>
            <a:ext cx="8520600" cy="3711900"/>
          </a:xfrm>
          <a:prstGeom prst="rect">
            <a:avLst/>
          </a:prstGeom>
        </p:spPr>
        <p:txBody>
          <a:bodyPr anchorCtr="0" anchor="t" bIns="91425" lIns="91425" spcFirstLastPara="1" rIns="91425" wrap="square" tIns="91425">
            <a:normAutofit fontScale="85000" lnSpcReduction="10000"/>
          </a:bodyPr>
          <a:lstStyle/>
          <a:p>
            <a:pPr indent="0" lvl="0" marL="0" rtl="0" algn="l">
              <a:spcBef>
                <a:spcPts val="1200"/>
              </a:spcBef>
              <a:spcAft>
                <a:spcPts val="0"/>
              </a:spcAft>
              <a:buClr>
                <a:schemeClr val="dk1"/>
              </a:buClr>
              <a:buSzPct val="51320"/>
              <a:buFont typeface="Arial"/>
              <a:buNone/>
            </a:pPr>
            <a:r>
              <a:rPr lang="en" sz="2143">
                <a:solidFill>
                  <a:schemeClr val="lt1"/>
                </a:solidFill>
                <a:latin typeface="Helvetica Neue Light"/>
                <a:ea typeface="Helvetica Neue Light"/>
                <a:cs typeface="Helvetica Neue Light"/>
                <a:sym typeface="Helvetica Neue Light"/>
              </a:rPr>
              <a:t>In literary works, authors often manipulate narrative perspective and point of view to shape how readers understand characters and themes. The choice of narrator not only determines what information is revealed or concealed but also colors the tone and meaning of the story.</a:t>
            </a:r>
            <a:endParaRPr sz="2143">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ct val="51320"/>
              <a:buFont typeface="Arial"/>
              <a:buNone/>
            </a:pPr>
            <a:r>
              <a:rPr lang="en" sz="2143">
                <a:solidFill>
                  <a:schemeClr val="lt1"/>
                </a:solidFill>
                <a:latin typeface="Helvetica Neue Light"/>
                <a:ea typeface="Helvetica Neue Light"/>
                <a:cs typeface="Helvetica Neue Light"/>
                <a:sym typeface="Helvetica Neue Light"/>
              </a:rPr>
              <a:t>In Neil Gaiman’s </a:t>
            </a:r>
            <a:r>
              <a:rPr i="1" lang="en" sz="2143">
                <a:solidFill>
                  <a:schemeClr val="lt1"/>
                </a:solidFill>
                <a:latin typeface="Helvetica Neue Light"/>
                <a:ea typeface="Helvetica Neue Light"/>
                <a:cs typeface="Helvetica Neue Light"/>
                <a:sym typeface="Helvetica Neue Light"/>
              </a:rPr>
              <a:t>“Snow, Glass, Apples”</a:t>
            </a:r>
            <a:r>
              <a:rPr lang="en" sz="2143">
                <a:solidFill>
                  <a:schemeClr val="lt1"/>
                </a:solidFill>
                <a:latin typeface="Helvetica Neue Light"/>
                <a:ea typeface="Helvetica Neue Light"/>
                <a:cs typeface="Helvetica Neue Light"/>
                <a:sym typeface="Helvetica Neue Light"/>
              </a:rPr>
              <a:t> (a retelling of </a:t>
            </a:r>
            <a:r>
              <a:rPr i="1" lang="en" sz="2143">
                <a:solidFill>
                  <a:schemeClr val="lt1"/>
                </a:solidFill>
                <a:latin typeface="Helvetica Neue Light"/>
                <a:ea typeface="Helvetica Neue Light"/>
                <a:cs typeface="Helvetica Neue Light"/>
                <a:sym typeface="Helvetica Neue Light"/>
              </a:rPr>
              <a:t>Snow White</a:t>
            </a:r>
            <a:r>
              <a:rPr lang="en" sz="2143">
                <a:solidFill>
                  <a:schemeClr val="lt1"/>
                </a:solidFill>
                <a:latin typeface="Helvetica Neue Light"/>
                <a:ea typeface="Helvetica Neue Light"/>
                <a:cs typeface="Helvetica Neue Light"/>
                <a:sym typeface="Helvetica Neue Light"/>
              </a:rPr>
              <a:t>), the familiar fairy tale is transformed through an unexpected narrator whose perspective radically alters the reader’s moral understanding of events.</a:t>
            </a:r>
            <a:endParaRPr sz="2143">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ct val="51320"/>
              <a:buFont typeface="Arial"/>
              <a:buNone/>
            </a:pPr>
            <a:r>
              <a:rPr lang="en" sz="2143">
                <a:solidFill>
                  <a:schemeClr val="lt1"/>
                </a:solidFill>
                <a:latin typeface="Helvetica Neue Light"/>
                <a:ea typeface="Helvetica Neue Light"/>
                <a:cs typeface="Helvetica Neue Light"/>
                <a:sym typeface="Helvetica Neue Light"/>
              </a:rPr>
              <a:t>Write an analytical paragraph in which you examine how Gaiman’s use of narrative perspective and point of view shapes the reader’s interpretation of the story.</a:t>
            </a:r>
            <a:endParaRPr sz="2143">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8" title="Screenshot 2025-09-23 at 12.18.06 PM.png"/>
          <p:cNvPicPr preferRelativeResize="0"/>
          <p:nvPr/>
        </p:nvPicPr>
        <p:blipFill>
          <a:blip r:embed="rId3">
            <a:alphaModFix/>
          </a:blip>
          <a:stretch>
            <a:fillRect/>
          </a:stretch>
        </p:blipFill>
        <p:spPr>
          <a:xfrm>
            <a:off x="1615176" y="0"/>
            <a:ext cx="6088900" cy="5143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Egbert Guy Fowx - Part of Construction Corps Building New Military Truss  Bridge Across Bull Run - The Metropolitan Museum of Art" id="158" name="Google Shape;158;p29"/>
          <p:cNvPicPr preferRelativeResize="0"/>
          <p:nvPr/>
        </p:nvPicPr>
        <p:blipFill rotWithShape="1">
          <a:blip r:embed="rId3">
            <a:alphaModFix amt="93000"/>
          </a:blip>
          <a:srcRect b="30977" l="0" r="0" t="0"/>
          <a:stretch/>
        </p:blipFill>
        <p:spPr>
          <a:xfrm>
            <a:off x="0" y="0"/>
            <a:ext cx="9144001" cy="5143500"/>
          </a:xfrm>
          <a:prstGeom prst="rect">
            <a:avLst/>
          </a:prstGeom>
          <a:noFill/>
          <a:ln>
            <a:noFill/>
          </a:ln>
        </p:spPr>
      </p:pic>
      <p:sp>
        <p:nvSpPr>
          <p:cNvPr id="159" name="Google Shape;159;p29"/>
          <p:cNvSpPr txBox="1"/>
          <p:nvPr>
            <p:ph type="title"/>
          </p:nvPr>
        </p:nvSpPr>
        <p:spPr>
          <a:xfrm>
            <a:off x="167925" y="211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220">
                <a:solidFill>
                  <a:schemeClr val="lt1"/>
                </a:solidFill>
                <a:latin typeface="Helvetica Neue"/>
                <a:ea typeface="Helvetica Neue"/>
                <a:cs typeface="Helvetica Neue"/>
                <a:sym typeface="Helvetica Neue"/>
              </a:rPr>
              <a:t>An </a:t>
            </a:r>
            <a:r>
              <a:rPr b="1" lang="en" sz="3220">
                <a:solidFill>
                  <a:schemeClr val="lt1"/>
                </a:solidFill>
                <a:latin typeface="Helvetica Neue"/>
                <a:ea typeface="Helvetica Neue"/>
                <a:cs typeface="Helvetica Neue"/>
                <a:sym typeface="Helvetica Neue"/>
              </a:rPr>
              <a:t>Occurrence</a:t>
            </a:r>
            <a:r>
              <a:rPr b="1" lang="en" sz="3220">
                <a:solidFill>
                  <a:schemeClr val="lt1"/>
                </a:solidFill>
                <a:latin typeface="Helvetica Neue"/>
                <a:ea typeface="Helvetica Neue"/>
                <a:cs typeface="Helvetica Neue"/>
                <a:sym typeface="Helvetica Neue"/>
              </a:rPr>
              <a:t> at Owl Creek Bridge (1890)</a:t>
            </a:r>
            <a:endParaRPr b="1" sz="3220">
              <a:solidFill>
                <a:schemeClr val="lt1"/>
              </a:solidFill>
              <a:latin typeface="Helvetica Neue"/>
              <a:ea typeface="Helvetica Neue"/>
              <a:cs typeface="Helvetica Neue"/>
              <a:sym typeface="Helvetica Neue"/>
            </a:endParaRPr>
          </a:p>
        </p:txBody>
      </p:sp>
      <p:sp>
        <p:nvSpPr>
          <p:cNvPr id="160" name="Google Shape;160;p29"/>
          <p:cNvSpPr txBox="1"/>
          <p:nvPr>
            <p:ph idx="1" type="body"/>
          </p:nvPr>
        </p:nvSpPr>
        <p:spPr>
          <a:xfrm>
            <a:off x="311700" y="10266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Helvetica Neue Light"/>
              <a:buChar char="●"/>
            </a:pPr>
            <a:r>
              <a:rPr lang="en" sz="2000">
                <a:solidFill>
                  <a:srgbClr val="FFFFFF"/>
                </a:solidFill>
                <a:latin typeface="Helvetica Neue Light"/>
                <a:ea typeface="Helvetica Neue Light"/>
                <a:cs typeface="Helvetica Neue Light"/>
                <a:sym typeface="Helvetica Neue Light"/>
              </a:rPr>
              <a:t>A short story written by writer and American Civil War veteran Ambrose Bierce.</a:t>
            </a:r>
            <a:endParaRPr sz="2000">
              <a:solidFill>
                <a:srgbClr val="FFFFFF"/>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FFFFFF"/>
              </a:buClr>
              <a:buSzPts val="2000"/>
              <a:buFont typeface="Helvetica Neue Light"/>
              <a:buChar char="●"/>
            </a:pPr>
            <a:r>
              <a:rPr lang="en" sz="2000">
                <a:solidFill>
                  <a:srgbClr val="FFFFFF"/>
                </a:solidFill>
                <a:latin typeface="Helvetica Neue Light"/>
                <a:ea typeface="Helvetica Neue Light"/>
                <a:cs typeface="Helvetica Neue Light"/>
                <a:sym typeface="Helvetica Neue Light"/>
              </a:rPr>
              <a:t>described as "one of the most famous and frequently anthologized stories in American literature"</a:t>
            </a:r>
            <a:endParaRPr sz="2000">
              <a:solidFill>
                <a:srgbClr val="FFFFFF"/>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FFFFFF"/>
              </a:buClr>
              <a:buSzPts val="2000"/>
              <a:buFont typeface="Helvetica Neue Light"/>
              <a:buChar char="●"/>
            </a:pPr>
            <a:r>
              <a:rPr lang="en" sz="2000">
                <a:solidFill>
                  <a:srgbClr val="FFFFFF"/>
                </a:solidFill>
                <a:latin typeface="Helvetica Neue Light"/>
                <a:ea typeface="Helvetica Neue Light"/>
                <a:cs typeface="Helvetica Neue Light"/>
                <a:sym typeface="Helvetica Neue Light"/>
              </a:rPr>
              <a:t>Bierce's abandonment of strict linear narration in favor of the internal mind of the protagonist is an early example of the </a:t>
            </a:r>
            <a:r>
              <a:rPr lang="en" sz="2000">
                <a:solidFill>
                  <a:srgbClr val="FFFFFF"/>
                </a:solidFill>
                <a:uFill>
                  <a:noFill/>
                </a:uFill>
                <a:latin typeface="Helvetica Neue Light"/>
                <a:ea typeface="Helvetica Neue Light"/>
                <a:cs typeface="Helvetica Neue Light"/>
                <a:sym typeface="Helvetica Neue Light"/>
                <a:hlinkClick r:id="rId4">
                  <a:extLst>
                    <a:ext uri="{A12FA001-AC4F-418D-AE19-62706E023703}">
                      <ahyp:hlinkClr val="tx"/>
                    </a:ext>
                  </a:extLst>
                </a:hlinkClick>
              </a:rPr>
              <a:t>stream-of-consciousness</a:t>
            </a:r>
            <a:r>
              <a:rPr lang="en" sz="2000">
                <a:solidFill>
                  <a:srgbClr val="FFFFFF"/>
                </a:solidFill>
                <a:latin typeface="Helvetica Neue Light"/>
                <a:ea typeface="Helvetica Neue Light"/>
                <a:cs typeface="Helvetica Neue Light"/>
                <a:sym typeface="Helvetica Neue Light"/>
              </a:rPr>
              <a:t> narrative mode.</a:t>
            </a:r>
            <a:endParaRPr sz="2000">
              <a:solidFill>
                <a:srgbClr val="FFFFFF"/>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FFFFFF"/>
              </a:buClr>
              <a:buSzPts val="2000"/>
              <a:buFont typeface="Helvetica Neue Light"/>
              <a:buChar char="●"/>
            </a:pPr>
            <a:r>
              <a:rPr lang="en" sz="2000">
                <a:solidFill>
                  <a:srgbClr val="FFFFFF"/>
                </a:solidFill>
                <a:latin typeface="Helvetica Neue Light"/>
                <a:ea typeface="Helvetica Neue Light"/>
                <a:cs typeface="Helvetica Neue Light"/>
                <a:sym typeface="Helvetica Neue Light"/>
              </a:rPr>
              <a:t>It was adapted into a short film that went on to win the Academy Award for Best Short Film and was later picked up as an episode in The Twilight Zone. </a:t>
            </a:r>
            <a:endParaRPr sz="2000">
              <a:solidFill>
                <a:srgbClr val="FFFFFF"/>
              </a:solidFill>
              <a:latin typeface="Helvetica Neue Light"/>
              <a:ea typeface="Helvetica Neue Light"/>
              <a:cs typeface="Helvetica Neue Light"/>
              <a:sym typeface="Helvetica Neue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400"/>
              </a:spcBef>
              <a:spcAft>
                <a:spcPts val="400"/>
              </a:spcAft>
              <a:buNone/>
            </a:pPr>
            <a:r>
              <a:rPr b="1" lang="en" sz="2200">
                <a:latin typeface="Helvetica Neue"/>
                <a:ea typeface="Helvetica Neue"/>
                <a:cs typeface="Helvetica Neue"/>
                <a:sym typeface="Helvetica Neue"/>
              </a:rPr>
              <a:t>Analytical Paragraph Prompt</a:t>
            </a:r>
            <a:endParaRPr b="1" sz="3700">
              <a:latin typeface="Helvetica Neue"/>
              <a:ea typeface="Helvetica Neue"/>
              <a:cs typeface="Helvetica Neue"/>
              <a:sym typeface="Helvetica Neue"/>
            </a:endParaRPr>
          </a:p>
        </p:txBody>
      </p:sp>
      <p:sp>
        <p:nvSpPr>
          <p:cNvPr id="166" name="Google Shape;166;p30"/>
          <p:cNvSpPr txBox="1"/>
          <p:nvPr>
            <p:ph idx="1" type="body"/>
          </p:nvPr>
        </p:nvSpPr>
        <p:spPr>
          <a:xfrm>
            <a:off x="311700" y="1088975"/>
            <a:ext cx="8520600" cy="36258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Clr>
                <a:schemeClr val="dk1"/>
              </a:buClr>
              <a:buSzPts val="853"/>
              <a:buFont typeface="Arial"/>
              <a:buNone/>
            </a:pPr>
            <a:r>
              <a:rPr lang="en" sz="1500">
                <a:solidFill>
                  <a:schemeClr val="dk1"/>
                </a:solidFill>
                <a:latin typeface="Helvetica Neue"/>
                <a:ea typeface="Helvetica Neue"/>
                <a:cs typeface="Helvetica Neue"/>
                <a:sym typeface="Helvetica Neue"/>
              </a:rPr>
              <a:t>In the </a:t>
            </a:r>
            <a:r>
              <a:rPr i="1" lang="en" sz="1500">
                <a:solidFill>
                  <a:schemeClr val="dk1"/>
                </a:solidFill>
                <a:latin typeface="Helvetica Neue"/>
                <a:ea typeface="Helvetica Neue"/>
                <a:cs typeface="Helvetica Neue"/>
                <a:sym typeface="Helvetica Neue"/>
              </a:rPr>
              <a:t>Twilight Zone</a:t>
            </a:r>
            <a:r>
              <a:rPr lang="en" sz="1500">
                <a:solidFill>
                  <a:schemeClr val="dk1"/>
                </a:solidFill>
                <a:latin typeface="Helvetica Neue"/>
                <a:ea typeface="Helvetica Neue"/>
                <a:cs typeface="Helvetica Neue"/>
                <a:sym typeface="Helvetica Neue"/>
              </a:rPr>
              <a:t> adaptation of </a:t>
            </a:r>
            <a:r>
              <a:rPr i="1" lang="en" sz="1500">
                <a:solidFill>
                  <a:schemeClr val="dk1"/>
                </a:solidFill>
                <a:latin typeface="Helvetica Neue"/>
                <a:ea typeface="Helvetica Neue"/>
                <a:cs typeface="Helvetica Neue"/>
                <a:sym typeface="Helvetica Neue"/>
              </a:rPr>
              <a:t>An Occurrence at Owl Creek Bridge</a:t>
            </a:r>
            <a:r>
              <a:rPr lang="en" sz="1500">
                <a:solidFill>
                  <a:schemeClr val="dk1"/>
                </a:solidFill>
                <a:latin typeface="Helvetica Neue"/>
                <a:ea typeface="Helvetica Neue"/>
                <a:cs typeface="Helvetica Neue"/>
                <a:sym typeface="Helvetica Neue"/>
              </a:rPr>
              <a:t>, the filmmakers use cinematic techniques to align the audience with the condemned man’s perspective, only to later shift that perspective in the story’s conclusion. Write an analytical paragraph in which you explain how the episode’s use of narrative perspective shapes the audience’s interpretation of the story. In your analysis, you may consider how techniques such as point-of-view shots, camera angles, close-ups, mise-en-scène, editing, or sound contribute to the way perspective influences meaning.</a:t>
            </a:r>
            <a:endParaRPr sz="1500">
              <a:solidFill>
                <a:schemeClr val="lt1"/>
              </a:solidFill>
              <a:latin typeface="Helvetica Neue"/>
              <a:ea typeface="Helvetica Neue"/>
              <a:cs typeface="Helvetica Neue"/>
              <a:sym typeface="Helvetica Neue"/>
            </a:endParaRPr>
          </a:p>
          <a:p>
            <a:pPr indent="0" lvl="0" marL="0" rtl="0" algn="l">
              <a:lnSpc>
                <a:spcPct val="105000"/>
              </a:lnSpc>
              <a:spcBef>
                <a:spcPts val="1200"/>
              </a:spcBef>
              <a:spcAft>
                <a:spcPts val="0"/>
              </a:spcAft>
              <a:buSzPts val="853"/>
              <a:buNone/>
            </a:pPr>
            <a:r>
              <a:rPr lang="en" sz="1500">
                <a:solidFill>
                  <a:schemeClr val="dk1"/>
                </a:solidFill>
                <a:latin typeface="Helvetica Neue"/>
                <a:ea typeface="Helvetica Neue"/>
                <a:cs typeface="Helvetica Neue"/>
                <a:sym typeface="Helvetica Neue"/>
              </a:rPr>
              <a:t>Your paragraph should:</a:t>
            </a:r>
            <a:endParaRPr sz="1500">
              <a:solidFill>
                <a:schemeClr val="dk1"/>
              </a:solidFill>
              <a:latin typeface="Helvetica Neue"/>
              <a:ea typeface="Helvetica Neue"/>
              <a:cs typeface="Helvetica Neue"/>
              <a:sym typeface="Helvetica Neue"/>
            </a:endParaRPr>
          </a:p>
          <a:p>
            <a:pPr indent="-323850" lvl="0" marL="457200" rtl="0" algn="l">
              <a:lnSpc>
                <a:spcPct val="105000"/>
              </a:lnSpc>
              <a:spcBef>
                <a:spcPts val="1200"/>
              </a:spcBef>
              <a:spcAft>
                <a:spcPts val="0"/>
              </a:spcAft>
              <a:buClr>
                <a:schemeClr val="dk1"/>
              </a:buClr>
              <a:buSzPts val="1500"/>
              <a:buFont typeface="Helvetica Neue"/>
              <a:buChar char="●"/>
            </a:pPr>
            <a:r>
              <a:rPr lang="en" sz="1500">
                <a:solidFill>
                  <a:schemeClr val="dk1"/>
                </a:solidFill>
                <a:latin typeface="Helvetica Neue"/>
                <a:ea typeface="Helvetica Neue"/>
                <a:cs typeface="Helvetica Neue"/>
                <a:sym typeface="Helvetica Neue"/>
              </a:rPr>
              <a:t>Make a clear claim about how perspective is constructed.</a:t>
            </a:r>
            <a:br>
              <a:rPr lang="en" sz="1500">
                <a:solidFill>
                  <a:schemeClr val="dk1"/>
                </a:solidFill>
                <a:latin typeface="Helvetica Neue"/>
                <a:ea typeface="Helvetica Neue"/>
                <a:cs typeface="Helvetica Neue"/>
                <a:sym typeface="Helvetica Neue"/>
              </a:rPr>
            </a:br>
            <a:endParaRPr sz="1500">
              <a:solidFill>
                <a:schemeClr val="dk1"/>
              </a:solidFill>
              <a:latin typeface="Helvetica Neue"/>
              <a:ea typeface="Helvetica Neue"/>
              <a:cs typeface="Helvetica Neue"/>
              <a:sym typeface="Helvetica Neue"/>
            </a:endParaRPr>
          </a:p>
          <a:p>
            <a:pPr indent="-323850" lvl="0" marL="457200" rtl="0" algn="l">
              <a:lnSpc>
                <a:spcPct val="105000"/>
              </a:lnSpc>
              <a:spcBef>
                <a:spcPts val="0"/>
              </a:spcBef>
              <a:spcAft>
                <a:spcPts val="0"/>
              </a:spcAft>
              <a:buClr>
                <a:schemeClr val="dk1"/>
              </a:buClr>
              <a:buSzPts val="1500"/>
              <a:buFont typeface="Helvetica Neue"/>
              <a:buChar char="●"/>
            </a:pPr>
            <a:r>
              <a:rPr lang="en" sz="1500">
                <a:solidFill>
                  <a:schemeClr val="dk1"/>
                </a:solidFill>
                <a:latin typeface="Helvetica Neue"/>
                <a:ea typeface="Helvetica Neue"/>
                <a:cs typeface="Helvetica Neue"/>
                <a:sym typeface="Helvetica Neue"/>
              </a:rPr>
              <a:t>Use specific cinematic technique as evidence.</a:t>
            </a:r>
            <a:br>
              <a:rPr lang="en" sz="1500">
                <a:solidFill>
                  <a:schemeClr val="dk1"/>
                </a:solidFill>
                <a:latin typeface="Helvetica Neue"/>
                <a:ea typeface="Helvetica Neue"/>
                <a:cs typeface="Helvetica Neue"/>
                <a:sym typeface="Helvetica Neue"/>
              </a:rPr>
            </a:br>
            <a:endParaRPr sz="1500">
              <a:solidFill>
                <a:schemeClr val="dk1"/>
              </a:solidFill>
              <a:latin typeface="Helvetica Neue"/>
              <a:ea typeface="Helvetica Neue"/>
              <a:cs typeface="Helvetica Neue"/>
              <a:sym typeface="Helvetica Neue"/>
            </a:endParaRPr>
          </a:p>
          <a:p>
            <a:pPr indent="-323850" lvl="0" marL="457200" rtl="0" algn="l">
              <a:lnSpc>
                <a:spcPct val="105000"/>
              </a:lnSpc>
              <a:spcBef>
                <a:spcPts val="0"/>
              </a:spcBef>
              <a:spcAft>
                <a:spcPts val="0"/>
              </a:spcAft>
              <a:buClr>
                <a:schemeClr val="dk1"/>
              </a:buClr>
              <a:buSzPts val="1500"/>
              <a:buFont typeface="Helvetica Neue"/>
              <a:buChar char="●"/>
            </a:pPr>
            <a:r>
              <a:rPr lang="en" sz="1500">
                <a:solidFill>
                  <a:schemeClr val="dk1"/>
                </a:solidFill>
                <a:latin typeface="Helvetica Neue"/>
                <a:ea typeface="Helvetica Neue"/>
                <a:cs typeface="Helvetica Neue"/>
                <a:sym typeface="Helvetica Neue"/>
              </a:rPr>
              <a:t>Explain how that technique shapes the audience’s understanding of the story’s meaning.</a:t>
            </a:r>
            <a:endParaRPr sz="1500">
              <a:solidFill>
                <a:schemeClr val="dk1"/>
              </a:solidFill>
              <a:latin typeface="Helvetica Neue"/>
              <a:ea typeface="Helvetica Neue"/>
              <a:cs typeface="Helvetica Neue"/>
              <a:sym typeface="Helvetica Neue"/>
            </a:endParaRPr>
          </a:p>
          <a:p>
            <a:pPr indent="0" lvl="0" marL="0" rtl="0" algn="l">
              <a:lnSpc>
                <a:spcPct val="105000"/>
              </a:lnSpc>
              <a:spcBef>
                <a:spcPts val="1200"/>
              </a:spcBef>
              <a:spcAft>
                <a:spcPts val="1200"/>
              </a:spcAft>
              <a:buSzPts val="853"/>
              <a:buNone/>
            </a:pPr>
            <a:r>
              <a:t/>
            </a:r>
            <a:endParaRPr sz="1495">
              <a:solidFill>
                <a:schemeClr val="dk1"/>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