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Caveat"/>
      <p:regular r:id="rId18"/>
      <p:bold r:id="rId19"/>
    </p:embeddedFont>
    <p:embeddedFont>
      <p:font typeface="Helvetica Neue"/>
      <p:regular r:id="rId20"/>
      <p:bold r:id="rId21"/>
      <p:italic r:id="rId22"/>
      <p:boldItalic r:id="rId23"/>
    </p:embeddedFont>
    <p:embeddedFont>
      <p:font typeface="Helvetica Neue Ligh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elveticaNeue-regular.fntdata"/><Relationship Id="rId22" Type="http://schemas.openxmlformats.org/officeDocument/2006/relationships/font" Target="fonts/HelveticaNeue-italic.fntdata"/><Relationship Id="rId21" Type="http://schemas.openxmlformats.org/officeDocument/2006/relationships/font" Target="fonts/HelveticaNeue-bold.fntdata"/><Relationship Id="rId24" Type="http://schemas.openxmlformats.org/officeDocument/2006/relationships/font" Target="fonts/HelveticaNeueLight-regular.fntdata"/><Relationship Id="rId23" Type="http://schemas.openxmlformats.org/officeDocument/2006/relationships/font" Target="fonts/HelveticaNeue-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Light-italic.fntdata"/><Relationship Id="rId25" Type="http://schemas.openxmlformats.org/officeDocument/2006/relationships/font" Target="fonts/HelveticaNeueLight-bold.fntdata"/><Relationship Id="rId27" Type="http://schemas.openxmlformats.org/officeDocument/2006/relationships/font" Target="fonts/HelveticaNeue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Caveat-bold.fntdata"/><Relationship Id="rId18" Type="http://schemas.openxmlformats.org/officeDocument/2006/relationships/font" Target="fonts/Cavea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7aafd99e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7aafd99e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7aafd99e6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7aafd99e6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This pre-concept activity can be done individually or in pairs where one student does the happy house and one does the scary house. </a:t>
            </a:r>
            <a:br>
              <a:rPr b="1" lang="en">
                <a:solidFill>
                  <a:schemeClr val="dk1"/>
                </a:solidFill>
              </a:rPr>
            </a:br>
            <a:br>
              <a:rPr b="1" lang="en">
                <a:solidFill>
                  <a:schemeClr val="dk1"/>
                </a:solidFill>
              </a:rPr>
            </a:br>
            <a:r>
              <a:rPr b="1" lang="en">
                <a:solidFill>
                  <a:schemeClr val="dk1"/>
                </a:solidFill>
              </a:rPr>
              <a:t>Warm-Up (5 minutes)</a:t>
            </a:r>
            <a:br>
              <a:rPr b="1" lang="en">
                <a:solidFill>
                  <a:schemeClr val="dk1"/>
                </a:solidFill>
              </a:rPr>
            </a:b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Write two phrases on the board: </a:t>
            </a:r>
            <a:r>
              <a:rPr i="1" lang="en">
                <a:solidFill>
                  <a:schemeClr val="dk1"/>
                </a:solidFill>
              </a:rPr>
              <a:t>“A dream of beauty”</a:t>
            </a:r>
            <a:r>
              <a:rPr lang="en">
                <a:solidFill>
                  <a:schemeClr val="dk1"/>
                </a:solidFill>
              </a:rPr>
              <a:t> and </a:t>
            </a:r>
            <a:r>
              <a:rPr i="1" lang="en">
                <a:solidFill>
                  <a:schemeClr val="dk1"/>
                </a:solidFill>
              </a:rPr>
              <a:t>“A haunting nightmare.”</a:t>
            </a:r>
            <a:br>
              <a:rPr i="1" lang="en">
                <a:solidFill>
                  <a:schemeClr val="dk1"/>
                </a:solidFill>
              </a:rPr>
            </a:b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Ask: </a:t>
            </a:r>
            <a:r>
              <a:rPr i="1" lang="en">
                <a:solidFill>
                  <a:schemeClr val="dk1"/>
                </a:solidFill>
              </a:rPr>
              <a:t>How could the same place be described in both ways?</a:t>
            </a:r>
            <a:r>
              <a:rPr lang="en">
                <a:solidFill>
                  <a:schemeClr val="dk1"/>
                </a:solidFill>
              </a:rPr>
              <a:t> Gather a few quick responses to prime them for duality of tone.</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Task 1: Sunny Day Description (10–12 minutes)</a:t>
            </a:r>
            <a:br>
              <a:rPr b="1" lang="en">
                <a:solidFill>
                  <a:schemeClr val="dk1"/>
                </a:solidFill>
              </a:rPr>
            </a:b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Prompt: </a:t>
            </a:r>
            <a:r>
              <a:rPr i="1" lang="en">
                <a:solidFill>
                  <a:schemeClr val="dk1"/>
                </a:solidFill>
              </a:rPr>
              <a:t>Describe a house as if it is welcoming, beautiful, and idyllic on a bright sunny day.</a:t>
            </a:r>
            <a:br>
              <a:rPr i="1" lang="en">
                <a:solidFill>
                  <a:schemeClr val="dk1"/>
                </a:solidFill>
              </a:rPr>
            </a:b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use of </a:t>
            </a:r>
            <a:r>
              <a:rPr b="1" lang="en">
                <a:solidFill>
                  <a:schemeClr val="dk1"/>
                </a:solidFill>
              </a:rPr>
              <a:t>positive diction</a:t>
            </a:r>
            <a:r>
              <a:rPr lang="en">
                <a:solidFill>
                  <a:schemeClr val="dk1"/>
                </a:solidFill>
              </a:rPr>
              <a:t>, imagery of light, warmth, color, and comfort.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Students write 1 short descriptive paragraph.</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Task 2: Gothic Recast (10–12 minutes)</a:t>
            </a:r>
            <a:br>
              <a:rPr b="1" lang="en">
                <a:solidFill>
                  <a:schemeClr val="dk1"/>
                </a:solidFill>
              </a:rPr>
            </a:b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Same house, but now: </a:t>
            </a:r>
            <a:r>
              <a:rPr i="1" lang="en">
                <a:solidFill>
                  <a:schemeClr val="dk1"/>
                </a:solidFill>
              </a:rPr>
              <a:t>Describe it in a gothic, ominous, or horror tone.</a:t>
            </a:r>
            <a:br>
              <a:rPr i="1" lang="en">
                <a:solidFill>
                  <a:schemeClr val="dk1"/>
                </a:solidFill>
              </a:rPr>
            </a:b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use of </a:t>
            </a:r>
            <a:r>
              <a:rPr b="1" lang="en">
                <a:solidFill>
                  <a:schemeClr val="dk1"/>
                </a:solidFill>
              </a:rPr>
              <a:t>negative diction</a:t>
            </a:r>
            <a:r>
              <a:rPr lang="en">
                <a:solidFill>
                  <a:schemeClr val="dk1"/>
                </a:solidFill>
              </a:rPr>
              <a:t>, imagery of shadows, silence, emptiness, and foreboding.</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Students write a second descriptive paragraph.</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Pair/Group Share (10 minutes)</a:t>
            </a:r>
            <a:br>
              <a:rPr b="1" lang="en">
                <a:solidFill>
                  <a:schemeClr val="dk1"/>
                </a:solidFill>
              </a:rPr>
            </a:b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Students exchange their two descriptions with a partner.</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Partners underline </a:t>
            </a:r>
            <a:r>
              <a:rPr b="1" lang="en">
                <a:solidFill>
                  <a:schemeClr val="dk1"/>
                </a:solidFill>
              </a:rPr>
              <a:t>words/phrases</a:t>
            </a:r>
            <a:r>
              <a:rPr lang="en">
                <a:solidFill>
                  <a:schemeClr val="dk1"/>
                </a:solidFill>
              </a:rPr>
              <a:t> that made the biggest difference in tone.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Small groups discuss: </a:t>
            </a:r>
            <a:r>
              <a:rPr i="1" lang="en">
                <a:solidFill>
                  <a:schemeClr val="dk1"/>
                </a:solidFill>
              </a:rPr>
              <a:t>Which details overlap? Which ones had to shift entirely?</a:t>
            </a:r>
            <a:endParaRPr i="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7c82a613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7c82a613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What is Setting?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a:t>
            </a:r>
            <a:r>
              <a:rPr i="1" lang="en">
                <a:solidFill>
                  <a:schemeClr val="dk1"/>
                </a:solidFill>
              </a:rPr>
              <a:t>time</a:t>
            </a:r>
            <a:r>
              <a:rPr lang="en">
                <a:solidFill>
                  <a:schemeClr val="dk1"/>
                </a:solidFill>
              </a:rPr>
              <a:t> and </a:t>
            </a:r>
            <a:r>
              <a:rPr i="1" lang="en">
                <a:solidFill>
                  <a:schemeClr val="dk1"/>
                </a:solidFill>
              </a:rPr>
              <a:t>place</a:t>
            </a:r>
            <a:r>
              <a:rPr lang="en">
                <a:solidFill>
                  <a:schemeClr val="dk1"/>
                </a:solidFill>
              </a:rPr>
              <a:t> of a story.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Includes the </a:t>
            </a:r>
            <a:r>
              <a:rPr b="1" lang="en">
                <a:solidFill>
                  <a:schemeClr val="dk1"/>
                </a:solidFill>
              </a:rPr>
              <a:t>social, cultural, and historical context</a:t>
            </a:r>
            <a:r>
              <a:rPr lang="en">
                <a:solidFill>
                  <a:schemeClr val="dk1"/>
                </a:solidFill>
              </a:rPr>
              <a: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Creates the </a:t>
            </a:r>
            <a:r>
              <a:rPr b="1" lang="en">
                <a:solidFill>
                  <a:schemeClr val="dk1"/>
                </a:solidFill>
              </a:rPr>
              <a:t>atmosphere or mood</a:t>
            </a:r>
            <a:r>
              <a:rPr lang="en">
                <a:solidFill>
                  <a:schemeClr val="dk1"/>
                </a:solidFill>
              </a:rPr>
              <a:t>.</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Does It Matter?</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Shapes the </a:t>
            </a:r>
            <a:r>
              <a:rPr b="1" lang="en">
                <a:solidFill>
                  <a:schemeClr val="dk1"/>
                </a:solidFill>
              </a:rPr>
              <a:t>characters’ actions and emotions</a:t>
            </a:r>
            <a:r>
              <a:rPr lang="en">
                <a:solidFill>
                  <a:schemeClr val="dk1"/>
                </a:solidFill>
              </a:rPr>
              <a: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Influences the </a:t>
            </a:r>
            <a:r>
              <a:rPr b="1" lang="en">
                <a:solidFill>
                  <a:schemeClr val="dk1"/>
                </a:solidFill>
              </a:rPr>
              <a:t>themes and conflicts</a:t>
            </a:r>
            <a:r>
              <a:rPr lang="en">
                <a:solidFill>
                  <a:schemeClr val="dk1"/>
                </a:solidFill>
              </a:rPr>
              <a:t> of the story.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Can work symbolically to reflect deeper meaning.</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Think About: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When and where does the story happen?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What atmosphere does the writer create?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How might the setting reveal or shape a character’s state of mind?</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7c82a6131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7c82a6131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“Separate Spheres” in the Victorian Era</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Men and women were seen as having </a:t>
            </a:r>
            <a:r>
              <a:rPr b="1" lang="en">
                <a:solidFill>
                  <a:schemeClr val="dk1"/>
                </a:solidFill>
              </a:rPr>
              <a:t>different, ‘natural’ roles</a:t>
            </a:r>
            <a:r>
              <a:rPr lang="en">
                <a:solidFill>
                  <a:schemeClr val="dk1"/>
                </a:solidFill>
              </a:rPr>
              <a: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Men: public sphere (work, politics, business).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Women: domestic sphere (home, morality, raising children).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Women were viewed as physically weaker but morally superior, meant to “balance” men’s corruption from the outside world.</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influence at home was actually used as a </a:t>
            </a:r>
            <a:r>
              <a:rPr b="1" lang="en">
                <a:solidFill>
                  <a:schemeClr val="dk1"/>
                </a:solidFill>
              </a:rPr>
              <a:t>reason to deny women the vote</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Women’s Education &amp; the “Angel in the House”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Middle-class girls were educated not for careers, but to become the ideal wife—an </a:t>
            </a:r>
            <a:r>
              <a:rPr i="1" lang="en">
                <a:solidFill>
                  <a:schemeClr val="dk1"/>
                </a:solidFill>
              </a:rPr>
              <a:t>“Angel in the House.”</a:t>
            </a:r>
            <a:br>
              <a:rPr i="1" lang="en">
                <a:solidFill>
                  <a:schemeClr val="dk1"/>
                </a:solidFill>
              </a:rPr>
            </a:b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Instead of domestic skills, girls were trained in </a:t>
            </a:r>
            <a:r>
              <a:rPr b="1" lang="en">
                <a:solidFill>
                  <a:schemeClr val="dk1"/>
                </a:solidFill>
              </a:rPr>
              <a:t>“accomplishments”</a:t>
            </a:r>
            <a:r>
              <a:rPr lang="en">
                <a:solidFill>
                  <a:schemeClr val="dk1"/>
                </a:solidFill>
              </a:rPr>
              <a:t>: music, singing, drawing, dancing, languages, graceful manners.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i="1" lang="en">
                <a:solidFill>
                  <a:schemeClr val="dk1"/>
                </a:solidFill>
              </a:rPr>
              <a:t>Pride and Prejudice</a:t>
            </a:r>
            <a:r>
              <a:rPr lang="en">
                <a:solidFill>
                  <a:schemeClr val="dk1"/>
                </a:solidFill>
              </a:rPr>
              <a:t> (Caroline Bingley) captures this expectation of a refined, well-rounded but feminine woman on the next slide.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Serious intellectualism was discouraged—</a:t>
            </a:r>
            <a:r>
              <a:rPr b="1" lang="en">
                <a:solidFill>
                  <a:schemeClr val="dk1"/>
                </a:solidFill>
              </a:rPr>
              <a:t>“blue-stockings”</a:t>
            </a:r>
            <a:r>
              <a:rPr lang="en">
                <a:solidFill>
                  <a:schemeClr val="dk1"/>
                </a:solidFill>
              </a:rPr>
              <a:t> (overly studious women) were mocked as unfeminine and undesirable.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Some even claimed too much study damaged women’s health and made them unmarriageable.</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Marriage as a Business Transaction</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Limited options:</a:t>
            </a:r>
            <a:r>
              <a:rPr lang="en">
                <a:solidFill>
                  <a:schemeClr val="dk1"/>
                </a:solidFill>
              </a:rPr>
              <a:t> Middle- and upper-class women had few legal or financial rights; marriage was often their only route to stability.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Economic exchange:</a:t>
            </a:r>
            <a:r>
              <a:rPr lang="en">
                <a:solidFill>
                  <a:schemeClr val="dk1"/>
                </a:solidFill>
              </a:rPr>
              <a:t> Families treated marriage as a way to secure wealth, property, or social advancement.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Dowries &amp; inheritance:</a:t>
            </a:r>
            <a:r>
              <a:rPr lang="en">
                <a:solidFill>
                  <a:schemeClr val="dk1"/>
                </a:solidFill>
              </a:rPr>
              <a:t> Women brought dowries; men offered name, income, and protection—marriage was a negotiation.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Social survival:</a:t>
            </a:r>
            <a:r>
              <a:rPr lang="en">
                <a:solidFill>
                  <a:schemeClr val="dk1"/>
                </a:solidFill>
              </a:rPr>
              <a:t> A woman’s status and security depended on marrying “well,” not on personal ambition or education.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Romantic ideals vs. reality:</a:t>
            </a:r>
            <a:r>
              <a:rPr lang="en">
                <a:solidFill>
                  <a:schemeClr val="dk1"/>
                </a:solidFill>
              </a:rPr>
              <a:t> Literature of the period often contrasts the ideal of love with the harsh economic and social pressures behind marriage.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80000"/>
              </a:lnSpc>
              <a:spcBef>
                <a:spcPts val="56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7c82a6131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7c82a6131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7c82a6131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7c82a6131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Realism &amp; Women’s Restraints in Society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Shift from Romantic idealization → Realist truth-telling</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Realism rejected the exaggerated emotions and idealized heroines of Romanticism.</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Instead, it focused on ordinary lives, exposing the realities of women’s social limitations.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Domestic focus</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Realist writers often set their works in homes, small towns, and marriages—highlighting how women’s worlds were confined to the domestic sphere.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Psychological depth</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Realism gave attention to women’s </a:t>
            </a:r>
            <a:r>
              <a:rPr i="1" lang="en">
                <a:solidFill>
                  <a:schemeClr val="dk1"/>
                </a:solidFill>
              </a:rPr>
              <a:t>inner lives</a:t>
            </a:r>
            <a:r>
              <a:rPr lang="en">
                <a:solidFill>
                  <a:schemeClr val="dk1"/>
                </a:solidFill>
              </a:rPr>
              <a:t>—their desires, frustrations, and conflicts with societal expectations.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Example: Kate Chopin’s </a:t>
            </a:r>
            <a:r>
              <a:rPr i="1" lang="en">
                <a:solidFill>
                  <a:schemeClr val="dk1"/>
                </a:solidFill>
              </a:rPr>
              <a:t>The Story of an Hour</a:t>
            </a:r>
            <a:r>
              <a:rPr lang="en">
                <a:solidFill>
                  <a:schemeClr val="dk1"/>
                </a:solidFill>
              </a:rPr>
              <a:t> shows Louise Mallard’s fleeting vision of freedom when her husband dies.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Critique of social norms</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Realist texts often questioned marriage as an institution, the lack of autonomy for women, and the unequal power dynamics of gender.</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Novels like Flaubert’s </a:t>
            </a:r>
            <a:r>
              <a:rPr i="1" lang="en">
                <a:solidFill>
                  <a:schemeClr val="dk1"/>
                </a:solidFill>
              </a:rPr>
              <a:t>Madame Bovary</a:t>
            </a:r>
            <a:r>
              <a:rPr lang="en">
                <a:solidFill>
                  <a:schemeClr val="dk1"/>
                </a:solidFill>
              </a:rPr>
              <a:t> or Wharton’s </a:t>
            </a:r>
            <a:r>
              <a:rPr i="1" lang="en">
                <a:solidFill>
                  <a:schemeClr val="dk1"/>
                </a:solidFill>
              </a:rPr>
              <a:t>The House of Mirth</a:t>
            </a:r>
            <a:r>
              <a:rPr lang="en">
                <a:solidFill>
                  <a:schemeClr val="dk1"/>
                </a:solidFill>
              </a:rPr>
              <a:t> reveal the dangers of women constrained by social roles.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Paving the way for feminist literature</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By portraying women’s struggles realistically, Realist writers opened space for later feminist voices to directly challenge oppression.</a:t>
            </a:r>
            <a:br>
              <a:rPr lang="en">
                <a:solidFill>
                  <a:schemeClr val="dk1"/>
                </a:solidFill>
              </a:rPr>
            </a:b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7c82a6131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7c82a6131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Clr>
                <a:schemeClr val="dk1"/>
              </a:buClr>
              <a:buSzPts val="1700"/>
              <a:buFont typeface="Helvetica Neue Light"/>
              <a:buChar char="●"/>
            </a:pPr>
            <a:r>
              <a:rPr i="1" lang="en" sz="1700">
                <a:solidFill>
                  <a:schemeClr val="dk1"/>
                </a:solidFill>
                <a:latin typeface="Helvetica Neue Light"/>
                <a:ea typeface="Helvetica Neue Light"/>
                <a:cs typeface="Helvetica Neue Light"/>
                <a:sym typeface="Helvetica Neue Light"/>
              </a:rPr>
              <a:t>Rebecca</a:t>
            </a:r>
            <a:r>
              <a:rPr lang="en" sz="1700">
                <a:solidFill>
                  <a:schemeClr val="dk1"/>
                </a:solidFill>
                <a:latin typeface="Helvetica Neue Light"/>
                <a:ea typeface="Helvetica Neue Light"/>
                <a:cs typeface="Helvetica Neue Light"/>
                <a:sym typeface="Helvetica Neue Light"/>
              </a:rPr>
              <a:t> by Daphne du Maurier follows an unnamed young woman who marries the wealthy widower Maxim de Winter and moves to his grand estate, Manderley, where she becomes obsessed with the lingering presence of his first wife, </a:t>
            </a:r>
            <a:r>
              <a:rPr i="1" lang="en" sz="1700">
                <a:solidFill>
                  <a:schemeClr val="dk1"/>
                </a:solidFill>
                <a:latin typeface="Helvetica Neue Light"/>
                <a:ea typeface="Helvetica Neue Light"/>
                <a:cs typeface="Helvetica Neue Light"/>
                <a:sym typeface="Helvetica Neue Light"/>
              </a:rPr>
              <a:t>Rebecca</a:t>
            </a:r>
            <a:r>
              <a:rPr lang="en" sz="1700">
                <a:solidFill>
                  <a:schemeClr val="dk1"/>
                </a:solidFill>
                <a:latin typeface="Helvetica Neue Light"/>
                <a:ea typeface="Helvetica Neue Light"/>
                <a:cs typeface="Helvetica Neue Light"/>
                <a:sym typeface="Helvetica Neue Light"/>
              </a:rPr>
              <a:t>.</a:t>
            </a:r>
            <a:endParaRPr sz="1700">
              <a:solidFill>
                <a:schemeClr val="dk1"/>
              </a:solidFill>
              <a:latin typeface="Helvetica Neue Light"/>
              <a:ea typeface="Helvetica Neue Light"/>
              <a:cs typeface="Helvetica Neue Light"/>
              <a:sym typeface="Helvetica Neue Light"/>
            </a:endParaRPr>
          </a:p>
          <a:p>
            <a:pPr indent="-336550" lvl="0" marL="457200" rtl="0" algn="l">
              <a:lnSpc>
                <a:spcPct val="115000"/>
              </a:lnSpc>
              <a:spcBef>
                <a:spcPts val="0"/>
              </a:spcBef>
              <a:spcAft>
                <a:spcPts val="0"/>
              </a:spcAft>
              <a:buClr>
                <a:schemeClr val="dk1"/>
              </a:buClr>
              <a:buSzPts val="1700"/>
              <a:buFont typeface="Helvetica Neue Light"/>
              <a:buChar char="●"/>
            </a:pPr>
            <a:r>
              <a:rPr lang="en" sz="1700">
                <a:solidFill>
                  <a:schemeClr val="dk1"/>
                </a:solidFill>
                <a:latin typeface="Helvetica Neue Light"/>
                <a:ea typeface="Helvetica Neue Light"/>
                <a:cs typeface="Helvetica Neue Light"/>
                <a:sym typeface="Helvetica Neue Light"/>
              </a:rPr>
              <a:t>Inspired by her own jealously as her husband, a British leutenant, had been previously engaged to Jan Ricardo, a glamorous dark-haired figure. Du Maurier was apparently haunted by the suspicion that Browning remained attracted to Ricardo. The woman had committed suicide by jumping in front of a train.</a:t>
            </a:r>
            <a:endParaRPr sz="1700">
              <a:solidFill>
                <a:schemeClr val="dk1"/>
              </a:solidFill>
              <a:latin typeface="Helvetica Neue Light"/>
              <a:ea typeface="Helvetica Neue Light"/>
              <a:cs typeface="Helvetica Neue Light"/>
              <a:sym typeface="Helvetica Neue Light"/>
            </a:endParaRPr>
          </a:p>
          <a:p>
            <a:pPr indent="-336550" lvl="0" marL="457200" rtl="0" algn="l">
              <a:lnSpc>
                <a:spcPct val="115000"/>
              </a:lnSpc>
              <a:spcBef>
                <a:spcPts val="0"/>
              </a:spcBef>
              <a:spcAft>
                <a:spcPts val="0"/>
              </a:spcAft>
              <a:buClr>
                <a:schemeClr val="dk1"/>
              </a:buClr>
              <a:buSzPts val="1700"/>
              <a:buFont typeface="Helvetica Neue Light"/>
              <a:buChar char="●"/>
            </a:pPr>
            <a:r>
              <a:rPr lang="en" sz="1700">
                <a:solidFill>
                  <a:schemeClr val="dk1"/>
                </a:solidFill>
                <a:latin typeface="Helvetica Neue Light"/>
                <a:ea typeface="Helvetica Neue Light"/>
                <a:cs typeface="Helvetica Neue Light"/>
                <a:sym typeface="Helvetica Neue Light"/>
              </a:rPr>
              <a:t>In the Gothic tradition, it is characterized by psychological suspense and dark, brooding settings. </a:t>
            </a:r>
            <a:endParaRPr sz="17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200"/>
              </a:spcBef>
              <a:spcAft>
                <a:spcPts val="0"/>
              </a:spcAft>
              <a:buClr>
                <a:schemeClr val="dk1"/>
              </a:buClr>
              <a:buSzPts val="1100"/>
              <a:buFont typeface="Arial"/>
              <a:buNone/>
            </a:pPr>
            <a:r>
              <a:t/>
            </a:r>
            <a:endParaRPr sz="17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7dbba00a2e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7dbba00a2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Helvetica Neue Light"/>
                <a:ea typeface="Helvetica Neue Light"/>
                <a:cs typeface="Helvetica Neue Light"/>
                <a:sym typeface="Helvetica Neue Light"/>
              </a:rPr>
              <a:t>These are preliminary notes from Du Maurier about the inception of this story. </a:t>
            </a:r>
            <a:br>
              <a:rPr lang="en" sz="1700">
                <a:latin typeface="Helvetica Neue Light"/>
                <a:ea typeface="Helvetica Neue Light"/>
                <a:cs typeface="Helvetica Neue Light"/>
                <a:sym typeface="Helvetica Neue Light"/>
              </a:rPr>
            </a:br>
            <a:br>
              <a:rPr lang="en" sz="1700">
                <a:latin typeface="Helvetica Neue Light"/>
                <a:ea typeface="Helvetica Neue Light"/>
                <a:cs typeface="Helvetica Neue Light"/>
                <a:sym typeface="Helvetica Neue Light"/>
              </a:rPr>
            </a:br>
            <a:r>
              <a:rPr lang="en" sz="1700">
                <a:latin typeface="Helvetica Neue Light"/>
                <a:ea typeface="Helvetica Neue Light"/>
                <a:cs typeface="Helvetica Neue Light"/>
                <a:sym typeface="Helvetica Neue Light"/>
              </a:rPr>
              <a:t>Helps shed some light on the ideas she had for the story and how vague and mysterious they are. Note how she </a:t>
            </a:r>
            <a:r>
              <a:rPr lang="en" sz="1700">
                <a:latin typeface="Helvetica Neue Light"/>
                <a:ea typeface="Helvetica Neue Light"/>
                <a:cs typeface="Helvetica Neue Light"/>
                <a:sym typeface="Helvetica Neue Light"/>
              </a:rPr>
              <a:t>maintains this dream-like, wistful tone in the story. </a:t>
            </a:r>
            <a:endParaRPr sz="1700">
              <a:latin typeface="Helvetica Neue Light"/>
              <a:ea typeface="Helvetica Neue Light"/>
              <a:cs typeface="Helvetica Neue Light"/>
              <a:sym typeface="Helvetica Neue 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7c82a6131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7c82a6131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Helvetica Neue Light"/>
                <a:ea typeface="Helvetica Neue Light"/>
                <a:cs typeface="Helvetica Neue Light"/>
                <a:sym typeface="Helvetica Neue Light"/>
              </a:rPr>
              <a:t>Opening of</a:t>
            </a:r>
            <a:r>
              <a:rPr i="1" lang="en" sz="1700">
                <a:latin typeface="Helvetica Neue Light"/>
                <a:ea typeface="Helvetica Neue Light"/>
                <a:cs typeface="Helvetica Neue Light"/>
                <a:sym typeface="Helvetica Neue Light"/>
              </a:rPr>
              <a:t> Rebecca</a:t>
            </a:r>
            <a:br>
              <a:rPr i="1" lang="en" sz="1700">
                <a:latin typeface="Helvetica Neue Light"/>
                <a:ea typeface="Helvetica Neue Light"/>
                <a:cs typeface="Helvetica Neue Light"/>
                <a:sym typeface="Helvetica Neue Light"/>
              </a:rPr>
            </a:br>
            <a:br>
              <a:rPr i="1" lang="en" sz="1700">
                <a:latin typeface="Helvetica Neue Light"/>
                <a:ea typeface="Helvetica Neue Light"/>
                <a:cs typeface="Helvetica Neue Light"/>
                <a:sym typeface="Helvetica Neue Light"/>
              </a:rPr>
            </a:br>
            <a:r>
              <a:rPr i="1" lang="en" sz="1700">
                <a:latin typeface="Helvetica Neue Light"/>
                <a:ea typeface="Helvetica Neue Light"/>
                <a:cs typeface="Helvetica Neue Light"/>
                <a:sym typeface="Helvetica Neue Light"/>
              </a:rPr>
              <a:t>This is the full film. Only play until 2:19.</a:t>
            </a:r>
            <a:endParaRPr i="1" sz="1700">
              <a:latin typeface="Helvetica Neue Light"/>
              <a:ea typeface="Helvetica Neue Light"/>
              <a:cs typeface="Helvetica Neue Light"/>
              <a:sym typeface="Helvetica Neue Light"/>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7dbba00a2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7dbba00a2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700">
                <a:solidFill>
                  <a:schemeClr val="dk1"/>
                </a:solidFill>
                <a:latin typeface="Helvetica Neue Light"/>
                <a:ea typeface="Helvetica Neue Light"/>
                <a:cs typeface="Helvetica Neue Light"/>
                <a:sym typeface="Helvetica Neue Light"/>
              </a:rPr>
              <a:t>Explain that this activity is building to writing an </a:t>
            </a:r>
            <a:r>
              <a:rPr lang="en" sz="1700">
                <a:solidFill>
                  <a:schemeClr val="dk1"/>
                </a:solidFill>
                <a:latin typeface="Helvetica Neue Light"/>
                <a:ea typeface="Helvetica Neue Light"/>
                <a:cs typeface="Helvetica Neue Light"/>
                <a:sym typeface="Helvetica Neue Light"/>
              </a:rPr>
              <a:t>analytical</a:t>
            </a:r>
            <a:r>
              <a:rPr lang="en" sz="1700">
                <a:solidFill>
                  <a:schemeClr val="dk1"/>
                </a:solidFill>
                <a:latin typeface="Helvetica Neue Light"/>
                <a:ea typeface="Helvetica Neue Light"/>
                <a:cs typeface="Helvetica Neue Light"/>
                <a:sym typeface="Helvetica Neue Light"/>
              </a:rPr>
              <a:t> </a:t>
            </a:r>
            <a:r>
              <a:rPr lang="en" sz="1700">
                <a:solidFill>
                  <a:schemeClr val="dk1"/>
                </a:solidFill>
                <a:latin typeface="Helvetica Neue Light"/>
                <a:ea typeface="Helvetica Neue Light"/>
                <a:cs typeface="Helvetica Neue Light"/>
                <a:sym typeface="Helvetica Neue Light"/>
              </a:rPr>
              <a:t>paragraph</a:t>
            </a:r>
            <a:r>
              <a:rPr lang="en" sz="1700">
                <a:solidFill>
                  <a:schemeClr val="dk1"/>
                </a:solidFill>
                <a:latin typeface="Helvetica Neue Light"/>
                <a:ea typeface="Helvetica Neue Light"/>
                <a:cs typeface="Helvetica Neue Light"/>
                <a:sym typeface="Helvetica Neue Light"/>
              </a:rPr>
              <a:t>. A strong paragraph has two essentials:</a:t>
            </a:r>
            <a:endParaRPr sz="1700">
              <a:solidFill>
                <a:schemeClr val="dk1"/>
              </a:solidFill>
              <a:latin typeface="Helvetica Neue Light"/>
              <a:ea typeface="Helvetica Neue Light"/>
              <a:cs typeface="Helvetica Neue Light"/>
              <a:sym typeface="Helvetica Neue Light"/>
            </a:endParaRPr>
          </a:p>
          <a:p>
            <a:pPr indent="-336550" lvl="0" marL="457200" rtl="0" algn="l">
              <a:lnSpc>
                <a:spcPct val="115000"/>
              </a:lnSpc>
              <a:spcBef>
                <a:spcPts val="1200"/>
              </a:spcBef>
              <a:spcAft>
                <a:spcPts val="0"/>
              </a:spcAft>
              <a:buClr>
                <a:schemeClr val="dk1"/>
              </a:buClr>
              <a:buSzPts val="1700"/>
              <a:buAutoNum type="arabicPeriod"/>
            </a:pPr>
            <a:r>
              <a:rPr lang="en" sz="1700">
                <a:solidFill>
                  <a:schemeClr val="dk1"/>
                </a:solidFill>
                <a:latin typeface="Helvetica Neue Light"/>
                <a:ea typeface="Helvetica Neue Light"/>
                <a:cs typeface="Helvetica Neue Light"/>
                <a:sym typeface="Helvetica Neue Light"/>
              </a:rPr>
              <a:t>A claim (your argument about the text).</a:t>
            </a:r>
            <a:endParaRPr sz="1700">
              <a:solidFill>
                <a:schemeClr val="dk1"/>
              </a:solidFill>
              <a:latin typeface="Helvetica Neue Light"/>
              <a:ea typeface="Helvetica Neue Light"/>
              <a:cs typeface="Helvetica Neue Light"/>
              <a:sym typeface="Helvetica Neue Light"/>
            </a:endParaRPr>
          </a:p>
          <a:p>
            <a:pPr indent="-336550" lvl="0" marL="457200" rtl="0" algn="l">
              <a:lnSpc>
                <a:spcPct val="115000"/>
              </a:lnSpc>
              <a:spcBef>
                <a:spcPts val="0"/>
              </a:spcBef>
              <a:spcAft>
                <a:spcPts val="0"/>
              </a:spcAft>
              <a:buClr>
                <a:schemeClr val="dk1"/>
              </a:buClr>
              <a:buSzPts val="1700"/>
              <a:buAutoNum type="arabicPeriod"/>
            </a:pPr>
            <a:r>
              <a:rPr lang="en" sz="1700">
                <a:solidFill>
                  <a:schemeClr val="dk1"/>
                </a:solidFill>
                <a:latin typeface="Helvetica Neue Light"/>
                <a:ea typeface="Helvetica Neue Light"/>
                <a:cs typeface="Helvetica Neue Light"/>
                <a:sym typeface="Helvetica Neue Light"/>
              </a:rPr>
              <a:t>Evidence (a quotation or specific detail from the text that supports your claim).</a:t>
            </a:r>
            <a:endParaRPr sz="17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200"/>
              </a:spcBef>
              <a:spcAft>
                <a:spcPts val="0"/>
              </a:spcAft>
              <a:buNone/>
            </a:pPr>
            <a:r>
              <a:rPr lang="en" sz="1700">
                <a:solidFill>
                  <a:schemeClr val="dk1"/>
                </a:solidFill>
                <a:latin typeface="Helvetica Neue Light"/>
                <a:ea typeface="Helvetica Neue Light"/>
                <a:cs typeface="Helvetica Neue Light"/>
                <a:sym typeface="Helvetica Neue Light"/>
              </a:rPr>
              <a:t>At this stage they are practicing gathering evidence from a text. Noticing distinct phrases, </a:t>
            </a:r>
            <a:r>
              <a:rPr lang="en" sz="1700">
                <a:solidFill>
                  <a:schemeClr val="dk1"/>
                </a:solidFill>
                <a:latin typeface="Helvetica Neue Light"/>
                <a:ea typeface="Helvetica Neue Light"/>
                <a:cs typeface="Helvetica Neue Light"/>
                <a:sym typeface="Helvetica Neue Light"/>
              </a:rPr>
              <a:t>impactful</a:t>
            </a:r>
            <a:r>
              <a:rPr lang="en" sz="1700">
                <a:solidFill>
                  <a:schemeClr val="dk1"/>
                </a:solidFill>
                <a:latin typeface="Helvetica Neue Light"/>
                <a:ea typeface="Helvetica Neue Light"/>
                <a:cs typeface="Helvetica Neue Light"/>
                <a:sym typeface="Helvetica Neue Light"/>
              </a:rPr>
              <a:t> diction, or simply passages that feel meaningful. Then, they will provide an interpretation of what it may reveal about the character</a:t>
            </a:r>
            <a:br>
              <a:rPr lang="en" sz="1700">
                <a:solidFill>
                  <a:schemeClr val="dk1"/>
                </a:solidFill>
                <a:latin typeface="Helvetica Neue Light"/>
                <a:ea typeface="Helvetica Neue Light"/>
                <a:cs typeface="Helvetica Neue Light"/>
                <a:sym typeface="Helvetica Neue Light"/>
              </a:rPr>
            </a:br>
            <a:br>
              <a:rPr lang="en" sz="1700">
                <a:solidFill>
                  <a:schemeClr val="dk1"/>
                </a:solidFill>
                <a:latin typeface="Helvetica Neue Light"/>
                <a:ea typeface="Helvetica Neue Light"/>
                <a:cs typeface="Helvetica Neue Light"/>
                <a:sym typeface="Helvetica Neue Light"/>
              </a:rPr>
            </a:br>
            <a:r>
              <a:rPr lang="en" sz="1700">
                <a:solidFill>
                  <a:schemeClr val="dk1"/>
                </a:solidFill>
                <a:latin typeface="Helvetica Neue Light"/>
                <a:ea typeface="Helvetica Neue Light"/>
                <a:cs typeface="Helvetica Neue Light"/>
                <a:sym typeface="Helvetica Neue Light"/>
              </a:rPr>
              <a:t>Don’t have students </a:t>
            </a:r>
            <a:r>
              <a:rPr lang="en" sz="1700">
                <a:solidFill>
                  <a:schemeClr val="dk1"/>
                </a:solidFill>
                <a:latin typeface="Helvetica Neue Light"/>
                <a:ea typeface="Helvetica Neue Light"/>
                <a:cs typeface="Helvetica Neue Light"/>
                <a:sym typeface="Helvetica Neue Light"/>
              </a:rPr>
              <a:t>complete</a:t>
            </a:r>
            <a:r>
              <a:rPr lang="en" sz="1700">
                <a:solidFill>
                  <a:schemeClr val="dk1"/>
                </a:solidFill>
                <a:latin typeface="Helvetica Neue Light"/>
                <a:ea typeface="Helvetica Neue Light"/>
                <a:cs typeface="Helvetica Neue Light"/>
                <a:sym typeface="Helvetica Neue Light"/>
              </a:rPr>
              <a:t> the backside of the worksheet. After they finish the T-Chart everyone will share their findings and then they will try to find some unifying pattern amongst these quotes they gathered (maybe the idea of anxiety or disorientation or how Manderley is both beautiful and frightening) then students will create a claim based on the patterns they notice</a:t>
            </a:r>
            <a:br>
              <a:rPr lang="en" sz="1700">
                <a:solidFill>
                  <a:schemeClr val="dk1"/>
                </a:solidFill>
                <a:latin typeface="Helvetica Neue Light"/>
                <a:ea typeface="Helvetica Neue Light"/>
                <a:cs typeface="Helvetica Neue Light"/>
                <a:sym typeface="Helvetica Neue Light"/>
              </a:rPr>
            </a:br>
            <a:br>
              <a:rPr lang="en" sz="1700">
                <a:solidFill>
                  <a:schemeClr val="dk1"/>
                </a:solidFill>
                <a:latin typeface="Helvetica Neue Light"/>
                <a:ea typeface="Helvetica Neue Light"/>
                <a:cs typeface="Helvetica Neue Light"/>
                <a:sym typeface="Helvetica Neue Light"/>
              </a:rPr>
            </a:br>
            <a:r>
              <a:rPr lang="en" sz="1700">
                <a:solidFill>
                  <a:schemeClr val="dk1"/>
                </a:solidFill>
                <a:latin typeface="Helvetica Neue Light"/>
                <a:ea typeface="Helvetica Neue Light"/>
                <a:cs typeface="Helvetica Neue Light"/>
                <a:sym typeface="Helvetica Neue Light"/>
              </a:rPr>
              <a:t>Possible Claims about Setting &amp; Inner Conflict</a:t>
            </a:r>
            <a:endParaRPr sz="1700">
              <a:solidFill>
                <a:schemeClr val="dk1"/>
              </a:solidFill>
              <a:latin typeface="Helvetica Neue Light"/>
              <a:ea typeface="Helvetica Neue Light"/>
              <a:cs typeface="Helvetica Neue Light"/>
              <a:sym typeface="Helvetica Neue Light"/>
            </a:endParaRPr>
          </a:p>
          <a:p>
            <a:pPr indent="-336550" lvl="0" marL="457200" rtl="0" algn="l">
              <a:lnSpc>
                <a:spcPct val="115000"/>
              </a:lnSpc>
              <a:spcBef>
                <a:spcPts val="1200"/>
              </a:spcBef>
              <a:spcAft>
                <a:spcPts val="0"/>
              </a:spcAft>
              <a:buClr>
                <a:schemeClr val="dk1"/>
              </a:buClr>
              <a:buSzPts val="1700"/>
              <a:buFont typeface="Helvetica Neue Light"/>
              <a:buAutoNum type="arabicPeriod"/>
            </a:pPr>
            <a:r>
              <a:rPr lang="en" sz="1700">
                <a:solidFill>
                  <a:schemeClr val="dk1"/>
                </a:solidFill>
                <a:latin typeface="Helvetica Neue Light"/>
                <a:ea typeface="Helvetica Neue Light"/>
                <a:cs typeface="Helvetica Neue Light"/>
                <a:sym typeface="Helvetica Neue Light"/>
              </a:rPr>
              <a:t>Du Maurier uses images of decay and overgrowth to show the narrator’s sense of loss and guilt.</a:t>
            </a:r>
            <a:br>
              <a:rPr lang="en" sz="1700">
                <a:solidFill>
                  <a:schemeClr val="dk1"/>
                </a:solidFill>
                <a:latin typeface="Helvetica Neue Light"/>
                <a:ea typeface="Helvetica Neue Light"/>
                <a:cs typeface="Helvetica Neue Light"/>
                <a:sym typeface="Helvetica Neue Light"/>
              </a:rPr>
            </a:br>
            <a:endParaRPr sz="1700">
              <a:solidFill>
                <a:schemeClr val="dk1"/>
              </a:solidFill>
              <a:latin typeface="Helvetica Neue Light"/>
              <a:ea typeface="Helvetica Neue Light"/>
              <a:cs typeface="Helvetica Neue Light"/>
              <a:sym typeface="Helvetica Neue Light"/>
            </a:endParaRPr>
          </a:p>
          <a:p>
            <a:pPr indent="-336550" lvl="0" marL="457200" rtl="0" algn="l">
              <a:lnSpc>
                <a:spcPct val="115000"/>
              </a:lnSpc>
              <a:spcBef>
                <a:spcPts val="0"/>
              </a:spcBef>
              <a:spcAft>
                <a:spcPts val="0"/>
              </a:spcAft>
              <a:buClr>
                <a:schemeClr val="dk1"/>
              </a:buClr>
              <a:buSzPts val="1700"/>
              <a:buFont typeface="Helvetica Neue Light"/>
              <a:buAutoNum type="arabicPeriod"/>
            </a:pPr>
            <a:r>
              <a:rPr lang="en" sz="1700">
                <a:solidFill>
                  <a:schemeClr val="dk1"/>
                </a:solidFill>
                <a:latin typeface="Helvetica Neue Light"/>
                <a:ea typeface="Helvetica Neue Light"/>
                <a:cs typeface="Helvetica Neue Light"/>
                <a:sym typeface="Helvetica Neue Light"/>
              </a:rPr>
              <a:t>The twisting, hidden drive reflects the narrator’s confusion and inability to see her future clearly.</a:t>
            </a:r>
            <a:br>
              <a:rPr lang="en" sz="1700">
                <a:solidFill>
                  <a:schemeClr val="dk1"/>
                </a:solidFill>
                <a:latin typeface="Helvetica Neue Light"/>
                <a:ea typeface="Helvetica Neue Light"/>
                <a:cs typeface="Helvetica Neue Light"/>
                <a:sym typeface="Helvetica Neue Light"/>
              </a:rPr>
            </a:br>
            <a:endParaRPr sz="1700">
              <a:solidFill>
                <a:schemeClr val="dk1"/>
              </a:solidFill>
              <a:latin typeface="Helvetica Neue Light"/>
              <a:ea typeface="Helvetica Neue Light"/>
              <a:cs typeface="Helvetica Neue Light"/>
              <a:sym typeface="Helvetica Neue Light"/>
            </a:endParaRPr>
          </a:p>
          <a:p>
            <a:pPr indent="-336550" lvl="0" marL="457200" rtl="0" algn="l">
              <a:lnSpc>
                <a:spcPct val="115000"/>
              </a:lnSpc>
              <a:spcBef>
                <a:spcPts val="0"/>
              </a:spcBef>
              <a:spcAft>
                <a:spcPts val="0"/>
              </a:spcAft>
              <a:buClr>
                <a:schemeClr val="dk1"/>
              </a:buClr>
              <a:buSzPts val="1700"/>
              <a:buFont typeface="Helvetica Neue Light"/>
              <a:buAutoNum type="arabicPeriod"/>
            </a:pPr>
            <a:r>
              <a:rPr lang="en" sz="1700">
                <a:solidFill>
                  <a:schemeClr val="dk1"/>
                </a:solidFill>
                <a:latin typeface="Helvetica Neue Light"/>
                <a:ea typeface="Helvetica Neue Light"/>
                <a:cs typeface="Helvetica Neue Light"/>
                <a:sym typeface="Helvetica Neue Light"/>
              </a:rPr>
              <a:t>The lifeless windows and empty house mirror the narrator’s feelings of isolation and invisibility.</a:t>
            </a:r>
            <a:br>
              <a:rPr lang="en" sz="1700">
                <a:solidFill>
                  <a:schemeClr val="dk1"/>
                </a:solidFill>
                <a:latin typeface="Helvetica Neue Light"/>
                <a:ea typeface="Helvetica Neue Light"/>
                <a:cs typeface="Helvetica Neue Light"/>
                <a:sym typeface="Helvetica Neue Light"/>
              </a:rPr>
            </a:br>
            <a:endParaRPr sz="1700">
              <a:solidFill>
                <a:schemeClr val="dk1"/>
              </a:solidFill>
              <a:latin typeface="Helvetica Neue Light"/>
              <a:ea typeface="Helvetica Neue Light"/>
              <a:cs typeface="Helvetica Neue Light"/>
              <a:sym typeface="Helvetica Neue Light"/>
            </a:endParaRPr>
          </a:p>
          <a:p>
            <a:pPr indent="-336550" lvl="0" marL="457200" rtl="0" algn="l">
              <a:lnSpc>
                <a:spcPct val="115000"/>
              </a:lnSpc>
              <a:spcBef>
                <a:spcPts val="0"/>
              </a:spcBef>
              <a:spcAft>
                <a:spcPts val="0"/>
              </a:spcAft>
              <a:buClr>
                <a:schemeClr val="dk1"/>
              </a:buClr>
              <a:buSzPts val="1700"/>
              <a:buFont typeface="Helvetica Neue Light"/>
              <a:buAutoNum type="arabicPeriod"/>
            </a:pPr>
            <a:r>
              <a:rPr lang="en" sz="1700">
                <a:solidFill>
                  <a:schemeClr val="dk1"/>
                </a:solidFill>
                <a:latin typeface="Helvetica Neue Light"/>
                <a:ea typeface="Helvetica Neue Light"/>
                <a:cs typeface="Helvetica Neue Light"/>
                <a:sym typeface="Helvetica Neue Light"/>
              </a:rPr>
              <a:t>The pressing woods symbolize the narrator’s fear of being trapped by memory and circumstance.</a:t>
            </a:r>
            <a:br>
              <a:rPr lang="en" sz="1700">
                <a:solidFill>
                  <a:schemeClr val="dk1"/>
                </a:solidFill>
                <a:latin typeface="Helvetica Neue Light"/>
                <a:ea typeface="Helvetica Neue Light"/>
                <a:cs typeface="Helvetica Neue Light"/>
                <a:sym typeface="Helvetica Neue Light"/>
              </a:rPr>
            </a:br>
            <a:endParaRPr sz="1700">
              <a:solidFill>
                <a:schemeClr val="dk1"/>
              </a:solidFill>
              <a:latin typeface="Helvetica Neue Light"/>
              <a:ea typeface="Helvetica Neue Light"/>
              <a:cs typeface="Helvetica Neue Light"/>
              <a:sym typeface="Helvetica Neue Light"/>
            </a:endParaRPr>
          </a:p>
          <a:p>
            <a:pPr indent="-336550" lvl="0" marL="457200" rtl="0" algn="l">
              <a:lnSpc>
                <a:spcPct val="115000"/>
              </a:lnSpc>
              <a:spcBef>
                <a:spcPts val="0"/>
              </a:spcBef>
              <a:spcAft>
                <a:spcPts val="0"/>
              </a:spcAft>
              <a:buClr>
                <a:schemeClr val="dk1"/>
              </a:buClr>
              <a:buSzPts val="1700"/>
              <a:buFont typeface="Helvetica Neue Light"/>
              <a:buAutoNum type="arabicPeriod"/>
            </a:pPr>
            <a:r>
              <a:rPr lang="en" sz="1700">
                <a:solidFill>
                  <a:schemeClr val="dk1"/>
                </a:solidFill>
                <a:latin typeface="Helvetica Neue Light"/>
                <a:ea typeface="Helvetica Neue Light"/>
                <a:cs typeface="Helvetica Neue Light"/>
                <a:sym typeface="Helvetica Neue Light"/>
              </a:rPr>
              <a:t>The mix of beauty (rhododendrons, moonlight) and menace (nettles, shadows) shows her conflicted emotions of desire and dread.</a:t>
            </a:r>
            <a:br>
              <a:rPr lang="en" sz="1700">
                <a:solidFill>
                  <a:schemeClr val="dk1"/>
                </a:solidFill>
                <a:latin typeface="Helvetica Neue Light"/>
                <a:ea typeface="Helvetica Neue Light"/>
                <a:cs typeface="Helvetica Neue Light"/>
                <a:sym typeface="Helvetica Neue Light"/>
              </a:rPr>
            </a:br>
            <a:endParaRPr sz="1700">
              <a:solidFill>
                <a:schemeClr val="dk1"/>
              </a:solidFill>
              <a:latin typeface="Helvetica Neue Light"/>
              <a:ea typeface="Helvetica Neue Light"/>
              <a:cs typeface="Helvetica Neue Light"/>
              <a:sym typeface="Helvetica Neue Light"/>
            </a:endParaRPr>
          </a:p>
          <a:p>
            <a:pPr indent="-336550" lvl="0" marL="457200" rtl="0" algn="l">
              <a:lnSpc>
                <a:spcPct val="115000"/>
              </a:lnSpc>
              <a:spcBef>
                <a:spcPts val="0"/>
              </a:spcBef>
              <a:spcAft>
                <a:spcPts val="0"/>
              </a:spcAft>
              <a:buClr>
                <a:schemeClr val="dk1"/>
              </a:buClr>
              <a:buSzPts val="1700"/>
              <a:buFont typeface="Helvetica Neue Light"/>
              <a:buAutoNum type="arabicPeriod"/>
            </a:pPr>
            <a:r>
              <a:rPr lang="en" sz="1700">
                <a:solidFill>
                  <a:schemeClr val="dk1"/>
                </a:solidFill>
                <a:latin typeface="Helvetica Neue Light"/>
                <a:ea typeface="Helvetica Neue Light"/>
                <a:cs typeface="Helvetica Neue Light"/>
                <a:sym typeface="Helvetica Neue Light"/>
              </a:rPr>
              <a:t>The grandeur of Manderley emphasizes the narrator’s feelings of unworthiness and exclusion.</a:t>
            </a:r>
            <a:br>
              <a:rPr lang="en" sz="1700">
                <a:solidFill>
                  <a:schemeClr val="dk1"/>
                </a:solidFill>
                <a:latin typeface="Helvetica Neue Light"/>
                <a:ea typeface="Helvetica Neue Light"/>
                <a:cs typeface="Helvetica Neue Light"/>
                <a:sym typeface="Helvetica Neue Light"/>
              </a:rPr>
            </a:br>
            <a:endParaRPr sz="1700">
              <a:solidFill>
                <a:schemeClr val="dk1"/>
              </a:solidFill>
              <a:latin typeface="Helvetica Neue Light"/>
              <a:ea typeface="Helvetica Neue Light"/>
              <a:cs typeface="Helvetica Neue Light"/>
              <a:sym typeface="Helvetica Neue Light"/>
            </a:endParaRPr>
          </a:p>
          <a:p>
            <a:pPr indent="-336550" lvl="0" marL="457200" rtl="0" algn="l">
              <a:lnSpc>
                <a:spcPct val="115000"/>
              </a:lnSpc>
              <a:spcBef>
                <a:spcPts val="0"/>
              </a:spcBef>
              <a:spcAft>
                <a:spcPts val="0"/>
              </a:spcAft>
              <a:buClr>
                <a:schemeClr val="dk1"/>
              </a:buClr>
              <a:buSzPts val="1700"/>
              <a:buFont typeface="Helvetica Neue Light"/>
              <a:buAutoNum type="arabicPeriod"/>
            </a:pPr>
            <a:r>
              <a:rPr lang="en" sz="1700">
                <a:solidFill>
                  <a:schemeClr val="dk1"/>
                </a:solidFill>
                <a:latin typeface="Helvetica Neue Light"/>
                <a:ea typeface="Helvetica Neue Light"/>
                <a:cs typeface="Helvetica Neue Light"/>
                <a:sym typeface="Helvetica Neue Light"/>
              </a:rPr>
              <a:t>The house as a “desolate shell” reflects the narrator’s regret and the emptiness of her past choices.</a:t>
            </a:r>
            <a:br>
              <a:rPr lang="en" sz="1700">
                <a:solidFill>
                  <a:schemeClr val="dk1"/>
                </a:solidFill>
                <a:latin typeface="Helvetica Neue Light"/>
                <a:ea typeface="Helvetica Neue Light"/>
                <a:cs typeface="Helvetica Neue Light"/>
                <a:sym typeface="Helvetica Neue Light"/>
              </a:rPr>
            </a:br>
            <a:endParaRPr sz="1700">
              <a:solidFill>
                <a:schemeClr val="dk1"/>
              </a:solidFill>
              <a:latin typeface="Helvetica Neue Light"/>
              <a:ea typeface="Helvetica Neue Light"/>
              <a:cs typeface="Helvetica Neue Light"/>
              <a:sym typeface="Helvetica Neue Light"/>
            </a:endParaRPr>
          </a:p>
          <a:p>
            <a:pPr indent="-336550" lvl="0" marL="457200" rtl="0" algn="l">
              <a:lnSpc>
                <a:spcPct val="115000"/>
              </a:lnSpc>
              <a:spcBef>
                <a:spcPts val="0"/>
              </a:spcBef>
              <a:spcAft>
                <a:spcPts val="0"/>
              </a:spcAft>
              <a:buClr>
                <a:schemeClr val="dk1"/>
              </a:buClr>
              <a:buSzPts val="1700"/>
              <a:buFont typeface="Helvetica Neue Light"/>
              <a:buAutoNum type="arabicPeriod"/>
            </a:pPr>
            <a:r>
              <a:rPr lang="en" sz="1700">
                <a:solidFill>
                  <a:schemeClr val="dk1"/>
                </a:solidFill>
                <a:latin typeface="Helvetica Neue Light"/>
                <a:ea typeface="Helvetica Neue Light"/>
                <a:cs typeface="Helvetica Neue Light"/>
                <a:sym typeface="Helvetica Neue Light"/>
              </a:rPr>
              <a:t>The setting blurs memory and reality, revealing her uncertainty about what is real and what is imagined.</a:t>
            </a:r>
            <a:br>
              <a:rPr lang="en" sz="1700">
                <a:solidFill>
                  <a:schemeClr val="dk1"/>
                </a:solidFill>
                <a:latin typeface="Helvetica Neue Light"/>
                <a:ea typeface="Helvetica Neue Light"/>
                <a:cs typeface="Helvetica Neue Light"/>
                <a:sym typeface="Helvetica Neue Light"/>
              </a:rPr>
            </a:br>
            <a:endParaRPr sz="1700">
              <a:solidFill>
                <a:schemeClr val="dk1"/>
              </a:solidFill>
              <a:latin typeface="Helvetica Neue Light"/>
              <a:ea typeface="Helvetica Neue Light"/>
              <a:cs typeface="Helvetica Neue Light"/>
              <a:sym typeface="Helvetica Neue Light"/>
            </a:endParaRPr>
          </a:p>
          <a:p>
            <a:pPr indent="-336550" lvl="0" marL="457200" rtl="0" algn="l">
              <a:lnSpc>
                <a:spcPct val="115000"/>
              </a:lnSpc>
              <a:spcBef>
                <a:spcPts val="0"/>
              </a:spcBef>
              <a:spcAft>
                <a:spcPts val="0"/>
              </a:spcAft>
              <a:buClr>
                <a:schemeClr val="dk1"/>
              </a:buClr>
              <a:buSzPts val="1700"/>
              <a:buFont typeface="Helvetica Neue Light"/>
              <a:buAutoNum type="arabicPeriod"/>
            </a:pPr>
            <a:r>
              <a:rPr lang="en" sz="1700">
                <a:solidFill>
                  <a:schemeClr val="dk1"/>
                </a:solidFill>
                <a:latin typeface="Helvetica Neue Light"/>
                <a:ea typeface="Helvetica Neue Light"/>
                <a:cs typeface="Helvetica Neue Light"/>
                <a:sym typeface="Helvetica Neue Light"/>
              </a:rPr>
              <a:t>Nature reclaiming Manderley (nettles, woods, overgrowth) symbolizes the narrator’s lack of control over her own life.</a:t>
            </a:r>
            <a:br>
              <a:rPr lang="en" sz="1700">
                <a:solidFill>
                  <a:schemeClr val="dk1"/>
                </a:solidFill>
                <a:latin typeface="Helvetica Neue Light"/>
                <a:ea typeface="Helvetica Neue Light"/>
                <a:cs typeface="Helvetica Neue Light"/>
                <a:sym typeface="Helvetica Neue Light"/>
              </a:rPr>
            </a:br>
            <a:endParaRPr sz="1700">
              <a:solidFill>
                <a:schemeClr val="dk1"/>
              </a:solidFill>
              <a:latin typeface="Helvetica Neue Light"/>
              <a:ea typeface="Helvetica Neue Light"/>
              <a:cs typeface="Helvetica Neue Light"/>
              <a:sym typeface="Helvetica Neue Light"/>
            </a:endParaRPr>
          </a:p>
          <a:p>
            <a:pPr indent="-336550" lvl="0" marL="457200" rtl="0" algn="l">
              <a:lnSpc>
                <a:spcPct val="115000"/>
              </a:lnSpc>
              <a:spcBef>
                <a:spcPts val="0"/>
              </a:spcBef>
              <a:spcAft>
                <a:spcPts val="0"/>
              </a:spcAft>
              <a:buClr>
                <a:schemeClr val="dk1"/>
              </a:buClr>
              <a:buSzPts val="1700"/>
              <a:buFont typeface="Helvetica Neue Light"/>
              <a:buAutoNum type="arabicPeriod"/>
            </a:pPr>
            <a:r>
              <a:rPr lang="en" sz="1700">
                <a:solidFill>
                  <a:schemeClr val="dk1"/>
                </a:solidFill>
                <a:latin typeface="Helvetica Neue Light"/>
                <a:ea typeface="Helvetica Neue Light"/>
                <a:cs typeface="Helvetica Neue Light"/>
                <a:sym typeface="Helvetica Neue Light"/>
              </a:rPr>
              <a:t>The dreamlike tone shows that Manderley exists less as a real place than as a haunting symbol of the narrator’s inner conflict.</a:t>
            </a:r>
            <a:endParaRPr sz="1700">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200"/>
              </a:spcBef>
              <a:spcAft>
                <a:spcPts val="0"/>
              </a:spcAft>
              <a:buNone/>
            </a:pPr>
            <a:br>
              <a:rPr lang="en">
                <a:solidFill>
                  <a:schemeClr val="dk1"/>
                </a:solidFill>
              </a:rPr>
            </a:b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7dbba00a2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7dbba00a2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6550" lvl="0" marL="457200" rtl="0" algn="l">
              <a:lnSpc>
                <a:spcPct val="115000"/>
              </a:lnSpc>
              <a:spcBef>
                <a:spcPts val="1200"/>
              </a:spcBef>
              <a:spcAft>
                <a:spcPts val="0"/>
              </a:spcAft>
              <a:buClr>
                <a:schemeClr val="dk1"/>
              </a:buClr>
              <a:buSzPts val="1700"/>
              <a:buAutoNum type="arabicPeriod"/>
            </a:pPr>
            <a:r>
              <a:rPr lang="en" sz="1700">
                <a:solidFill>
                  <a:schemeClr val="dk1"/>
                </a:solidFill>
                <a:latin typeface="Helvetica Neue Light"/>
                <a:ea typeface="Helvetica Neue Light"/>
                <a:cs typeface="Helvetica Neue Light"/>
                <a:sym typeface="Helvetica Neue Light"/>
              </a:rPr>
              <a:t>A claim (your argument about the text).</a:t>
            </a:r>
            <a:endParaRPr sz="1700">
              <a:solidFill>
                <a:schemeClr val="dk1"/>
              </a:solidFill>
              <a:latin typeface="Helvetica Neue Light"/>
              <a:ea typeface="Helvetica Neue Light"/>
              <a:cs typeface="Helvetica Neue Light"/>
              <a:sym typeface="Helvetica Neue Light"/>
            </a:endParaRPr>
          </a:p>
          <a:p>
            <a:pPr indent="-336550" lvl="0" marL="457200" rtl="0" algn="l">
              <a:lnSpc>
                <a:spcPct val="115000"/>
              </a:lnSpc>
              <a:spcBef>
                <a:spcPts val="0"/>
              </a:spcBef>
              <a:spcAft>
                <a:spcPts val="0"/>
              </a:spcAft>
              <a:buClr>
                <a:schemeClr val="dk1"/>
              </a:buClr>
              <a:buSzPts val="1700"/>
              <a:buAutoNum type="arabicPeriod"/>
            </a:pPr>
            <a:r>
              <a:rPr lang="en" sz="1700">
                <a:solidFill>
                  <a:schemeClr val="dk1"/>
                </a:solidFill>
                <a:latin typeface="Helvetica Neue Light"/>
                <a:ea typeface="Helvetica Neue Light"/>
                <a:cs typeface="Helvetica Neue Light"/>
                <a:sym typeface="Helvetica Neue Light"/>
              </a:rPr>
              <a:t>Evidence (a quotation or specific detail from the text that supports your claim).</a:t>
            </a:r>
            <a:endParaRPr sz="1700">
              <a:solidFill>
                <a:schemeClr val="dk1"/>
              </a:solidFill>
              <a:latin typeface="Helvetica Neue Light"/>
              <a:ea typeface="Helvetica Neue Light"/>
              <a:cs typeface="Helvetica Neue Light"/>
              <a:sym typeface="Helvetica Neue Light"/>
            </a:endParaRPr>
          </a:p>
          <a:p>
            <a:pPr indent="-336550" lvl="0" marL="457200" rtl="0" algn="l">
              <a:lnSpc>
                <a:spcPct val="115000"/>
              </a:lnSpc>
              <a:spcBef>
                <a:spcPts val="0"/>
              </a:spcBef>
              <a:spcAft>
                <a:spcPts val="0"/>
              </a:spcAft>
              <a:buClr>
                <a:schemeClr val="dk1"/>
              </a:buClr>
              <a:buSzPts val="1700"/>
              <a:buFont typeface="Helvetica Neue Light"/>
              <a:buAutoNum type="arabicPeriod"/>
            </a:pPr>
            <a:r>
              <a:rPr lang="en" sz="1700">
                <a:solidFill>
                  <a:schemeClr val="dk1"/>
                </a:solidFill>
                <a:latin typeface="Helvetica Neue Light"/>
                <a:ea typeface="Helvetica Neue Light"/>
                <a:cs typeface="Helvetica Neue Light"/>
                <a:sym typeface="Helvetica Neue Light"/>
              </a:rPr>
              <a:t>How and Why the evidence supports your claim and how it ties into the larger ideas/themes of the work. </a:t>
            </a:r>
            <a:endParaRPr sz="17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7dbba00a2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7dbba00a2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Helvetica Neue Light"/>
                <a:ea typeface="Helvetica Neue Light"/>
                <a:cs typeface="Helvetica Neue Light"/>
                <a:sym typeface="Helvetica Neue Light"/>
              </a:rPr>
              <a:t>If your class is really good</a:t>
            </a:r>
            <a:endParaRPr sz="1700">
              <a:latin typeface="Helvetica Neue Light"/>
              <a:ea typeface="Helvetica Neue Light"/>
              <a:cs typeface="Helvetica Neue Light"/>
              <a:sym typeface="Helvetica Neue Light"/>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www.youtube.com/watch?v=h23zAV2Wnps" TargetMode="External"/><Relationship Id="rId4"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02"/>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48667" y="1672825"/>
            <a:ext cx="8520600" cy="2052600"/>
          </a:xfrm>
          <a:prstGeom prst="rect">
            <a:avLst/>
          </a:prstGeom>
        </p:spPr>
        <p:txBody>
          <a:bodyPr anchorCtr="0" anchor="b" bIns="91425" lIns="91425" spcFirstLastPara="1" rIns="91425" wrap="square" tIns="91425">
            <a:noAutofit/>
          </a:bodyPr>
          <a:lstStyle/>
          <a:p>
            <a:pPr indent="0" lvl="0" marL="0" rtl="0" algn="ctr">
              <a:lnSpc>
                <a:spcPct val="70000"/>
              </a:lnSpc>
              <a:spcBef>
                <a:spcPts val="0"/>
              </a:spcBef>
              <a:spcAft>
                <a:spcPts val="0"/>
              </a:spcAft>
              <a:buSzPts val="990"/>
              <a:buNone/>
            </a:pPr>
            <a:r>
              <a:rPr b="1" lang="en" sz="9540">
                <a:solidFill>
                  <a:srgbClr val="0000FF"/>
                </a:solidFill>
                <a:latin typeface="Helvetica Neue"/>
                <a:ea typeface="Helvetica Neue"/>
                <a:cs typeface="Helvetica Neue"/>
                <a:sym typeface="Helvetica Neue"/>
              </a:rPr>
              <a:t>Elements </a:t>
            </a:r>
            <a:endParaRPr b="1" sz="9540">
              <a:solidFill>
                <a:srgbClr val="0000FF"/>
              </a:solidFill>
              <a:latin typeface="Helvetica Neue"/>
              <a:ea typeface="Helvetica Neue"/>
              <a:cs typeface="Helvetica Neue"/>
              <a:sym typeface="Helvetica Neue"/>
            </a:endParaRPr>
          </a:p>
          <a:p>
            <a:pPr indent="457200" lvl="0" marL="1828800" rtl="0" algn="l">
              <a:lnSpc>
                <a:spcPct val="70000"/>
              </a:lnSpc>
              <a:spcBef>
                <a:spcPts val="0"/>
              </a:spcBef>
              <a:spcAft>
                <a:spcPts val="0"/>
              </a:spcAft>
              <a:buSzPts val="990"/>
              <a:buNone/>
            </a:pPr>
            <a:r>
              <a:rPr b="1" lang="en" sz="9540">
                <a:solidFill>
                  <a:srgbClr val="0000FF"/>
                </a:solidFill>
                <a:latin typeface="Helvetica Neue"/>
                <a:ea typeface="Helvetica Neue"/>
                <a:cs typeface="Helvetica Neue"/>
                <a:sym typeface="Helvetica Neue"/>
              </a:rPr>
              <a:t>of </a:t>
            </a:r>
            <a:endParaRPr b="1" sz="9540">
              <a:solidFill>
                <a:srgbClr val="0000FF"/>
              </a:solidFill>
              <a:latin typeface="Helvetica Neue"/>
              <a:ea typeface="Helvetica Neue"/>
              <a:cs typeface="Helvetica Neue"/>
              <a:sym typeface="Helvetica Neue"/>
            </a:endParaRPr>
          </a:p>
          <a:p>
            <a:pPr indent="457200" lvl="0" marL="1828800" rtl="0" algn="l">
              <a:lnSpc>
                <a:spcPct val="70000"/>
              </a:lnSpc>
              <a:spcBef>
                <a:spcPts val="0"/>
              </a:spcBef>
              <a:spcAft>
                <a:spcPts val="0"/>
              </a:spcAft>
              <a:buSzPts val="990"/>
              <a:buNone/>
            </a:pPr>
            <a:r>
              <a:rPr b="1" lang="en" sz="9540">
                <a:solidFill>
                  <a:srgbClr val="0000FF"/>
                </a:solidFill>
                <a:latin typeface="Helvetica Neue"/>
                <a:ea typeface="Helvetica Neue"/>
                <a:cs typeface="Helvetica Neue"/>
                <a:sym typeface="Helvetica Neue"/>
              </a:rPr>
              <a:t>     Fiction</a:t>
            </a:r>
            <a:endParaRPr b="1" sz="9540">
              <a:solidFill>
                <a:srgbClr val="0000FF"/>
              </a:solidFill>
              <a:latin typeface="Helvetica Neue"/>
              <a:ea typeface="Helvetica Neue"/>
              <a:cs typeface="Helvetica Neue"/>
              <a:sym typeface="Helvetica Neue"/>
            </a:endParaRPr>
          </a:p>
        </p:txBody>
      </p:sp>
      <p:sp>
        <p:nvSpPr>
          <p:cNvPr id="55" name="Google Shape;55;p13"/>
          <p:cNvSpPr txBox="1"/>
          <p:nvPr>
            <p:ph idx="1" type="subTitle"/>
          </p:nvPr>
        </p:nvSpPr>
        <p:spPr>
          <a:xfrm>
            <a:off x="311700" y="42101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400">
                <a:solidFill>
                  <a:srgbClr val="7F6000"/>
                </a:solidFill>
                <a:latin typeface="Helvetica Neue Light"/>
                <a:ea typeface="Helvetica Neue Light"/>
                <a:cs typeface="Helvetica Neue Light"/>
                <a:sym typeface="Helvetica Neue Light"/>
              </a:rPr>
              <a:t>Setting</a:t>
            </a:r>
            <a:endParaRPr sz="2400">
              <a:solidFill>
                <a:srgbClr val="7F6000"/>
              </a:solidFill>
              <a:latin typeface="Helvetica Neue Light"/>
              <a:ea typeface="Helvetica Neue Light"/>
              <a:cs typeface="Helvetica Neue Light"/>
              <a:sym typeface="Helvetica Neue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59" name="Shape 59"/>
        <p:cNvGrpSpPr/>
        <p:nvPr/>
      </p:nvGrpSpPr>
      <p:grpSpPr>
        <a:xfrm>
          <a:off x="0" y="0"/>
          <a:ext cx="0" cy="0"/>
          <a:chOff x="0" y="0"/>
          <a:chExt cx="0" cy="0"/>
        </a:xfrm>
      </p:grpSpPr>
      <p:pic>
        <p:nvPicPr>
          <p:cNvPr descr="Generated image" id="60" name="Google Shape;60;p14"/>
          <p:cNvPicPr preferRelativeResize="0"/>
          <p:nvPr/>
        </p:nvPicPr>
        <p:blipFill rotWithShape="1">
          <a:blip r:embed="rId3">
            <a:alphaModFix/>
          </a:blip>
          <a:srcRect b="14807" l="0" r="45394" t="0"/>
          <a:stretch/>
        </p:blipFill>
        <p:spPr>
          <a:xfrm>
            <a:off x="6202275" y="553775"/>
            <a:ext cx="2941726" cy="4589725"/>
          </a:xfrm>
          <a:prstGeom prst="rect">
            <a:avLst/>
          </a:prstGeom>
          <a:noFill/>
          <a:ln>
            <a:noFill/>
          </a:ln>
        </p:spPr>
      </p:pic>
      <p:pic>
        <p:nvPicPr>
          <p:cNvPr descr="Generated image" id="61" name="Google Shape;61;p14"/>
          <p:cNvPicPr preferRelativeResize="0"/>
          <p:nvPr/>
        </p:nvPicPr>
        <p:blipFill rotWithShape="1">
          <a:blip r:embed="rId4">
            <a:alphaModFix/>
          </a:blip>
          <a:srcRect b="10770" l="34917" r="0" t="0"/>
          <a:stretch/>
        </p:blipFill>
        <p:spPr>
          <a:xfrm>
            <a:off x="0" y="553775"/>
            <a:ext cx="3347625" cy="4589725"/>
          </a:xfrm>
          <a:prstGeom prst="rect">
            <a:avLst/>
          </a:prstGeom>
          <a:noFill/>
          <a:ln>
            <a:noFill/>
          </a:ln>
        </p:spPr>
      </p:pic>
      <p:sp>
        <p:nvSpPr>
          <p:cNvPr id="62" name="Google Shape;62;p14"/>
          <p:cNvSpPr txBox="1"/>
          <p:nvPr>
            <p:ph type="title"/>
          </p:nvPr>
        </p:nvSpPr>
        <p:spPr>
          <a:xfrm>
            <a:off x="311700" y="306982"/>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920">
                <a:solidFill>
                  <a:srgbClr val="45818E"/>
                </a:solidFill>
                <a:latin typeface="Helvetica Neue"/>
                <a:ea typeface="Helvetica Neue"/>
                <a:cs typeface="Helvetica Neue"/>
                <a:sym typeface="Helvetica Neue"/>
              </a:rPr>
              <a:t>Two Moods, One Setting</a:t>
            </a:r>
            <a:endParaRPr b="1" sz="3920">
              <a:solidFill>
                <a:srgbClr val="45818E"/>
              </a:solidFill>
              <a:latin typeface="Helvetica Neue"/>
              <a:ea typeface="Helvetica Neue"/>
              <a:cs typeface="Helvetica Neue"/>
              <a:sym typeface="Helvetica Neue"/>
            </a:endParaRPr>
          </a:p>
        </p:txBody>
      </p:sp>
      <p:sp>
        <p:nvSpPr>
          <p:cNvPr id="63" name="Google Shape;63;p14"/>
          <p:cNvSpPr txBox="1"/>
          <p:nvPr>
            <p:ph idx="1" type="body"/>
          </p:nvPr>
        </p:nvSpPr>
        <p:spPr>
          <a:xfrm>
            <a:off x="2114875" y="1228575"/>
            <a:ext cx="5052300" cy="3328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800">
                <a:solidFill>
                  <a:schemeClr val="dk1"/>
                </a:solidFill>
                <a:latin typeface="Helvetica Neue Light"/>
                <a:ea typeface="Helvetica Neue Light"/>
                <a:cs typeface="Helvetica Neue Light"/>
                <a:sym typeface="Helvetica Neue Light"/>
              </a:rPr>
              <a:t>Describe a house as if it is welcoming, beautiful, and idyllic on a bright sunny day.</a:t>
            </a:r>
            <a:endParaRPr sz="2800">
              <a:solidFill>
                <a:schemeClr val="dk1"/>
              </a:solidFill>
              <a:latin typeface="Helvetica Neue Light"/>
              <a:ea typeface="Helvetica Neue Light"/>
              <a:cs typeface="Helvetica Neue Light"/>
              <a:sym typeface="Helvetica Neue Light"/>
            </a:endParaRPr>
          </a:p>
          <a:p>
            <a:pPr indent="0" lvl="0" marL="0" rtl="0" algn="ctr">
              <a:spcBef>
                <a:spcPts val="1200"/>
              </a:spcBef>
              <a:spcAft>
                <a:spcPts val="1200"/>
              </a:spcAft>
              <a:buNone/>
            </a:pPr>
            <a:r>
              <a:rPr lang="en" sz="2800">
                <a:solidFill>
                  <a:schemeClr val="dk1"/>
                </a:solidFill>
                <a:latin typeface="Helvetica Neue Light"/>
                <a:ea typeface="Helvetica Neue Light"/>
                <a:cs typeface="Helvetica Neue Light"/>
                <a:sym typeface="Helvetica Neue Light"/>
              </a:rPr>
              <a:t>Same house, but now: </a:t>
            </a:r>
            <a:r>
              <a:rPr i="1" lang="en" sz="2800">
                <a:solidFill>
                  <a:schemeClr val="dk1"/>
                </a:solidFill>
                <a:latin typeface="Helvetica Neue Light"/>
                <a:ea typeface="Helvetica Neue Light"/>
                <a:cs typeface="Helvetica Neue Light"/>
                <a:sym typeface="Helvetica Neue Light"/>
              </a:rPr>
              <a:t>Describe it in a creepy, ominous, or horror tone.</a:t>
            </a:r>
            <a:endParaRPr sz="280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descr="macbeth_witchescastle" id="68" name="Google Shape;68;p15"/>
          <p:cNvPicPr preferRelativeResize="0"/>
          <p:nvPr/>
        </p:nvPicPr>
        <p:blipFill>
          <a:blip r:embed="rId3">
            <a:alphaModFix/>
          </a:blip>
          <a:stretch>
            <a:fillRect/>
          </a:stretch>
        </p:blipFill>
        <p:spPr>
          <a:xfrm>
            <a:off x="0" y="0"/>
            <a:ext cx="9144000" cy="5143500"/>
          </a:xfrm>
          <a:prstGeom prst="rect">
            <a:avLst/>
          </a:prstGeom>
          <a:noFill/>
          <a:ln>
            <a:noFill/>
          </a:ln>
        </p:spPr>
      </p:pic>
      <p:sp>
        <p:nvSpPr>
          <p:cNvPr id="69" name="Google Shape;69;p15"/>
          <p:cNvSpPr txBox="1"/>
          <p:nvPr>
            <p:ph type="title"/>
          </p:nvPr>
        </p:nvSpPr>
        <p:spPr>
          <a:xfrm>
            <a:off x="311700" y="279375"/>
            <a:ext cx="85206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b="1" lang="en" sz="5820">
                <a:solidFill>
                  <a:schemeClr val="lt1"/>
                </a:solidFill>
                <a:latin typeface="Helvetica Neue"/>
                <a:ea typeface="Helvetica Neue"/>
                <a:cs typeface="Helvetica Neue"/>
                <a:sym typeface="Helvetica Neue"/>
              </a:rPr>
              <a:t>Setting</a:t>
            </a:r>
            <a:endParaRPr b="1" sz="5820">
              <a:solidFill>
                <a:schemeClr val="lt1"/>
              </a:solidFill>
              <a:latin typeface="Helvetica Neue"/>
              <a:ea typeface="Helvetica Neue"/>
              <a:cs typeface="Helvetica Neue"/>
              <a:sym typeface="Helvetica Neue"/>
            </a:endParaRPr>
          </a:p>
        </p:txBody>
      </p:sp>
      <p:sp>
        <p:nvSpPr>
          <p:cNvPr id="70" name="Google Shape;70;p15"/>
          <p:cNvSpPr txBox="1"/>
          <p:nvPr>
            <p:ph idx="1" type="body"/>
          </p:nvPr>
        </p:nvSpPr>
        <p:spPr>
          <a:xfrm>
            <a:off x="187475" y="1408025"/>
            <a:ext cx="8520600" cy="2684700"/>
          </a:xfrm>
          <a:prstGeom prst="rect">
            <a:avLst/>
          </a:prstGeom>
        </p:spPr>
        <p:txBody>
          <a:bodyPr anchorCtr="0" anchor="t" bIns="91425" lIns="91425" spcFirstLastPara="1" rIns="91425" wrap="square" tIns="91425">
            <a:normAutofit/>
          </a:bodyPr>
          <a:lstStyle/>
          <a:p>
            <a:pPr indent="-412750" lvl="0" marL="457200" rtl="0" algn="l">
              <a:spcBef>
                <a:spcPts val="0"/>
              </a:spcBef>
              <a:spcAft>
                <a:spcPts val="0"/>
              </a:spcAft>
              <a:buClr>
                <a:schemeClr val="lt1"/>
              </a:buClr>
              <a:buSzPts val="2900"/>
              <a:buChar char="●"/>
            </a:pPr>
            <a:r>
              <a:rPr lang="en" sz="2900">
                <a:solidFill>
                  <a:schemeClr val="lt1"/>
                </a:solidFill>
              </a:rPr>
              <a:t>The time and place, or when and where, of a literary text that also contributes to the tone, mood, and meaning of the work. </a:t>
            </a:r>
            <a:endParaRPr sz="2900">
              <a:solidFill>
                <a:schemeClr val="lt1"/>
              </a:solidFill>
            </a:endParaRPr>
          </a:p>
          <a:p>
            <a:pPr indent="-412750" lvl="0" marL="457200" rtl="0" algn="l">
              <a:spcBef>
                <a:spcPts val="0"/>
              </a:spcBef>
              <a:spcAft>
                <a:spcPts val="0"/>
              </a:spcAft>
              <a:buClr>
                <a:schemeClr val="lt1"/>
              </a:buClr>
              <a:buSzPts val="2900"/>
              <a:buChar char="●"/>
            </a:pPr>
            <a:r>
              <a:rPr lang="en" sz="2900">
                <a:solidFill>
                  <a:schemeClr val="lt1"/>
                </a:solidFill>
              </a:rPr>
              <a:t>“</a:t>
            </a:r>
            <a:r>
              <a:rPr i="1" lang="en" sz="2900">
                <a:solidFill>
                  <a:schemeClr val="lt1"/>
                </a:solidFill>
              </a:rPr>
              <a:t>Setting illuminates character, not the other way around.</a:t>
            </a:r>
            <a:r>
              <a:rPr lang="en" sz="2900">
                <a:solidFill>
                  <a:schemeClr val="lt1"/>
                </a:solidFill>
              </a:rPr>
              <a:t>” -Alice Dermont</a:t>
            </a:r>
            <a:endParaRPr sz="29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i="1" lang="en" sz="3620"/>
              <a:t>Story of an Hour</a:t>
            </a:r>
            <a:r>
              <a:rPr b="1" lang="en" sz="3620"/>
              <a:t>: Historical Context</a:t>
            </a:r>
            <a:endParaRPr b="1" sz="3620"/>
          </a:p>
        </p:txBody>
      </p:sp>
      <p:sp>
        <p:nvSpPr>
          <p:cNvPr id="76" name="Google Shape;76;p16"/>
          <p:cNvSpPr txBox="1"/>
          <p:nvPr>
            <p:ph idx="1" type="body"/>
          </p:nvPr>
        </p:nvSpPr>
        <p:spPr>
          <a:xfrm>
            <a:off x="311700" y="1697175"/>
            <a:ext cx="8520600" cy="28716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Clr>
                <a:schemeClr val="dk1"/>
              </a:buClr>
              <a:buSzPts val="2200"/>
              <a:buFont typeface="Helvetica Neue Light"/>
              <a:buChar char="●"/>
            </a:pPr>
            <a:r>
              <a:rPr lang="en" sz="2200">
                <a:solidFill>
                  <a:schemeClr val="dk1"/>
                </a:solidFill>
                <a:latin typeface="Helvetica Neue Light"/>
                <a:ea typeface="Helvetica Neue Light"/>
                <a:cs typeface="Helvetica Neue Light"/>
                <a:sym typeface="Helvetica Neue Light"/>
              </a:rPr>
              <a:t>In the Victorian Era, men and women existed in ‘separate spheres’. </a:t>
            </a:r>
            <a:endParaRPr sz="2200">
              <a:solidFill>
                <a:schemeClr val="dk1"/>
              </a:solidFill>
              <a:latin typeface="Helvetica Neue Light"/>
              <a:ea typeface="Helvetica Neue Light"/>
              <a:cs typeface="Helvetica Neue Light"/>
              <a:sym typeface="Helvetica Neue Light"/>
            </a:endParaRPr>
          </a:p>
          <a:p>
            <a:pPr indent="-368300" lvl="0" marL="457200" rtl="0" algn="l">
              <a:spcBef>
                <a:spcPts val="0"/>
              </a:spcBef>
              <a:spcAft>
                <a:spcPts val="0"/>
              </a:spcAft>
              <a:buClr>
                <a:schemeClr val="dk1"/>
              </a:buClr>
              <a:buSzPts val="2200"/>
              <a:buFont typeface="Helvetica Neue Light"/>
              <a:buChar char="●"/>
            </a:pPr>
            <a:r>
              <a:rPr lang="en" sz="2200">
                <a:solidFill>
                  <a:schemeClr val="dk1"/>
                </a:solidFill>
                <a:latin typeface="Helvetica Neue Light"/>
                <a:ea typeface="Helvetica Neue Light"/>
                <a:cs typeface="Helvetica Neue Light"/>
                <a:sym typeface="Helvetica Neue Light"/>
              </a:rPr>
              <a:t>Middle-class girls were educated not for careers, but to become the ideal wife—an </a:t>
            </a:r>
            <a:r>
              <a:rPr i="1" lang="en" sz="2200">
                <a:solidFill>
                  <a:schemeClr val="dk1"/>
                </a:solidFill>
                <a:latin typeface="Helvetica Neue Light"/>
                <a:ea typeface="Helvetica Neue Light"/>
                <a:cs typeface="Helvetica Neue Light"/>
                <a:sym typeface="Helvetica Neue Light"/>
              </a:rPr>
              <a:t>“Angel in the House.”</a:t>
            </a:r>
            <a:endParaRPr i="1" sz="2200">
              <a:solidFill>
                <a:schemeClr val="dk1"/>
              </a:solidFill>
              <a:latin typeface="Helvetica Neue Light"/>
              <a:ea typeface="Helvetica Neue Light"/>
              <a:cs typeface="Helvetica Neue Light"/>
              <a:sym typeface="Helvetica Neue Light"/>
            </a:endParaRPr>
          </a:p>
          <a:p>
            <a:pPr indent="-368300" lvl="0" marL="457200" rtl="0" algn="l">
              <a:spcBef>
                <a:spcPts val="0"/>
              </a:spcBef>
              <a:spcAft>
                <a:spcPts val="0"/>
              </a:spcAft>
              <a:buClr>
                <a:schemeClr val="dk1"/>
              </a:buClr>
              <a:buSzPts val="2200"/>
              <a:buFont typeface="Helvetica Neue Light"/>
              <a:buChar char="●"/>
            </a:pPr>
            <a:r>
              <a:rPr lang="en" sz="2200">
                <a:solidFill>
                  <a:schemeClr val="dk1"/>
                </a:solidFill>
                <a:latin typeface="Helvetica Neue Light"/>
                <a:ea typeface="Helvetica Neue Light"/>
                <a:cs typeface="Helvetica Neue Light"/>
                <a:sym typeface="Helvetica Neue Light"/>
              </a:rPr>
              <a:t>Marriage, for many, was an avenue towards a semblance of freedom. </a:t>
            </a:r>
            <a:endParaRPr sz="2200">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80" name="Shape 80"/>
        <p:cNvGrpSpPr/>
        <p:nvPr/>
      </p:nvGrpSpPr>
      <p:grpSpPr>
        <a:xfrm>
          <a:off x="0" y="0"/>
          <a:ext cx="0" cy="0"/>
          <a:chOff x="0" y="0"/>
          <a:chExt cx="0" cy="0"/>
        </a:xfrm>
      </p:grpSpPr>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sz="2200">
                <a:solidFill>
                  <a:srgbClr val="111111"/>
                </a:solidFill>
                <a:latin typeface="Helvetica Neue Light"/>
                <a:ea typeface="Helvetica Neue Light"/>
                <a:cs typeface="Helvetica Neue Light"/>
                <a:sym typeface="Helvetica Neue Light"/>
              </a:rPr>
              <a:t>“A woman must have a thorough knowledge of music, singing, drawing, dancing , and the modern languages….; and besides all this, she must possess a certain something in her air and manner of walking, the tone of her voice, her address and expressions…”</a:t>
            </a:r>
            <a:r>
              <a:rPr lang="en" sz="2200">
                <a:solidFill>
                  <a:srgbClr val="111111"/>
                </a:solidFill>
                <a:latin typeface="Helvetica Neue Light"/>
                <a:ea typeface="Helvetica Neue Light"/>
                <a:cs typeface="Helvetica Neue Light"/>
                <a:sym typeface="Helvetica Neue Light"/>
              </a:rPr>
              <a:t>(ch. 8) </a:t>
            </a:r>
            <a:endParaRPr sz="2200">
              <a:solidFill>
                <a:srgbClr val="111111"/>
              </a:solidFill>
              <a:latin typeface="Helvetica Neue Light"/>
              <a:ea typeface="Helvetica Neue Light"/>
              <a:cs typeface="Helvetica Neue Light"/>
              <a:sym typeface="Helvetica Neue Light"/>
            </a:endParaRPr>
          </a:p>
          <a:p>
            <a:pPr indent="0" lvl="0" marL="0" rtl="0" algn="l">
              <a:spcBef>
                <a:spcPts val="1200"/>
              </a:spcBef>
              <a:spcAft>
                <a:spcPts val="1200"/>
              </a:spcAft>
              <a:buNone/>
            </a:pPr>
            <a:r>
              <a:rPr lang="en" sz="2200">
                <a:solidFill>
                  <a:srgbClr val="111111"/>
                </a:solidFill>
                <a:latin typeface="Helvetica Neue Light"/>
                <a:ea typeface="Helvetica Neue Light"/>
                <a:cs typeface="Helvetica Neue Light"/>
                <a:sym typeface="Helvetica Neue Light"/>
              </a:rPr>
              <a:t>- Pride and Prejudice</a:t>
            </a:r>
            <a:endParaRPr sz="2800">
              <a:latin typeface="Helvetica Neue Light"/>
              <a:ea typeface="Helvetica Neue Light"/>
              <a:cs typeface="Helvetica Neue Light"/>
              <a:sym typeface="Helvetica Neue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b="1" lang="en" sz="3820">
                <a:latin typeface="Helvetica Neue"/>
                <a:ea typeface="Helvetica Neue"/>
                <a:cs typeface="Helvetica Neue"/>
                <a:sym typeface="Helvetica Neue"/>
              </a:rPr>
              <a:t>Realist Movement</a:t>
            </a:r>
            <a:endParaRPr b="1" sz="3820">
              <a:latin typeface="Helvetica Neue"/>
              <a:ea typeface="Helvetica Neue"/>
              <a:cs typeface="Helvetica Neue"/>
              <a:sym typeface="Helvetica Neue"/>
            </a:endParaRPr>
          </a:p>
        </p:txBody>
      </p:sp>
      <p:sp>
        <p:nvSpPr>
          <p:cNvPr id="87" name="Google Shape;87;p18"/>
          <p:cNvSpPr txBox="1"/>
          <p:nvPr>
            <p:ph idx="1" type="body"/>
          </p:nvPr>
        </p:nvSpPr>
        <p:spPr>
          <a:xfrm>
            <a:off x="311700" y="1645225"/>
            <a:ext cx="8520600" cy="29238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Clr>
                <a:schemeClr val="dk1"/>
              </a:buClr>
              <a:buSzPts val="1100"/>
              <a:buFont typeface="Arial"/>
              <a:buNone/>
            </a:pPr>
            <a:r>
              <a:rPr lang="en" sz="2700">
                <a:latin typeface="Helvetica Neue"/>
                <a:ea typeface="Helvetica Neue"/>
                <a:cs typeface="Helvetica Neue"/>
                <a:sym typeface="Helvetica Neue"/>
              </a:rPr>
              <a:t>The Realist movement was a 19th-century literary and artistic shift that sought to depict everyday life and ordinary people with truthful detail, rejecting romantic idealization in favor of social, psychological, and moral realism.</a:t>
            </a:r>
            <a:endParaRPr sz="2700">
              <a:latin typeface="Helvetica Neue"/>
              <a:ea typeface="Helvetica Neue"/>
              <a:cs typeface="Helvetica Neue"/>
              <a:sym typeface="Helvetica Neue"/>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descr="Rebecca (1940) : r/cinematography" id="92" name="Google Shape;92;p19"/>
          <p:cNvPicPr preferRelativeResize="0"/>
          <p:nvPr/>
        </p:nvPicPr>
        <p:blipFill rotWithShape="1">
          <a:blip r:embed="rId3">
            <a:alphaModFix/>
          </a:blip>
          <a:srcRect b="26128" l="0" r="0" t="0"/>
          <a:stretch/>
        </p:blipFill>
        <p:spPr>
          <a:xfrm>
            <a:off x="0" y="0"/>
            <a:ext cx="9144000" cy="5082950"/>
          </a:xfrm>
          <a:prstGeom prst="rect">
            <a:avLst/>
          </a:prstGeom>
          <a:noFill/>
          <a:ln>
            <a:noFill/>
          </a:ln>
        </p:spPr>
      </p:pic>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020">
                <a:solidFill>
                  <a:schemeClr val="lt1"/>
                </a:solidFill>
                <a:latin typeface="Helvetica Neue"/>
                <a:ea typeface="Helvetica Neue"/>
                <a:cs typeface="Helvetica Neue"/>
                <a:sym typeface="Helvetica Neue"/>
              </a:rPr>
              <a:t>Rebecca (1938) </a:t>
            </a:r>
            <a:endParaRPr b="1" sz="3020">
              <a:solidFill>
                <a:schemeClr val="lt1"/>
              </a:solidFill>
              <a:latin typeface="Helvetica Neue"/>
              <a:ea typeface="Helvetica Neue"/>
              <a:cs typeface="Helvetica Neue"/>
              <a:sym typeface="Helvetica Neue"/>
            </a:endParaRPr>
          </a:p>
          <a:p>
            <a:pPr indent="457200" lvl="0" marL="457200" rtl="0" algn="l">
              <a:spcBef>
                <a:spcPts val="0"/>
              </a:spcBef>
              <a:spcAft>
                <a:spcPts val="0"/>
              </a:spcAft>
              <a:buSzPts val="990"/>
              <a:buNone/>
            </a:pPr>
            <a:r>
              <a:rPr b="1" lang="en" sz="3020">
                <a:solidFill>
                  <a:schemeClr val="lt1"/>
                </a:solidFill>
                <a:latin typeface="Helvetica Neue"/>
                <a:ea typeface="Helvetica Neue"/>
                <a:cs typeface="Helvetica Neue"/>
                <a:sym typeface="Helvetica Neue"/>
              </a:rPr>
              <a:t>by Daphne Du Maurier</a:t>
            </a:r>
            <a:endParaRPr b="1" sz="3020">
              <a:solidFill>
                <a:schemeClr val="lt1"/>
              </a:solidFill>
              <a:latin typeface="Helvetica Neue"/>
              <a:ea typeface="Helvetica Neue"/>
              <a:cs typeface="Helvetica Neue"/>
              <a:sym typeface="Helvetica Neue"/>
            </a:endParaRPr>
          </a:p>
        </p:txBody>
      </p:sp>
      <p:sp>
        <p:nvSpPr>
          <p:cNvPr id="94" name="Google Shape;94;p19"/>
          <p:cNvSpPr txBox="1"/>
          <p:nvPr>
            <p:ph idx="1" type="body"/>
          </p:nvPr>
        </p:nvSpPr>
        <p:spPr>
          <a:xfrm>
            <a:off x="180450" y="1666550"/>
            <a:ext cx="56850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Font typeface="Helvetica Neue Light"/>
              <a:buChar char="●"/>
            </a:pPr>
            <a:r>
              <a:rPr i="1" lang="en">
                <a:solidFill>
                  <a:schemeClr val="lt1"/>
                </a:solidFill>
                <a:latin typeface="Helvetica Neue Light"/>
                <a:ea typeface="Helvetica Neue Light"/>
                <a:cs typeface="Helvetica Neue Light"/>
                <a:sym typeface="Helvetica Neue Light"/>
              </a:rPr>
              <a:t>Rebecca</a:t>
            </a:r>
            <a:r>
              <a:rPr lang="en">
                <a:solidFill>
                  <a:schemeClr val="lt1"/>
                </a:solidFill>
                <a:latin typeface="Helvetica Neue Light"/>
                <a:ea typeface="Helvetica Neue Light"/>
                <a:cs typeface="Helvetica Neue Light"/>
                <a:sym typeface="Helvetica Neue Light"/>
              </a:rPr>
              <a:t> by Daphne du Maurier follows an unnamed young woman who marries the wealthy widower Maxim de Winter and moves to his grand estate, Manderley, where she becomes obsessed with the lingering presence of his first wife, </a:t>
            </a:r>
            <a:r>
              <a:rPr i="1" lang="en">
                <a:solidFill>
                  <a:schemeClr val="lt1"/>
                </a:solidFill>
                <a:latin typeface="Helvetica Neue Light"/>
                <a:ea typeface="Helvetica Neue Light"/>
                <a:cs typeface="Helvetica Neue Light"/>
                <a:sym typeface="Helvetica Neue Light"/>
              </a:rPr>
              <a:t>Rebecca</a:t>
            </a:r>
            <a:r>
              <a:rPr lang="en">
                <a:solidFill>
                  <a:schemeClr val="lt1"/>
                </a:solidFill>
                <a:latin typeface="Helvetica Neue Light"/>
                <a:ea typeface="Helvetica Neue Light"/>
                <a:cs typeface="Helvetica Neue Light"/>
                <a:sym typeface="Helvetica Neue Light"/>
              </a:rPr>
              <a:t>. </a:t>
            </a:r>
            <a:endParaRPr>
              <a:solidFill>
                <a:schemeClr val="lt1"/>
              </a:solidFill>
              <a:latin typeface="Helvetica Neue Light"/>
              <a:ea typeface="Helvetica Neue Light"/>
              <a:cs typeface="Helvetica Neue Light"/>
              <a:sym typeface="Helvetica Neue Light"/>
            </a:endParaRPr>
          </a:p>
          <a:p>
            <a:pPr indent="-342900" lvl="0" marL="457200" rtl="0" algn="l">
              <a:spcBef>
                <a:spcPts val="0"/>
              </a:spcBef>
              <a:spcAft>
                <a:spcPts val="0"/>
              </a:spcAft>
              <a:buClr>
                <a:schemeClr val="lt1"/>
              </a:buClr>
              <a:buSzPts val="1800"/>
              <a:buFont typeface="Helvetica Neue Light"/>
              <a:buChar char="●"/>
            </a:pPr>
            <a:r>
              <a:rPr lang="en">
                <a:solidFill>
                  <a:schemeClr val="lt1"/>
                </a:solidFill>
                <a:latin typeface="Helvetica Neue Light"/>
                <a:ea typeface="Helvetica Neue Light"/>
                <a:cs typeface="Helvetica Neue Light"/>
                <a:sym typeface="Helvetica Neue Light"/>
              </a:rPr>
              <a:t>In the Gothic tradition, it is characterized by psychological suspense and dark, brooding settings. </a:t>
            </a:r>
            <a:endParaRPr>
              <a:solidFill>
                <a:schemeClr val="lt1"/>
              </a:solidFill>
              <a:latin typeface="Helvetica Neue Light"/>
              <a:ea typeface="Helvetica Neue Light"/>
              <a:cs typeface="Helvetica Neue Light"/>
              <a:sym typeface="Helvetica Neue Light"/>
            </a:endParaRPr>
          </a:p>
          <a:p>
            <a:pPr indent="0" lvl="0" marL="0" rtl="0" algn="l">
              <a:spcBef>
                <a:spcPts val="1200"/>
              </a:spcBef>
              <a:spcAft>
                <a:spcPts val="1200"/>
              </a:spcAft>
              <a:buNone/>
            </a:pPr>
            <a:r>
              <a:t/>
            </a:r>
            <a:endParaRPr>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8" name="Shape 98"/>
        <p:cNvGrpSpPr/>
        <p:nvPr/>
      </p:nvGrpSpPr>
      <p:grpSpPr>
        <a:xfrm>
          <a:off x="0" y="0"/>
          <a:ext cx="0" cy="0"/>
          <a:chOff x="0" y="0"/>
          <a:chExt cx="0" cy="0"/>
        </a:xfrm>
      </p:grpSpPr>
      <p:sp>
        <p:nvSpPr>
          <p:cNvPr id="99" name="Google Shape;99;p20"/>
          <p:cNvSpPr txBox="1"/>
          <p:nvPr>
            <p:ph type="title"/>
          </p:nvPr>
        </p:nvSpPr>
        <p:spPr>
          <a:xfrm>
            <a:off x="311700" y="2333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220">
                <a:solidFill>
                  <a:schemeClr val="lt1"/>
                </a:solidFill>
                <a:latin typeface="Helvetica Neue"/>
                <a:ea typeface="Helvetica Neue"/>
                <a:cs typeface="Helvetica Neue"/>
                <a:sym typeface="Helvetica Neue"/>
              </a:rPr>
              <a:t>The Rebecca Notebook 1981</a:t>
            </a:r>
            <a:endParaRPr b="1" sz="3220">
              <a:solidFill>
                <a:schemeClr val="lt1"/>
              </a:solidFill>
              <a:latin typeface="Helvetica Neue"/>
              <a:ea typeface="Helvetica Neue"/>
              <a:cs typeface="Helvetica Neue"/>
              <a:sym typeface="Helvetica Neue"/>
            </a:endParaRPr>
          </a:p>
        </p:txBody>
      </p:sp>
      <p:sp>
        <p:nvSpPr>
          <p:cNvPr id="100" name="Google Shape;100;p20"/>
          <p:cNvSpPr txBox="1"/>
          <p:nvPr>
            <p:ph idx="1" type="body"/>
          </p:nvPr>
        </p:nvSpPr>
        <p:spPr>
          <a:xfrm>
            <a:off x="311700" y="1110150"/>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700">
                <a:solidFill>
                  <a:schemeClr val="lt1"/>
                </a:solidFill>
                <a:latin typeface="Caveat"/>
                <a:ea typeface="Caveat"/>
                <a:cs typeface="Caveat"/>
                <a:sym typeface="Caveat"/>
              </a:rPr>
              <a:t>"Seeds began to drop. A beautiful home ... a first wife ... jealousy, a wreck, perhaps at sea, near to the house ... But something terrible would have to happen, I did not know what..."</a:t>
            </a:r>
            <a:endParaRPr sz="2700">
              <a:solidFill>
                <a:schemeClr val="lt1"/>
              </a:solidFill>
              <a:latin typeface="Caveat"/>
              <a:ea typeface="Caveat"/>
              <a:cs typeface="Caveat"/>
              <a:sym typeface="Caveat"/>
            </a:endParaRPr>
          </a:p>
          <a:p>
            <a:pPr indent="0" lvl="0" marL="0" rtl="0" algn="ctr">
              <a:spcBef>
                <a:spcPts val="1200"/>
              </a:spcBef>
              <a:spcAft>
                <a:spcPts val="0"/>
              </a:spcAft>
              <a:buNone/>
            </a:pPr>
            <a:r>
              <a:t/>
            </a:r>
            <a:endParaRPr sz="2700">
              <a:solidFill>
                <a:schemeClr val="lt1"/>
              </a:solidFill>
              <a:latin typeface="Caveat"/>
              <a:ea typeface="Caveat"/>
              <a:cs typeface="Caveat"/>
              <a:sym typeface="Caveat"/>
            </a:endParaRPr>
          </a:p>
          <a:p>
            <a:pPr indent="0" lvl="0" marL="0" rtl="0" algn="ctr">
              <a:spcBef>
                <a:spcPts val="1200"/>
              </a:spcBef>
              <a:spcAft>
                <a:spcPts val="1200"/>
              </a:spcAft>
              <a:buNone/>
            </a:pPr>
            <a:r>
              <a:rPr lang="en" sz="2700">
                <a:solidFill>
                  <a:schemeClr val="lt1"/>
                </a:solidFill>
                <a:latin typeface="Caveat"/>
                <a:ea typeface="Caveat"/>
                <a:cs typeface="Caveat"/>
                <a:sym typeface="Caveat"/>
              </a:rPr>
              <a:t>"I want to build up the character of the first [wife] in the mind of the second...until wife 2 is haunted day and night...a tragedy is looming very close and CRASH! BANG! something happens."</a:t>
            </a:r>
            <a:endParaRPr sz="2700">
              <a:solidFill>
                <a:schemeClr val="lt1"/>
              </a:solidFill>
              <a:latin typeface="Caveat"/>
              <a:ea typeface="Caveat"/>
              <a:cs typeface="Caveat"/>
              <a:sym typeface="Cave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4" name="Shape 104"/>
        <p:cNvGrpSpPr/>
        <p:nvPr/>
      </p:nvGrpSpPr>
      <p:grpSpPr>
        <a:xfrm>
          <a:off x="0" y="0"/>
          <a:ext cx="0" cy="0"/>
          <a:chOff x="0" y="0"/>
          <a:chExt cx="0" cy="0"/>
        </a:xfrm>
      </p:grpSpPr>
      <p:pic>
        <p:nvPicPr>
          <p:cNvPr descr="Rebecca (1940) Classic Movie, Laurence Olivier, Joan Fontaine, Judith Anderson | Full, Classic, Movie, HD,&#10;&#10;Rebecca (1940) is a Gothic thriller directed by Alfred Hitchcock. Here are some key details about the film:&#10;&#10;About the Film&#10;Director: Alfred Hitchcock&#10;Screenplay: Robert E. Sherwood and Joan Harrison, based on the novel by Daphne du Maurier&#10;Cast: Laurence Olivier, Joan Fontaine, Judith Anderson, George Sanders&#10;Release Date: 1940&#10;Genre: Gothic, Mystery, Thriller, Drama&#10;&#10;Plot: The story follows a young woman (Joan Fontaine) who marries a wealthy widower, Maxim de Winter (Laurence Olivier), and moves to his imposing estate, Manderley. There, she struggles with the shadow of Maxim's first wife, Rebecca, whose presence looms large over the household.&#10;&#10;Themes&#10;Identity and insecurity&#10;Obsession and jealousy&#10;The impact of the past&#10;Role of women in society&#10;Notable Aspects&#10;Visually stunning cinematography&#10;Haunting score by Franz Waxman&#10;Strong performances, particularly by Judith Anderson as Mrs. Danvers&#10;Exploration of psychological tension and emotional turmoil&#10;&#10;Critiques&#10;The film received critical acclaim for its direction, performances, and atmospheric storytelling, winning the Academy Award for Best Picture.&#10;&#10;&#10;#Rebecca, #AlfredHitchcock, #GothicThriller, #MysteryFilm, #JoanFontaine, #LaurenceOlivier, #ClassicCinema, #1940sFilm, #DaphneDuMaurier, #WomenInFilm, #PsychologicalThriller, #FilmHistory, #Cinematography, Full, Classic, Movie, HD," id="105" name="Google Shape;105;p21" title="Rebecca (1940) Classic Movie, Laurence Olivier, Joan Fontaine, Judith Anderson | Classic Movie HD">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10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124D"/>
        </a:solidFill>
      </p:bgPr>
    </p:bg>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b="1" lang="en" sz="5220">
                <a:solidFill>
                  <a:srgbClr val="D9D2E9"/>
                </a:solidFill>
                <a:latin typeface="Helvetica Neue"/>
                <a:ea typeface="Helvetica Neue"/>
                <a:cs typeface="Helvetica Neue"/>
                <a:sym typeface="Helvetica Neue"/>
              </a:rPr>
              <a:t>Activity!</a:t>
            </a:r>
            <a:endParaRPr b="1" sz="5220">
              <a:solidFill>
                <a:srgbClr val="D9D2E9"/>
              </a:solidFill>
              <a:latin typeface="Helvetica Neue"/>
              <a:ea typeface="Helvetica Neue"/>
              <a:cs typeface="Helvetica Neue"/>
              <a:sym typeface="Helvetica Neue"/>
            </a:endParaRPr>
          </a:p>
        </p:txBody>
      </p:sp>
      <p:sp>
        <p:nvSpPr>
          <p:cNvPr id="111" name="Google Shape;111;p22"/>
          <p:cNvSpPr txBox="1"/>
          <p:nvPr>
            <p:ph idx="1" type="body"/>
          </p:nvPr>
        </p:nvSpPr>
        <p:spPr>
          <a:xfrm>
            <a:off x="311700" y="1874750"/>
            <a:ext cx="8520600" cy="269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rgbClr val="D9D2E9"/>
                </a:solidFill>
                <a:latin typeface="Helvetica Neue Light"/>
                <a:ea typeface="Helvetica Neue Light"/>
                <a:cs typeface="Helvetica Neue Light"/>
                <a:sym typeface="Helvetica Neue Light"/>
              </a:rPr>
              <a:t>Please complete the T-Chart for </a:t>
            </a:r>
            <a:r>
              <a:rPr i="1" lang="en" sz="2400">
                <a:solidFill>
                  <a:srgbClr val="D9D2E9"/>
                </a:solidFill>
                <a:latin typeface="Helvetica Neue Light"/>
                <a:ea typeface="Helvetica Neue Light"/>
                <a:cs typeface="Helvetica Neue Light"/>
                <a:sym typeface="Helvetica Neue Light"/>
              </a:rPr>
              <a:t>Rebecca</a:t>
            </a:r>
            <a:endParaRPr i="1" sz="2400">
              <a:solidFill>
                <a:srgbClr val="D9D2E9"/>
              </a:solidFill>
              <a:latin typeface="Helvetica Neue Light"/>
              <a:ea typeface="Helvetica Neue Light"/>
              <a:cs typeface="Helvetica Neue Light"/>
              <a:sym typeface="Helvetica Neue Light"/>
            </a:endParaRPr>
          </a:p>
          <a:p>
            <a:pPr indent="0" lvl="0" marL="0" rtl="0" algn="l">
              <a:spcBef>
                <a:spcPts val="1200"/>
              </a:spcBef>
              <a:spcAft>
                <a:spcPts val="0"/>
              </a:spcAft>
              <a:buNone/>
            </a:pPr>
            <a:r>
              <a:rPr lang="en" sz="2400">
                <a:solidFill>
                  <a:srgbClr val="D9D2E9"/>
                </a:solidFill>
                <a:latin typeface="Helvetica Neue Light"/>
                <a:ea typeface="Helvetica Neue Light"/>
                <a:cs typeface="Helvetica Neue Light"/>
                <a:sym typeface="Helvetica Neue Light"/>
              </a:rPr>
              <a:t>The left side include quotes about the setting in Chapter 1</a:t>
            </a:r>
            <a:endParaRPr sz="2400">
              <a:solidFill>
                <a:srgbClr val="D9D2E9"/>
              </a:solidFill>
              <a:latin typeface="Helvetica Neue Light"/>
              <a:ea typeface="Helvetica Neue Light"/>
              <a:cs typeface="Helvetica Neue Light"/>
              <a:sym typeface="Helvetica Neue Light"/>
            </a:endParaRPr>
          </a:p>
          <a:p>
            <a:pPr indent="0" lvl="0" marL="0" rtl="0" algn="l">
              <a:spcBef>
                <a:spcPts val="1200"/>
              </a:spcBef>
              <a:spcAft>
                <a:spcPts val="1200"/>
              </a:spcAft>
              <a:buNone/>
            </a:pPr>
            <a:r>
              <a:rPr lang="en" sz="2400">
                <a:solidFill>
                  <a:srgbClr val="D9D2E9"/>
                </a:solidFill>
                <a:latin typeface="Helvetica Neue Light"/>
                <a:ea typeface="Helvetica Neue Light"/>
                <a:cs typeface="Helvetica Neue Light"/>
                <a:sym typeface="Helvetica Neue Light"/>
              </a:rPr>
              <a:t>The right side explains what this reveals about the character</a:t>
            </a:r>
            <a:endParaRPr sz="2400">
              <a:solidFill>
                <a:srgbClr val="D9D2E9"/>
              </a:solidFill>
              <a:latin typeface="Helvetica Neue Light"/>
              <a:ea typeface="Helvetica Neue Light"/>
              <a:cs typeface="Helvetica Neue Light"/>
              <a:sym typeface="Helvetica Neue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420">
                <a:latin typeface="Helvetica Neue"/>
                <a:ea typeface="Helvetica Neue"/>
                <a:cs typeface="Helvetica Neue"/>
                <a:sym typeface="Helvetica Neue"/>
              </a:rPr>
              <a:t>Analytical Paragraph</a:t>
            </a:r>
            <a:endParaRPr b="1" sz="3420">
              <a:latin typeface="Helvetica Neue"/>
              <a:ea typeface="Helvetica Neue"/>
              <a:cs typeface="Helvetica Neue"/>
              <a:sym typeface="Helvetica Neue"/>
            </a:endParaRPr>
          </a:p>
        </p:txBody>
      </p:sp>
      <p:sp>
        <p:nvSpPr>
          <p:cNvPr id="117" name="Google Shape;117;p23"/>
          <p:cNvSpPr txBox="1"/>
          <p:nvPr>
            <p:ph idx="1" type="body"/>
          </p:nvPr>
        </p:nvSpPr>
        <p:spPr>
          <a:xfrm>
            <a:off x="311700" y="13112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900">
                <a:solidFill>
                  <a:schemeClr val="dk1"/>
                </a:solidFill>
                <a:latin typeface="Helvetica Neue"/>
                <a:ea typeface="Helvetica Neue"/>
                <a:cs typeface="Helvetica Neue"/>
                <a:sym typeface="Helvetica Neue"/>
              </a:rPr>
              <a:t>Claim:</a:t>
            </a:r>
            <a:r>
              <a:rPr lang="en" sz="1900">
                <a:solidFill>
                  <a:schemeClr val="dk1"/>
                </a:solidFill>
                <a:latin typeface="Helvetica Neue Light"/>
                <a:ea typeface="Helvetica Neue Light"/>
                <a:cs typeface="Helvetica Neue Light"/>
                <a:sym typeface="Helvetica Neue Light"/>
              </a:rPr>
              <a:t> In the opening of </a:t>
            </a:r>
            <a:r>
              <a:rPr i="1" lang="en" sz="1900">
                <a:solidFill>
                  <a:schemeClr val="dk1"/>
                </a:solidFill>
                <a:latin typeface="Helvetica Neue Light"/>
                <a:ea typeface="Helvetica Neue Light"/>
                <a:cs typeface="Helvetica Neue Light"/>
                <a:sym typeface="Helvetica Neue Light"/>
              </a:rPr>
              <a:t>Rebecca</a:t>
            </a:r>
            <a:r>
              <a:rPr lang="en" sz="1900">
                <a:solidFill>
                  <a:schemeClr val="dk1"/>
                </a:solidFill>
                <a:latin typeface="Helvetica Neue Light"/>
                <a:ea typeface="Helvetica Neue Light"/>
                <a:cs typeface="Helvetica Neue Light"/>
                <a:sym typeface="Helvetica Neue Light"/>
              </a:rPr>
              <a:t>, du Maurier uses repeated images of confusion and decay to mirror the narrator’s uneasy state of mind.</a:t>
            </a:r>
            <a:endParaRPr sz="19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Clr>
                <a:schemeClr val="dk1"/>
              </a:buClr>
              <a:buSzPts val="1100"/>
              <a:buFont typeface="Arial"/>
              <a:buNone/>
            </a:pPr>
            <a:r>
              <a:rPr b="1" lang="en" sz="1900">
                <a:solidFill>
                  <a:schemeClr val="dk1"/>
                </a:solidFill>
                <a:latin typeface="Helvetica Neue"/>
                <a:ea typeface="Helvetica Neue"/>
                <a:cs typeface="Helvetica Neue"/>
                <a:sym typeface="Helvetica Neue"/>
              </a:rPr>
              <a:t>Evidence:</a:t>
            </a:r>
            <a:r>
              <a:rPr lang="en" sz="1900">
                <a:solidFill>
                  <a:schemeClr val="dk1"/>
                </a:solidFill>
                <a:latin typeface="Helvetica Neue Light"/>
                <a:ea typeface="Helvetica Neue Light"/>
                <a:cs typeface="Helvetica Neue Light"/>
                <a:sym typeface="Helvetica Neue Light"/>
              </a:rPr>
              <a:t> For example, she describes “the drive wound away… twisting and turning… narrow and unkempt” and “the nettles were everywhere… choking the flowers.”</a:t>
            </a:r>
            <a:endParaRPr sz="1900">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1200"/>
              </a:spcAft>
              <a:buNone/>
            </a:pPr>
            <a:r>
              <a:rPr b="1" lang="en" sz="1900">
                <a:solidFill>
                  <a:schemeClr val="dk1"/>
                </a:solidFill>
                <a:latin typeface="Helvetica Neue"/>
                <a:ea typeface="Helvetica Neue"/>
                <a:cs typeface="Helvetica Neue"/>
                <a:sym typeface="Helvetica Neue"/>
              </a:rPr>
              <a:t>Commentary:</a:t>
            </a:r>
            <a:r>
              <a:rPr lang="en" sz="1900">
                <a:solidFill>
                  <a:schemeClr val="dk1"/>
                </a:solidFill>
                <a:latin typeface="Helvetica Neue Light"/>
                <a:ea typeface="Helvetica Neue Light"/>
                <a:cs typeface="Helvetica Neue Light"/>
                <a:sym typeface="Helvetica Neue Light"/>
              </a:rPr>
              <a:t> These details suggest that the narrator feels both uncertain about her future and overwhelmed by neglect and loss, showing how Manderley becomes a reflection of her own anxiety and insecurity.</a:t>
            </a:r>
            <a:endParaRPr sz="2600">
              <a:latin typeface="Helvetica Neue Light"/>
              <a:ea typeface="Helvetica Neue Light"/>
              <a:cs typeface="Helvetica Neue Light"/>
              <a:sym typeface="Helvetica Neue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020">
                <a:latin typeface="Helvetica Neue"/>
                <a:ea typeface="Helvetica Neue"/>
                <a:cs typeface="Helvetica Neue"/>
                <a:sym typeface="Helvetica Neue"/>
              </a:rPr>
              <a:t>More Nuanced Example</a:t>
            </a:r>
            <a:endParaRPr b="1" sz="3020">
              <a:latin typeface="Helvetica Neue"/>
              <a:ea typeface="Helvetica Neue"/>
              <a:cs typeface="Helvetica Neue"/>
              <a:sym typeface="Helvetica Neue"/>
            </a:endParaRPr>
          </a:p>
        </p:txBody>
      </p:sp>
      <p:sp>
        <p:nvSpPr>
          <p:cNvPr id="123" name="Google Shape;123;p24"/>
          <p:cNvSpPr txBox="1"/>
          <p:nvPr>
            <p:ph idx="1" type="body"/>
          </p:nvPr>
        </p:nvSpPr>
        <p:spPr>
          <a:xfrm>
            <a:off x="311700" y="1152475"/>
            <a:ext cx="8520600" cy="3768900"/>
          </a:xfrm>
          <a:prstGeom prst="rect">
            <a:avLst/>
          </a:prstGeom>
        </p:spPr>
        <p:txBody>
          <a:bodyPr anchorCtr="0" anchor="t" bIns="91425" lIns="91425" spcFirstLastPara="1" rIns="91425" wrap="square" tIns="91425">
            <a:normAutofit fontScale="85000" lnSpcReduction="10000"/>
          </a:bodyPr>
          <a:lstStyle/>
          <a:p>
            <a:pPr indent="0" lvl="0" marL="0" rtl="0" algn="l">
              <a:spcBef>
                <a:spcPts val="1200"/>
              </a:spcBef>
              <a:spcAft>
                <a:spcPts val="0"/>
              </a:spcAft>
              <a:buClr>
                <a:schemeClr val="dk1"/>
              </a:buClr>
              <a:buSzPct val="57405"/>
              <a:buFont typeface="Arial"/>
              <a:buNone/>
            </a:pPr>
            <a:r>
              <a:rPr b="1" lang="en" sz="1916">
                <a:solidFill>
                  <a:schemeClr val="dk1"/>
                </a:solidFill>
                <a:latin typeface="Helvetica Neue"/>
                <a:ea typeface="Helvetica Neue"/>
                <a:cs typeface="Helvetica Neue"/>
                <a:sym typeface="Helvetica Neue"/>
              </a:rPr>
              <a:t>Claim:</a:t>
            </a:r>
            <a:r>
              <a:rPr lang="en" sz="1916">
                <a:solidFill>
                  <a:schemeClr val="dk1"/>
                </a:solidFill>
                <a:latin typeface="Helvetica Neue Light"/>
                <a:ea typeface="Helvetica Neue Light"/>
                <a:cs typeface="Helvetica Neue Light"/>
                <a:sym typeface="Helvetica Neue Light"/>
              </a:rPr>
              <a:t> In the opening chapter of </a:t>
            </a:r>
            <a:r>
              <a:rPr i="1" lang="en" sz="1916">
                <a:solidFill>
                  <a:schemeClr val="dk1"/>
                </a:solidFill>
                <a:latin typeface="Helvetica Neue Light"/>
                <a:ea typeface="Helvetica Neue Light"/>
                <a:cs typeface="Helvetica Neue Light"/>
                <a:sym typeface="Helvetica Neue Light"/>
              </a:rPr>
              <a:t>Rebecca</a:t>
            </a:r>
            <a:r>
              <a:rPr lang="en" sz="1916">
                <a:solidFill>
                  <a:schemeClr val="dk1"/>
                </a:solidFill>
                <a:latin typeface="Helvetica Neue Light"/>
                <a:ea typeface="Helvetica Neue Light"/>
                <a:cs typeface="Helvetica Neue Light"/>
                <a:sym typeface="Helvetica Neue Light"/>
              </a:rPr>
              <a:t>, du Maurier’s descriptions of Manderley reveal the narrator’s inner sense of fear and disorientation.</a:t>
            </a:r>
            <a:endParaRPr sz="1916">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0"/>
              </a:spcAft>
              <a:buClr>
                <a:schemeClr val="dk1"/>
              </a:buClr>
              <a:buSzPct val="57405"/>
              <a:buFont typeface="Arial"/>
              <a:buNone/>
            </a:pPr>
            <a:r>
              <a:rPr b="1" lang="en" sz="1916">
                <a:solidFill>
                  <a:schemeClr val="dk1"/>
                </a:solidFill>
                <a:latin typeface="Helvetica Neue"/>
                <a:ea typeface="Helvetica Neue"/>
                <a:cs typeface="Helvetica Neue"/>
                <a:sym typeface="Helvetica Neue"/>
              </a:rPr>
              <a:t>Evidence &amp; Commentary: </a:t>
            </a:r>
            <a:r>
              <a:rPr lang="en" sz="1916">
                <a:solidFill>
                  <a:schemeClr val="dk1"/>
                </a:solidFill>
                <a:latin typeface="Helvetica Neue Light"/>
                <a:ea typeface="Helvetica Neue Light"/>
                <a:cs typeface="Helvetica Neue Light"/>
                <a:sym typeface="Helvetica Neue Light"/>
              </a:rPr>
              <a:t>For example, the narrator observes that “the drive wound away in front of me, twisting and turning as it had always done, but as I advanced I was aware that a change had come upon it; it was narrow and unkempt, not the drive that we had known” The twisting, overgrown road suggests not just physical difficulty but also the narrator’s own inner confusion and uncertainty about the path ahead in her life. Later, she describes how “the woods, always a menace even in the past, had triumphed in the end. They crowded, dark and uncontrolled, to the borders of the drive” The image of menacing woods pressing inward mirrors her feelings of entrapment and fear, showing how the setting itself reflects her anxious and haunted state of mind.</a:t>
            </a:r>
            <a:endParaRPr sz="1916">
              <a:solidFill>
                <a:schemeClr val="dk1"/>
              </a:solidFill>
              <a:latin typeface="Helvetica Neue Light"/>
              <a:ea typeface="Helvetica Neue Light"/>
              <a:cs typeface="Helvetica Neue Light"/>
              <a:sym typeface="Helvetica Neue Light"/>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